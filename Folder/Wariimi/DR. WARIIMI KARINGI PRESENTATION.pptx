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0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3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6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8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1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9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2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07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08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4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01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02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66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0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2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1219201"/>
            <a:ext cx="7411118" cy="355840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Psychosocial Wellbeing, Depression &amp; PTSD Among Adolescents with HIV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7394" y="4952192"/>
            <a:ext cx="5917679" cy="86142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DR. WARIIMI KARINGI</a:t>
            </a:r>
            <a:br>
              <a:rPr lang="en-US" sz="2400" b="1" dirty="0"/>
            </a:br>
            <a:r>
              <a:rPr lang="en-US" sz="2400" b="1" dirty="0"/>
              <a:t>H118/42195/2022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Adolescent mental health contributes significantly to disease burden.</a:t>
            </a:r>
          </a:p>
          <a:p>
            <a:r>
              <a:t>High rates of depression/anxiety in SSA.</a:t>
            </a:r>
          </a:p>
          <a:p>
            <a:r>
              <a:t>Adolescents are developmentally vulnerable.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Kenyan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Adolescents with HIV show lowest viral suppression.</a:t>
            </a:r>
          </a:p>
          <a:p>
            <a:r>
              <a:t>High depression prevalence (44%).</a:t>
            </a:r>
          </a:p>
          <a:p>
            <a:r>
              <a:t>Limited routine mental health screening.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Burden of PTSD/depression among AHIV unknown.</a:t>
            </a:r>
          </a:p>
          <a:p>
            <a:r>
              <a:t>Inadequate mental health services.</a:t>
            </a:r>
          </a:p>
          <a:p>
            <a:r>
              <a:t>Stigma complicates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Describe psychosocial wellbeing and determine prevalence of depression &amp; PTSD among AHIV.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Identify factors associated with depression &amp; PTSD.</a:t>
            </a:r>
          </a:p>
          <a:p>
            <a:r>
              <a:t>Assess relationship with viral suppression &amp; adherence.</a:t>
            </a:r>
          </a:p>
          <a:p>
            <a:r>
              <a:t>Describe available mental health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Cross‑sectional design.</a:t>
            </a:r>
          </a:p>
          <a:p>
            <a:r>
              <a:t>Sample size: 128 adolescents.</a:t>
            </a:r>
          </a:p>
          <a:p>
            <a:r>
              <a:t>Tools: standardized depression &amp; PTSD screening.</a:t>
            </a:r>
          </a:p>
          <a:p>
            <a:r>
              <a:t>Analysis: descriptive, bivariate, multivariate methods.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Sociodemographic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53% female.</a:t>
            </a:r>
          </a:p>
          <a:p>
            <a:r>
              <a:t>Most lived with parents/siblings.</a:t>
            </a:r>
          </a:p>
          <a:p>
            <a:r>
              <a:t>95% currently in school.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Sex Distribution</a:t>
            </a:r>
          </a:p>
        </p:txBody>
      </p:sp>
      <p:pic>
        <p:nvPicPr>
          <p:cNvPr id="3" name="Picture 2" descr="sex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115173"/>
            <a:ext cx="5486400" cy="34871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Depression Status Distribution</a:t>
            </a:r>
          </a:p>
        </p:txBody>
      </p:sp>
      <p:pic>
        <p:nvPicPr>
          <p:cNvPr id="3" name="Picture 2" descr="dep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30" y="2985247"/>
            <a:ext cx="5486400" cy="34871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PTSD Status Distribution</a:t>
            </a:r>
          </a:p>
        </p:txBody>
      </p:sp>
      <p:pic>
        <p:nvPicPr>
          <p:cNvPr id="3" name="Picture 2" descr="ptsd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42" y="2743200"/>
            <a:ext cx="5486400" cy="34871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Depression Symptoms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Non‑depressed participants report nearly zero symptoms.</a:t>
            </a:r>
          </a:p>
          <a:p>
            <a:r>
              <a:t>Depressed participants show clustered high‑frequency symptoms.</a:t>
            </a:r>
          </a:p>
          <a:p>
            <a:r>
              <a:t>Suicidal ideation only in depressed group.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PTSD Symptoms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Majority report no symptoms.</a:t>
            </a:r>
          </a:p>
          <a:p>
            <a:r>
              <a:t>PTSD-positive show intrusive memories &amp; hyperarousal.</a:t>
            </a:r>
          </a:p>
          <a:p>
            <a:r>
              <a:t>Low but concentrated prevalence.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Results –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Significant factors: living arrangement, violence exposure, school attendance, social support.</a:t>
            </a:r>
          </a:p>
          <a:p>
            <a:r>
              <a:t>No association with sex, residence, work, recent home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Results – PTSD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Significant: living arrangement, bullying.</a:t>
            </a:r>
          </a:p>
          <a:p>
            <a:r>
              <a:t>Borderline: physical violence at home.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Results – Depression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Living arrangement independently significant.</a:t>
            </a:r>
          </a:p>
          <a:p>
            <a:r>
              <a:t>Physical violence borderline.</a:t>
            </a:r>
          </a:p>
          <a:p>
            <a:r>
              <a:t>Violence at school loses significance when adjusted.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Family environment central predictor.</a:t>
            </a:r>
          </a:p>
          <a:p>
            <a:r>
              <a:t>Violence exposure increases vulnerability.</a:t>
            </a:r>
          </a:p>
          <a:p>
            <a:r>
              <a:t>Support systems protective.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Low prevalence but high symptom concentration.</a:t>
            </a:r>
          </a:p>
          <a:p>
            <a:r>
              <a:t>Strong relationship between home environment &amp; mental health.</a:t>
            </a:r>
          </a:p>
          <a:p>
            <a:r>
              <a:t>Need for integrated mental health screening.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Adolescents generally show good psychosocial wellbeing.</a:t>
            </a:r>
          </a:p>
          <a:p>
            <a:r>
              <a:t>Minority affected by significant mental health challenges.</a:t>
            </a:r>
          </a:p>
          <a:p>
            <a:r>
              <a:t>Living arrangement &amp; violence are key predictors.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Strengthen family-based interventions.</a:t>
            </a:r>
          </a:p>
          <a:p>
            <a:r>
              <a:t>Implement school-based mental health screening.</a:t>
            </a:r>
          </a:p>
          <a:p>
            <a:r>
              <a:t>Improve anti-bullying programs.</a:t>
            </a:r>
          </a:p>
          <a:p>
            <a:r>
              <a:t>Provide trauma-informed care.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HIV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Mental health impacts viral suppression &amp; adherence.</a:t>
            </a:r>
          </a:p>
          <a:p>
            <a:r>
              <a:t>Screening should be integrated into CCC.</a:t>
            </a:r>
          </a:p>
          <a:p>
            <a:r>
              <a:t>Early identification improves outcomes.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of standardized tools.</a:t>
            </a:r>
          </a:p>
          <a:p>
            <a:r>
              <a:t>Sample from real-world CCC setting.</a:t>
            </a:r>
          </a:p>
          <a:p>
            <a:r>
              <a:t>Multilevel analytic approach.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Supervisors and academic mentors.</a:t>
            </a:r>
          </a:p>
          <a:p>
            <a:r>
              <a:t>Healthcare workers in Ruiru Subcounty.</a:t>
            </a:r>
          </a:p>
          <a:p>
            <a:r>
              <a:t>Study participants.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Thank you for listening!</a:t>
            </a:r>
          </a:p>
          <a:p>
            <a:r>
              <a:t>Questions &amp; Discussion.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</TotalTime>
  <Words>447</Words>
  <Application>Microsoft Office PowerPoint</Application>
  <PresentationFormat>On-screen Show (4:3)</PresentationFormat>
  <Paragraphs>102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 Rounded MT Bold</vt:lpstr>
      <vt:lpstr>Century Gothic</vt:lpstr>
      <vt:lpstr>Wingdings 3</vt:lpstr>
      <vt:lpstr>Ion Boardroom</vt:lpstr>
      <vt:lpstr>Psychosocial Wellbeing, Depression &amp; PTSD Among Adolescents with HIV</vt:lpstr>
      <vt:lpstr>Background</vt:lpstr>
      <vt:lpstr>Kenyan Context</vt:lpstr>
      <vt:lpstr>Problem Statement</vt:lpstr>
      <vt:lpstr>General Objective</vt:lpstr>
      <vt:lpstr>Specific Objectives</vt:lpstr>
      <vt:lpstr>Methodology</vt:lpstr>
      <vt:lpstr>Sociodemographic Findings</vt:lpstr>
      <vt:lpstr>Sex Distribution</vt:lpstr>
      <vt:lpstr>Depression Status Distribution</vt:lpstr>
      <vt:lpstr>PTSD Status Distribution</vt:lpstr>
      <vt:lpstr>Depression Symptoms Summary</vt:lpstr>
      <vt:lpstr>PTSD Symptoms Summary</vt:lpstr>
      <vt:lpstr>Bivariate Results – Depression</vt:lpstr>
      <vt:lpstr>Bivariate Results – PTSD</vt:lpstr>
      <vt:lpstr>Multivariate Results – Depression</vt:lpstr>
      <vt:lpstr>Interpretation</vt:lpstr>
      <vt:lpstr>Discussion</vt:lpstr>
      <vt:lpstr>Conclusions</vt:lpstr>
      <vt:lpstr>Recommendations</vt:lpstr>
      <vt:lpstr>Implications for HIV Care</vt:lpstr>
      <vt:lpstr>Strengths of the Study</vt:lpstr>
      <vt:lpstr>Acknowledgements</vt:lpstr>
      <vt:lpstr>Questions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Bonsoul Arani</dc:creator>
  <cp:keywords/>
  <dc:description>generated using python-pptx</dc:description>
  <cp:lastModifiedBy>Bonsoul Arani Bosire</cp:lastModifiedBy>
  <cp:revision>2</cp:revision>
  <dcterms:created xsi:type="dcterms:W3CDTF">2013-01-27T09:14:16Z</dcterms:created>
  <dcterms:modified xsi:type="dcterms:W3CDTF">2025-12-01T03:23:50Z</dcterms:modified>
  <cp:category/>
</cp:coreProperties>
</file>