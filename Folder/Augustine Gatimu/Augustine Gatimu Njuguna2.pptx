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2" r:id="rId1"/>
  </p:sldMasterIdLst>
  <p:notesMasterIdLst>
    <p:notesMasterId r:id="rId26"/>
  </p:notesMasterIdLst>
  <p:handoutMasterIdLst>
    <p:handoutMasterId r:id="rId27"/>
  </p:handoutMasterIdLst>
  <p:sldIdLst>
    <p:sldId id="276" r:id="rId2"/>
    <p:sldId id="277" r:id="rId3"/>
    <p:sldId id="289" r:id="rId4"/>
    <p:sldId id="290" r:id="rId5"/>
    <p:sldId id="279" r:id="rId6"/>
    <p:sldId id="309" r:id="rId7"/>
    <p:sldId id="281" r:id="rId8"/>
    <p:sldId id="291" r:id="rId9"/>
    <p:sldId id="305" r:id="rId10"/>
    <p:sldId id="306" r:id="rId11"/>
    <p:sldId id="282" r:id="rId12"/>
    <p:sldId id="311" r:id="rId13"/>
    <p:sldId id="300" r:id="rId14"/>
    <p:sldId id="283" r:id="rId15"/>
    <p:sldId id="303" r:id="rId16"/>
    <p:sldId id="297" r:id="rId17"/>
    <p:sldId id="312" r:id="rId18"/>
    <p:sldId id="313" r:id="rId19"/>
    <p:sldId id="314" r:id="rId20"/>
    <p:sldId id="315" r:id="rId21"/>
    <p:sldId id="316" r:id="rId22"/>
    <p:sldId id="317" r:id="rId23"/>
    <p:sldId id="293" r:id="rId24"/>
    <p:sldId id="29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D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91" autoAdjust="0"/>
  </p:normalViewPr>
  <p:slideViewPr>
    <p:cSldViewPr snapToGrid="0">
      <p:cViewPr>
        <p:scale>
          <a:sx n="55" d="100"/>
          <a:sy n="55" d="100"/>
        </p:scale>
        <p:origin x="714" y="408"/>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64" d="100"/>
          <a:sy n="64" d="100"/>
        </p:scale>
        <p:origin x="3180" y="1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les Syengo" userId="8ef22246-9f77-4017-8b34-5307cad57bef" providerId="ADAL" clId="{E9112573-5529-4DD1-8EF4-6A59A242FE16}"/>
    <pc:docChg chg="addSld delSld modSld">
      <pc:chgData name="Charles Syengo" userId="8ef22246-9f77-4017-8b34-5307cad57bef" providerId="ADAL" clId="{E9112573-5529-4DD1-8EF4-6A59A242FE16}" dt="2024-01-30T13:57:58.116" v="12" actId="2696"/>
      <pc:docMkLst>
        <pc:docMk/>
      </pc:docMkLst>
      <pc:sldChg chg="del">
        <pc:chgData name="Charles Syengo" userId="8ef22246-9f77-4017-8b34-5307cad57bef" providerId="ADAL" clId="{E9112573-5529-4DD1-8EF4-6A59A242FE16}" dt="2024-01-30T13:57:58.116" v="12" actId="2696"/>
        <pc:sldMkLst>
          <pc:docMk/>
          <pc:sldMk cId="975865531" sldId="284"/>
        </pc:sldMkLst>
      </pc:sldChg>
      <pc:sldChg chg="del">
        <pc:chgData name="Charles Syengo" userId="8ef22246-9f77-4017-8b34-5307cad57bef" providerId="ADAL" clId="{E9112573-5529-4DD1-8EF4-6A59A242FE16}" dt="2024-01-30T13:57:51.008" v="11" actId="2696"/>
        <pc:sldMkLst>
          <pc:docMk/>
          <pc:sldMk cId="3292869810" sldId="285"/>
        </pc:sldMkLst>
      </pc:sldChg>
      <pc:sldChg chg="modSp mod">
        <pc:chgData name="Charles Syengo" userId="8ef22246-9f77-4017-8b34-5307cad57bef" providerId="ADAL" clId="{E9112573-5529-4DD1-8EF4-6A59A242FE16}" dt="2024-01-30T13:57:34.280" v="10" actId="20577"/>
        <pc:sldMkLst>
          <pc:docMk/>
          <pc:sldMk cId="2192428631" sldId="286"/>
        </pc:sldMkLst>
        <pc:spChg chg="mod">
          <ac:chgData name="Charles Syengo" userId="8ef22246-9f77-4017-8b34-5307cad57bef" providerId="ADAL" clId="{E9112573-5529-4DD1-8EF4-6A59A242FE16}" dt="2024-01-30T13:57:34.280" v="10" actId="20577"/>
          <ac:spMkLst>
            <pc:docMk/>
            <pc:sldMk cId="2192428631" sldId="286"/>
            <ac:spMk id="2" creationId="{00000000-0000-0000-0000-000000000000}"/>
          </ac:spMkLst>
        </pc:spChg>
      </pc:sldChg>
      <pc:sldChg chg="add">
        <pc:chgData name="Charles Syengo" userId="8ef22246-9f77-4017-8b34-5307cad57bef" providerId="ADAL" clId="{E9112573-5529-4DD1-8EF4-6A59A242FE16}" dt="2024-01-30T13:57:28.258" v="0" actId="2890"/>
        <pc:sldMkLst>
          <pc:docMk/>
          <pc:sldMk cId="3397525210" sldId="297"/>
        </pc:sldMkLst>
      </pc:sldChg>
    </pc:docChg>
  </pc:docChgLst>
  <pc:docChgLst>
    <pc:chgData name="Charles Syengo" userId="8ef22246-9f77-4017-8b34-5307cad57bef" providerId="ADAL" clId="{05C89A03-9B86-4097-9A36-F15D4050D511}"/>
    <pc:docChg chg="undo custSel delSld modSld">
      <pc:chgData name="Charles Syengo" userId="8ef22246-9f77-4017-8b34-5307cad57bef" providerId="ADAL" clId="{05C89A03-9B86-4097-9A36-F15D4050D511}" dt="2023-06-05T17:15:29.021" v="166" actId="6549"/>
      <pc:docMkLst>
        <pc:docMk/>
      </pc:docMkLst>
      <pc:sldChg chg="modSp mod">
        <pc:chgData name="Charles Syengo" userId="8ef22246-9f77-4017-8b34-5307cad57bef" providerId="ADAL" clId="{05C89A03-9B86-4097-9A36-F15D4050D511}" dt="2023-06-05T17:12:58.726" v="147"/>
        <pc:sldMkLst>
          <pc:docMk/>
          <pc:sldMk cId="1856575099" sldId="276"/>
        </pc:sldMkLst>
        <pc:spChg chg="mod">
          <ac:chgData name="Charles Syengo" userId="8ef22246-9f77-4017-8b34-5307cad57bef" providerId="ADAL" clId="{05C89A03-9B86-4097-9A36-F15D4050D511}" dt="2023-06-05T17:12:30.880" v="145" actId="20577"/>
          <ac:spMkLst>
            <pc:docMk/>
            <pc:sldMk cId="1856575099" sldId="276"/>
            <ac:spMk id="2" creationId="{7BCD1970-76D7-210C-ABC6-9E3567BAC251}"/>
          </ac:spMkLst>
        </pc:spChg>
        <pc:spChg chg="mod">
          <ac:chgData name="Charles Syengo" userId="8ef22246-9f77-4017-8b34-5307cad57bef" providerId="ADAL" clId="{05C89A03-9B86-4097-9A36-F15D4050D511}" dt="2023-06-05T17:12:58.726" v="147"/>
          <ac:spMkLst>
            <pc:docMk/>
            <pc:sldMk cId="1856575099" sldId="276"/>
            <ac:spMk id="4" creationId="{601CF9FD-175C-D98B-B5CC-3A58E72B73D0}"/>
          </ac:spMkLst>
        </pc:spChg>
      </pc:sldChg>
      <pc:sldChg chg="del">
        <pc:chgData name="Charles Syengo" userId="8ef22246-9f77-4017-8b34-5307cad57bef" providerId="ADAL" clId="{05C89A03-9B86-4097-9A36-F15D4050D511}" dt="2023-06-05T17:08:24.859" v="39" actId="2696"/>
        <pc:sldMkLst>
          <pc:docMk/>
          <pc:sldMk cId="3432741405" sldId="280"/>
        </pc:sldMkLst>
      </pc:sldChg>
      <pc:sldChg chg="modSp mod">
        <pc:chgData name="Charles Syengo" userId="8ef22246-9f77-4017-8b34-5307cad57bef" providerId="ADAL" clId="{05C89A03-9B86-4097-9A36-F15D4050D511}" dt="2023-06-05T17:15:20.357" v="165" actId="20577"/>
        <pc:sldMkLst>
          <pc:docMk/>
          <pc:sldMk cId="1876649169" sldId="281"/>
        </pc:sldMkLst>
        <pc:spChg chg="mod">
          <ac:chgData name="Charles Syengo" userId="8ef22246-9f77-4017-8b34-5307cad57bef" providerId="ADAL" clId="{05C89A03-9B86-4097-9A36-F15D4050D511}" dt="2023-06-05T17:15:20.357" v="165" actId="20577"/>
          <ac:spMkLst>
            <pc:docMk/>
            <pc:sldMk cId="1876649169" sldId="281"/>
            <ac:spMk id="4" creationId="{89B2F015-72B5-562E-CDFA-E5DD85832F5E}"/>
          </ac:spMkLst>
        </pc:spChg>
      </pc:sldChg>
      <pc:sldChg chg="modSp mod">
        <pc:chgData name="Charles Syengo" userId="8ef22246-9f77-4017-8b34-5307cad57bef" providerId="ADAL" clId="{05C89A03-9B86-4097-9A36-F15D4050D511}" dt="2023-06-05T17:11:09.854" v="118" actId="20577"/>
        <pc:sldMkLst>
          <pc:docMk/>
          <pc:sldMk cId="1273757823" sldId="288"/>
        </pc:sldMkLst>
        <pc:spChg chg="mod">
          <ac:chgData name="Charles Syengo" userId="8ef22246-9f77-4017-8b34-5307cad57bef" providerId="ADAL" clId="{05C89A03-9B86-4097-9A36-F15D4050D511}" dt="2023-06-05T17:11:09.854" v="118" actId="20577"/>
          <ac:spMkLst>
            <pc:docMk/>
            <pc:sldMk cId="1273757823" sldId="288"/>
            <ac:spMk id="2" creationId="{00000000-0000-0000-0000-000000000000}"/>
          </ac:spMkLst>
        </pc:spChg>
      </pc:sldChg>
      <pc:sldChg chg="modSp mod">
        <pc:chgData name="Charles Syengo" userId="8ef22246-9f77-4017-8b34-5307cad57bef" providerId="ADAL" clId="{05C89A03-9B86-4097-9A36-F15D4050D511}" dt="2023-06-05T17:15:29.021" v="166" actId="6549"/>
        <pc:sldMkLst>
          <pc:docMk/>
          <pc:sldMk cId="1403303069" sldId="291"/>
        </pc:sldMkLst>
        <pc:spChg chg="mod">
          <ac:chgData name="Charles Syengo" userId="8ef22246-9f77-4017-8b34-5307cad57bef" providerId="ADAL" clId="{05C89A03-9B86-4097-9A36-F15D4050D511}" dt="2023-06-05T17:15:29.021" v="166" actId="6549"/>
          <ac:spMkLst>
            <pc:docMk/>
            <pc:sldMk cId="1403303069" sldId="291"/>
            <ac:spMk id="3" creationId="{04A75E17-1EC9-DFBC-98B2-6CC11A6306F3}"/>
          </ac:spMkLst>
        </pc:spChg>
      </pc:sldChg>
      <pc:sldChg chg="modSp mod">
        <pc:chgData name="Charles Syengo" userId="8ef22246-9f77-4017-8b34-5307cad57bef" providerId="ADAL" clId="{05C89A03-9B86-4097-9A36-F15D4050D511}" dt="2023-06-05T17:11:17.158" v="126" actId="20577"/>
        <pc:sldMkLst>
          <pc:docMk/>
          <pc:sldMk cId="2503615317" sldId="292"/>
        </pc:sldMkLst>
        <pc:spChg chg="mod">
          <ac:chgData name="Charles Syengo" userId="8ef22246-9f77-4017-8b34-5307cad57bef" providerId="ADAL" clId="{05C89A03-9B86-4097-9A36-F15D4050D511}" dt="2023-06-05T17:11:17.158" v="126" actId="20577"/>
          <ac:spMkLst>
            <pc:docMk/>
            <pc:sldMk cId="2503615317" sldId="292"/>
            <ac:spMk id="2" creationId="{D878D6A4-605F-E4D7-1EF7-96139AEC84CD}"/>
          </ac:spMkLst>
        </pc:spChg>
      </pc:sldChg>
      <pc:sldChg chg="modSp mod">
        <pc:chgData name="Charles Syengo" userId="8ef22246-9f77-4017-8b34-5307cad57bef" providerId="ADAL" clId="{05C89A03-9B86-4097-9A36-F15D4050D511}" dt="2023-06-05T17:10:00.692" v="107" actId="207"/>
        <pc:sldMkLst>
          <pc:docMk/>
          <pc:sldMk cId="2989680818" sldId="295"/>
        </pc:sldMkLst>
        <pc:spChg chg="mod">
          <ac:chgData name="Charles Syengo" userId="8ef22246-9f77-4017-8b34-5307cad57bef" providerId="ADAL" clId="{05C89A03-9B86-4097-9A36-F15D4050D511}" dt="2023-06-05T17:10:00.692" v="107" actId="207"/>
          <ac:spMkLst>
            <pc:docMk/>
            <pc:sldMk cId="2989680818" sldId="295"/>
            <ac:spMk id="2" creationId="{C7242C36-88AB-1EE6-8279-8F57B8808A79}"/>
          </ac:spMkLst>
        </pc:spChg>
      </pc:sldChg>
    </pc:docChg>
  </pc:docChgLst>
  <pc:docChgLst>
    <pc:chgData name="Charles Syengo" userId="8ef22246-9f77-4017-8b34-5307cad57bef" providerId="ADAL" clId="{1D201E04-192F-4C32-B105-D656FB613E00}"/>
    <pc:docChg chg="addSld delSld modSld">
      <pc:chgData name="Charles Syengo" userId="8ef22246-9f77-4017-8b34-5307cad57bef" providerId="ADAL" clId="{1D201E04-192F-4C32-B105-D656FB613E00}" dt="2023-06-27T13:43:15.699" v="21" actId="20577"/>
      <pc:docMkLst>
        <pc:docMk/>
      </pc:docMkLst>
      <pc:sldChg chg="del">
        <pc:chgData name="Charles Syengo" userId="8ef22246-9f77-4017-8b34-5307cad57bef" providerId="ADAL" clId="{1D201E04-192F-4C32-B105-D656FB613E00}" dt="2023-06-27T13:20:11.303" v="0" actId="2696"/>
        <pc:sldMkLst>
          <pc:docMk/>
          <pc:sldMk cId="2405625812" sldId="278"/>
        </pc:sldMkLst>
      </pc:sldChg>
      <pc:sldChg chg="modSp add mod">
        <pc:chgData name="Charles Syengo" userId="8ef22246-9f77-4017-8b34-5307cad57bef" providerId="ADAL" clId="{1D201E04-192F-4C32-B105-D656FB613E00}" dt="2023-06-27T13:43:15.699" v="21" actId="20577"/>
        <pc:sldMkLst>
          <pc:docMk/>
          <pc:sldMk cId="325410349" sldId="296"/>
        </pc:sldMkLst>
        <pc:spChg chg="mod">
          <ac:chgData name="Charles Syengo" userId="8ef22246-9f77-4017-8b34-5307cad57bef" providerId="ADAL" clId="{1D201E04-192F-4C32-B105-D656FB613E00}" dt="2023-06-27T13:43:15.699" v="21" actId="20577"/>
          <ac:spMkLst>
            <pc:docMk/>
            <pc:sldMk cId="325410349" sldId="296"/>
            <ac:spMk id="2"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D3C2C1-7E06-4833-B1A1-3D3A6FD5ADE5}" type="doc">
      <dgm:prSet loTypeId="urn:microsoft.com/office/officeart/2005/8/layout/matrix1" loCatId="matrix" qsTypeId="urn:microsoft.com/office/officeart/2005/8/quickstyle/simple1" qsCatId="simple" csTypeId="urn:microsoft.com/office/officeart/2005/8/colors/accent0_3" csCatId="mainScheme" phldr="1"/>
      <dgm:spPr/>
      <dgm:t>
        <a:bodyPr/>
        <a:lstStyle/>
        <a:p>
          <a:endParaRPr lang="en-US"/>
        </a:p>
      </dgm:t>
    </dgm:pt>
    <dgm:pt modelId="{ACB47FC3-024C-4EDA-A1A2-900192E0D55B}">
      <dgm:prSet phldrT="[Text]"/>
      <dgm:spPr/>
      <dgm:t>
        <a:bodyPr/>
        <a:lstStyle/>
        <a:p>
          <a:r>
            <a:rPr lang="en-US" dirty="0" smtClean="0"/>
            <a:t>HIV-free survival among infants born to HIV-positive mothers in Homa Bay County.</a:t>
          </a:r>
          <a:endParaRPr lang="en-US" dirty="0"/>
        </a:p>
      </dgm:t>
    </dgm:pt>
    <dgm:pt modelId="{36F6205A-1AFC-41DF-8BD8-B9A2FDDADB68}" type="parTrans" cxnId="{8F3A8815-1DBF-437F-A042-4C66DE801AEB}">
      <dgm:prSet/>
      <dgm:spPr/>
      <dgm:t>
        <a:bodyPr/>
        <a:lstStyle/>
        <a:p>
          <a:endParaRPr lang="en-US"/>
        </a:p>
      </dgm:t>
    </dgm:pt>
    <dgm:pt modelId="{7323D061-B8F8-4CFA-A6B8-738E547AA604}" type="sibTrans" cxnId="{8F3A8815-1DBF-437F-A042-4C66DE801AEB}">
      <dgm:prSet/>
      <dgm:spPr/>
      <dgm:t>
        <a:bodyPr/>
        <a:lstStyle/>
        <a:p>
          <a:endParaRPr lang="en-US"/>
        </a:p>
      </dgm:t>
    </dgm:pt>
    <dgm:pt modelId="{CB65E8E6-390C-4BD4-AABE-431EA44F9FD0}">
      <dgm:prSet phldrT="[Text]"/>
      <dgm:spPr/>
      <dgm:t>
        <a:bodyPr/>
        <a:lstStyle/>
        <a:p>
          <a:endParaRPr lang="en-US"/>
        </a:p>
      </dgm:t>
    </dgm:pt>
    <dgm:pt modelId="{FAF59BCD-2CA5-47FC-9011-DC65F81AEABC}" type="parTrans" cxnId="{7E924CFC-1847-42BB-AB24-99D129BB4D08}">
      <dgm:prSet/>
      <dgm:spPr/>
      <dgm:t>
        <a:bodyPr/>
        <a:lstStyle/>
        <a:p>
          <a:endParaRPr lang="en-US"/>
        </a:p>
      </dgm:t>
    </dgm:pt>
    <dgm:pt modelId="{244BBDA6-40B5-4D05-8397-4F41E70305AE}" type="sibTrans" cxnId="{7E924CFC-1847-42BB-AB24-99D129BB4D08}">
      <dgm:prSet/>
      <dgm:spPr/>
      <dgm:t>
        <a:bodyPr/>
        <a:lstStyle/>
        <a:p>
          <a:endParaRPr lang="en-US"/>
        </a:p>
      </dgm:t>
    </dgm:pt>
    <dgm:pt modelId="{CE4F19D1-3174-48CA-8569-3A8BE92E2AD8}">
      <dgm:prSet phldrT="[Text]"/>
      <dgm:spPr/>
      <dgm:t>
        <a:bodyPr/>
        <a:lstStyle/>
        <a:p>
          <a:endParaRPr lang="en-US"/>
        </a:p>
      </dgm:t>
    </dgm:pt>
    <dgm:pt modelId="{7FC45674-81A7-4047-A4D9-F7F23D63F10A}" type="parTrans" cxnId="{74ADBCD8-A159-426E-9DCC-0725661B50DD}">
      <dgm:prSet/>
      <dgm:spPr/>
      <dgm:t>
        <a:bodyPr/>
        <a:lstStyle/>
        <a:p>
          <a:endParaRPr lang="en-US"/>
        </a:p>
      </dgm:t>
    </dgm:pt>
    <dgm:pt modelId="{7DB8F9C2-8D67-4CDF-AAFE-325601801BE3}" type="sibTrans" cxnId="{74ADBCD8-A159-426E-9DCC-0725661B50DD}">
      <dgm:prSet/>
      <dgm:spPr/>
      <dgm:t>
        <a:bodyPr/>
        <a:lstStyle/>
        <a:p>
          <a:endParaRPr lang="en-US"/>
        </a:p>
      </dgm:t>
    </dgm:pt>
    <dgm:pt modelId="{7F9B7EA5-098A-42A0-BC9E-8FB3CFFDDBE6}">
      <dgm:prSet phldrT="[Text]" phldr="1"/>
      <dgm:spPr/>
      <dgm:t>
        <a:bodyPr/>
        <a:lstStyle/>
        <a:p>
          <a:endParaRPr lang="en-US"/>
        </a:p>
      </dgm:t>
    </dgm:pt>
    <dgm:pt modelId="{B749D449-2A34-4F51-9ADD-C6ACAA3A77EA}" type="parTrans" cxnId="{86012093-0129-44FC-BEEC-FAA0512F9818}">
      <dgm:prSet/>
      <dgm:spPr/>
      <dgm:t>
        <a:bodyPr/>
        <a:lstStyle/>
        <a:p>
          <a:endParaRPr lang="en-US"/>
        </a:p>
      </dgm:t>
    </dgm:pt>
    <dgm:pt modelId="{D4680203-D0A7-4C39-9FA0-FBC3B3F78389}" type="sibTrans" cxnId="{86012093-0129-44FC-BEEC-FAA0512F9818}">
      <dgm:prSet/>
      <dgm:spPr/>
      <dgm:t>
        <a:bodyPr/>
        <a:lstStyle/>
        <a:p>
          <a:endParaRPr lang="en-US"/>
        </a:p>
      </dgm:t>
    </dgm:pt>
    <dgm:pt modelId="{46C48952-F751-4675-9505-B54E8E8B531D}">
      <dgm:prSet/>
      <dgm:spPr/>
      <dgm:t>
        <a:bodyPr/>
        <a:lstStyle/>
        <a:p>
          <a:r>
            <a:rPr lang="en-US" dirty="0" smtClean="0"/>
            <a:t>Maternal factors associated with HIV antigen positivity</a:t>
          </a:r>
          <a:endParaRPr lang="en-US" dirty="0"/>
        </a:p>
      </dgm:t>
    </dgm:pt>
    <dgm:pt modelId="{F785B861-4D29-4CBA-82E9-9995C22803A8}" type="parTrans" cxnId="{87A37437-4367-44EC-AC0C-AAE310482F9B}">
      <dgm:prSet/>
      <dgm:spPr/>
      <dgm:t>
        <a:bodyPr/>
        <a:lstStyle/>
        <a:p>
          <a:endParaRPr lang="en-US"/>
        </a:p>
      </dgm:t>
    </dgm:pt>
    <dgm:pt modelId="{700E9E89-B7CF-4099-BDA2-8B7E75FD646E}" type="sibTrans" cxnId="{87A37437-4367-44EC-AC0C-AAE310482F9B}">
      <dgm:prSet/>
      <dgm:spPr/>
      <dgm:t>
        <a:bodyPr/>
        <a:lstStyle/>
        <a:p>
          <a:endParaRPr lang="en-US"/>
        </a:p>
      </dgm:t>
    </dgm:pt>
    <dgm:pt modelId="{85CCB666-001E-4726-9E78-0695E730B9D8}">
      <dgm:prSet/>
      <dgm:spPr/>
      <dgm:t>
        <a:bodyPr/>
        <a:lstStyle/>
        <a:p>
          <a:r>
            <a:rPr lang="en-US" dirty="0" smtClean="0"/>
            <a:t>Infant factors associated with HIV antigen positivity</a:t>
          </a:r>
          <a:endParaRPr lang="en-US" dirty="0"/>
        </a:p>
      </dgm:t>
    </dgm:pt>
    <dgm:pt modelId="{D6E3A82E-DA75-45D4-8495-62BCC4983FE6}" type="parTrans" cxnId="{37BAE4BC-67B1-4B79-99C4-1D9FCB315E0C}">
      <dgm:prSet/>
      <dgm:spPr/>
      <dgm:t>
        <a:bodyPr/>
        <a:lstStyle/>
        <a:p>
          <a:endParaRPr lang="en-US"/>
        </a:p>
      </dgm:t>
    </dgm:pt>
    <dgm:pt modelId="{7875599B-44ED-4553-A630-D9EDD5EE4334}" type="sibTrans" cxnId="{37BAE4BC-67B1-4B79-99C4-1D9FCB315E0C}">
      <dgm:prSet/>
      <dgm:spPr/>
      <dgm:t>
        <a:bodyPr/>
        <a:lstStyle/>
        <a:p>
          <a:endParaRPr lang="en-US"/>
        </a:p>
      </dgm:t>
    </dgm:pt>
    <dgm:pt modelId="{47B3806B-5DFB-4C03-BCBC-F0CCFBBBA80A}">
      <dgm:prSet/>
      <dgm:spPr/>
      <dgm:t>
        <a:bodyPr/>
        <a:lstStyle/>
        <a:p>
          <a:r>
            <a:rPr lang="en-US" dirty="0" smtClean="0"/>
            <a:t>Geographical factors associated with HIV antigen positivity</a:t>
          </a:r>
          <a:endParaRPr lang="en-US" dirty="0"/>
        </a:p>
      </dgm:t>
    </dgm:pt>
    <dgm:pt modelId="{3AAC17CB-B595-4B06-B0D3-0450039626DA}" type="parTrans" cxnId="{11DDC6D7-E36E-44E4-94CD-230D1E1D5FB9}">
      <dgm:prSet/>
      <dgm:spPr/>
      <dgm:t>
        <a:bodyPr/>
        <a:lstStyle/>
        <a:p>
          <a:endParaRPr lang="en-US"/>
        </a:p>
      </dgm:t>
    </dgm:pt>
    <dgm:pt modelId="{A590C48E-C2E3-4E76-8350-13734CCCA452}" type="sibTrans" cxnId="{11DDC6D7-E36E-44E4-94CD-230D1E1D5FB9}">
      <dgm:prSet/>
      <dgm:spPr/>
      <dgm:t>
        <a:bodyPr/>
        <a:lstStyle/>
        <a:p>
          <a:endParaRPr lang="en-US"/>
        </a:p>
      </dgm:t>
    </dgm:pt>
    <dgm:pt modelId="{EF8A80C3-9CEB-4DEA-8AD5-496745C2B7AD}">
      <dgm:prSet/>
      <dgm:spPr/>
      <dgm:t>
        <a:bodyPr/>
        <a:lstStyle/>
        <a:p>
          <a:r>
            <a:rPr lang="en-GB" dirty="0" smtClean="0"/>
            <a:t>Demographic and Social-economic factors associated with HIV antigen positivity</a:t>
          </a:r>
          <a:endParaRPr lang="en-US" dirty="0"/>
        </a:p>
      </dgm:t>
    </dgm:pt>
    <dgm:pt modelId="{472D8D33-61EC-44BE-8E01-71F6BDD8DED9}" type="parTrans" cxnId="{D7C96DA3-C202-43C8-AB92-1A860BED68B9}">
      <dgm:prSet/>
      <dgm:spPr/>
      <dgm:t>
        <a:bodyPr/>
        <a:lstStyle/>
        <a:p>
          <a:endParaRPr lang="en-US"/>
        </a:p>
      </dgm:t>
    </dgm:pt>
    <dgm:pt modelId="{ACC329AC-5B09-4268-B588-0521913D3909}" type="sibTrans" cxnId="{D7C96DA3-C202-43C8-AB92-1A860BED68B9}">
      <dgm:prSet/>
      <dgm:spPr/>
      <dgm:t>
        <a:bodyPr/>
        <a:lstStyle/>
        <a:p>
          <a:endParaRPr lang="en-US"/>
        </a:p>
      </dgm:t>
    </dgm:pt>
    <dgm:pt modelId="{93E42335-1F9A-4703-9F9A-1E5A7387DE66}">
      <dgm:prSet/>
      <dgm:spPr/>
      <dgm:t>
        <a:bodyPr/>
        <a:lstStyle/>
        <a:p>
          <a:endParaRPr lang="en-US"/>
        </a:p>
      </dgm:t>
    </dgm:pt>
    <dgm:pt modelId="{B4A68F4F-8552-4B1B-95ED-1817F3FBD0FE}" type="parTrans" cxnId="{5A8B580E-E462-4EA0-A61A-CC4A2FE3D4C5}">
      <dgm:prSet/>
      <dgm:spPr/>
      <dgm:t>
        <a:bodyPr/>
        <a:lstStyle/>
        <a:p>
          <a:endParaRPr lang="en-US"/>
        </a:p>
      </dgm:t>
    </dgm:pt>
    <dgm:pt modelId="{0CF418EB-FC6F-4BFE-B403-21C6BB5ABCBD}" type="sibTrans" cxnId="{5A8B580E-E462-4EA0-A61A-CC4A2FE3D4C5}">
      <dgm:prSet/>
      <dgm:spPr/>
      <dgm:t>
        <a:bodyPr/>
        <a:lstStyle/>
        <a:p>
          <a:endParaRPr lang="en-US"/>
        </a:p>
      </dgm:t>
    </dgm:pt>
    <dgm:pt modelId="{3DDA5123-CDBC-45F2-A959-5F9A48CA1220}">
      <dgm:prSet/>
      <dgm:spPr/>
      <dgm:t>
        <a:bodyPr/>
        <a:lstStyle/>
        <a:p>
          <a:endParaRPr lang="en-US"/>
        </a:p>
      </dgm:t>
    </dgm:pt>
    <dgm:pt modelId="{B25EC688-6CAF-4307-A056-D6A44D61930A}" type="parTrans" cxnId="{21987555-F1C8-459C-B9B7-25D76A3F0E47}">
      <dgm:prSet/>
      <dgm:spPr/>
      <dgm:t>
        <a:bodyPr/>
        <a:lstStyle/>
        <a:p>
          <a:endParaRPr lang="en-US"/>
        </a:p>
      </dgm:t>
    </dgm:pt>
    <dgm:pt modelId="{ACADB73D-36E7-431B-9320-2D954B070CF9}" type="sibTrans" cxnId="{21987555-F1C8-459C-B9B7-25D76A3F0E47}">
      <dgm:prSet/>
      <dgm:spPr/>
      <dgm:t>
        <a:bodyPr/>
        <a:lstStyle/>
        <a:p>
          <a:endParaRPr lang="en-US"/>
        </a:p>
      </dgm:t>
    </dgm:pt>
    <dgm:pt modelId="{B1B183A6-657E-4538-8CDD-778868563FD7}">
      <dgm:prSet/>
      <dgm:spPr/>
      <dgm:t>
        <a:bodyPr/>
        <a:lstStyle/>
        <a:p>
          <a:endParaRPr lang="en-US"/>
        </a:p>
      </dgm:t>
    </dgm:pt>
    <dgm:pt modelId="{6FE02A45-BBA3-4408-A31D-83B3E79773F7}" type="parTrans" cxnId="{35BD56BB-E6D0-4F95-869F-D6D2D766E1CB}">
      <dgm:prSet/>
      <dgm:spPr/>
      <dgm:t>
        <a:bodyPr/>
        <a:lstStyle/>
        <a:p>
          <a:endParaRPr lang="en-US"/>
        </a:p>
      </dgm:t>
    </dgm:pt>
    <dgm:pt modelId="{52A03244-FC30-4CED-A975-F98FDEF1D230}" type="sibTrans" cxnId="{35BD56BB-E6D0-4F95-869F-D6D2D766E1CB}">
      <dgm:prSet/>
      <dgm:spPr/>
      <dgm:t>
        <a:bodyPr/>
        <a:lstStyle/>
        <a:p>
          <a:endParaRPr lang="en-US"/>
        </a:p>
      </dgm:t>
    </dgm:pt>
    <dgm:pt modelId="{88FCDA6E-3349-4DE9-B759-3BCF7BE18DD7}" type="pres">
      <dgm:prSet presAssocID="{B4D3C2C1-7E06-4833-B1A1-3D3A6FD5ADE5}" presName="diagram" presStyleCnt="0">
        <dgm:presLayoutVars>
          <dgm:chMax val="1"/>
          <dgm:dir/>
          <dgm:animLvl val="ctr"/>
          <dgm:resizeHandles val="exact"/>
        </dgm:presLayoutVars>
      </dgm:prSet>
      <dgm:spPr/>
      <dgm:t>
        <a:bodyPr/>
        <a:lstStyle/>
        <a:p>
          <a:endParaRPr lang="en-US"/>
        </a:p>
      </dgm:t>
    </dgm:pt>
    <dgm:pt modelId="{4EE1FE77-3454-4752-9037-32E50DCE17C3}" type="pres">
      <dgm:prSet presAssocID="{B4D3C2C1-7E06-4833-B1A1-3D3A6FD5ADE5}" presName="matrix" presStyleCnt="0"/>
      <dgm:spPr/>
    </dgm:pt>
    <dgm:pt modelId="{501B4439-ED9D-48E0-8FBA-C3B848F9C89D}" type="pres">
      <dgm:prSet presAssocID="{B4D3C2C1-7E06-4833-B1A1-3D3A6FD5ADE5}" presName="tile1" presStyleLbl="node1" presStyleIdx="0" presStyleCnt="4"/>
      <dgm:spPr/>
      <dgm:t>
        <a:bodyPr/>
        <a:lstStyle/>
        <a:p>
          <a:endParaRPr lang="en-US"/>
        </a:p>
      </dgm:t>
    </dgm:pt>
    <dgm:pt modelId="{E9CD4456-4262-4E60-B8AB-F8EF280F3892}" type="pres">
      <dgm:prSet presAssocID="{B4D3C2C1-7E06-4833-B1A1-3D3A6FD5ADE5}" presName="tile1text" presStyleLbl="node1" presStyleIdx="0" presStyleCnt="4">
        <dgm:presLayoutVars>
          <dgm:chMax val="0"/>
          <dgm:chPref val="0"/>
          <dgm:bulletEnabled val="1"/>
        </dgm:presLayoutVars>
      </dgm:prSet>
      <dgm:spPr/>
      <dgm:t>
        <a:bodyPr/>
        <a:lstStyle/>
        <a:p>
          <a:endParaRPr lang="en-US"/>
        </a:p>
      </dgm:t>
    </dgm:pt>
    <dgm:pt modelId="{FB212293-E299-4800-B2A3-26A6A1E40B0A}" type="pres">
      <dgm:prSet presAssocID="{B4D3C2C1-7E06-4833-B1A1-3D3A6FD5ADE5}" presName="tile2" presStyleLbl="node1" presStyleIdx="1" presStyleCnt="4"/>
      <dgm:spPr/>
      <dgm:t>
        <a:bodyPr/>
        <a:lstStyle/>
        <a:p>
          <a:endParaRPr lang="en-US"/>
        </a:p>
      </dgm:t>
    </dgm:pt>
    <dgm:pt modelId="{BFC60607-AC45-4D69-8C1A-99952C82D89A}" type="pres">
      <dgm:prSet presAssocID="{B4D3C2C1-7E06-4833-B1A1-3D3A6FD5ADE5}" presName="tile2text" presStyleLbl="node1" presStyleIdx="1" presStyleCnt="4">
        <dgm:presLayoutVars>
          <dgm:chMax val="0"/>
          <dgm:chPref val="0"/>
          <dgm:bulletEnabled val="1"/>
        </dgm:presLayoutVars>
      </dgm:prSet>
      <dgm:spPr/>
      <dgm:t>
        <a:bodyPr/>
        <a:lstStyle/>
        <a:p>
          <a:endParaRPr lang="en-US"/>
        </a:p>
      </dgm:t>
    </dgm:pt>
    <dgm:pt modelId="{2FAAD2E3-D0F7-410C-B366-3154EC8F31DC}" type="pres">
      <dgm:prSet presAssocID="{B4D3C2C1-7E06-4833-B1A1-3D3A6FD5ADE5}" presName="tile3" presStyleLbl="node1" presStyleIdx="2" presStyleCnt="4"/>
      <dgm:spPr/>
      <dgm:t>
        <a:bodyPr/>
        <a:lstStyle/>
        <a:p>
          <a:endParaRPr lang="en-US"/>
        </a:p>
      </dgm:t>
    </dgm:pt>
    <dgm:pt modelId="{25056929-FA97-4D4C-A1A8-43A9EC57F28C}" type="pres">
      <dgm:prSet presAssocID="{B4D3C2C1-7E06-4833-B1A1-3D3A6FD5ADE5}" presName="tile3text" presStyleLbl="node1" presStyleIdx="2" presStyleCnt="4">
        <dgm:presLayoutVars>
          <dgm:chMax val="0"/>
          <dgm:chPref val="0"/>
          <dgm:bulletEnabled val="1"/>
        </dgm:presLayoutVars>
      </dgm:prSet>
      <dgm:spPr/>
      <dgm:t>
        <a:bodyPr/>
        <a:lstStyle/>
        <a:p>
          <a:endParaRPr lang="en-US"/>
        </a:p>
      </dgm:t>
    </dgm:pt>
    <dgm:pt modelId="{E18793E8-166B-4286-8678-9CB665BA3E98}" type="pres">
      <dgm:prSet presAssocID="{B4D3C2C1-7E06-4833-B1A1-3D3A6FD5ADE5}" presName="tile4" presStyleLbl="node1" presStyleIdx="3" presStyleCnt="4"/>
      <dgm:spPr/>
      <dgm:t>
        <a:bodyPr/>
        <a:lstStyle/>
        <a:p>
          <a:endParaRPr lang="en-US"/>
        </a:p>
      </dgm:t>
    </dgm:pt>
    <dgm:pt modelId="{1E888D88-240D-4A3F-8FA0-6ADCC59E7119}" type="pres">
      <dgm:prSet presAssocID="{B4D3C2C1-7E06-4833-B1A1-3D3A6FD5ADE5}" presName="tile4text" presStyleLbl="node1" presStyleIdx="3" presStyleCnt="4">
        <dgm:presLayoutVars>
          <dgm:chMax val="0"/>
          <dgm:chPref val="0"/>
          <dgm:bulletEnabled val="1"/>
        </dgm:presLayoutVars>
      </dgm:prSet>
      <dgm:spPr/>
      <dgm:t>
        <a:bodyPr/>
        <a:lstStyle/>
        <a:p>
          <a:endParaRPr lang="en-US"/>
        </a:p>
      </dgm:t>
    </dgm:pt>
    <dgm:pt modelId="{5CEB0D34-494D-4EE2-B1C1-0302FB6DB7C0}" type="pres">
      <dgm:prSet presAssocID="{B4D3C2C1-7E06-4833-B1A1-3D3A6FD5ADE5}" presName="centerTile" presStyleLbl="fgShp" presStyleIdx="0" presStyleCnt="1" custScaleX="193452" custLinFactNeighborX="-2604" custLinFactNeighborY="-847">
        <dgm:presLayoutVars>
          <dgm:chMax val="0"/>
          <dgm:chPref val="0"/>
        </dgm:presLayoutVars>
      </dgm:prSet>
      <dgm:spPr/>
      <dgm:t>
        <a:bodyPr/>
        <a:lstStyle/>
        <a:p>
          <a:endParaRPr lang="en-US"/>
        </a:p>
      </dgm:t>
    </dgm:pt>
  </dgm:ptLst>
  <dgm:cxnLst>
    <dgm:cxn modelId="{35BD56BB-E6D0-4F95-869F-D6D2D766E1CB}" srcId="{B4D3C2C1-7E06-4833-B1A1-3D3A6FD5ADE5}" destId="{B1B183A6-657E-4538-8CDD-778868563FD7}" srcOrd="1" destOrd="0" parTransId="{6FE02A45-BBA3-4408-A31D-83B3E79773F7}" sibTransId="{52A03244-FC30-4CED-A975-F98FDEF1D230}"/>
    <dgm:cxn modelId="{86012093-0129-44FC-BEEC-FAA0512F9818}" srcId="{ACB47FC3-024C-4EDA-A1A2-900192E0D55B}" destId="{7F9B7EA5-098A-42A0-BC9E-8FB3CFFDDBE6}" srcOrd="6" destOrd="0" parTransId="{B749D449-2A34-4F51-9ADD-C6ACAA3A77EA}" sibTransId="{D4680203-D0A7-4C39-9FA0-FBC3B3F78389}"/>
    <dgm:cxn modelId="{11DDC6D7-E36E-44E4-94CD-230D1E1D5FB9}" srcId="{ACB47FC3-024C-4EDA-A1A2-900192E0D55B}" destId="{47B3806B-5DFB-4C03-BCBC-F0CCFBBBA80A}" srcOrd="1" destOrd="0" parTransId="{3AAC17CB-B595-4B06-B0D3-0450039626DA}" sibTransId="{A590C48E-C2E3-4E76-8350-13734CCCA452}"/>
    <dgm:cxn modelId="{E4990A53-C6FA-4A0B-9E9A-05A1E984B59E}" type="presOf" srcId="{46C48952-F751-4675-9505-B54E8E8B531D}" destId="{E18793E8-166B-4286-8678-9CB665BA3E98}" srcOrd="0" destOrd="0" presId="urn:microsoft.com/office/officeart/2005/8/layout/matrix1"/>
    <dgm:cxn modelId="{39C38702-C405-423D-9A21-1E08BEF72797}" type="presOf" srcId="{47B3806B-5DFB-4C03-BCBC-F0CCFBBBA80A}" destId="{FB212293-E299-4800-B2A3-26A6A1E40B0A}" srcOrd="0" destOrd="0" presId="urn:microsoft.com/office/officeart/2005/8/layout/matrix1"/>
    <dgm:cxn modelId="{3DF5AB7B-F306-4CC6-938F-C1BEE54ED7F0}" type="presOf" srcId="{47B3806B-5DFB-4C03-BCBC-F0CCFBBBA80A}" destId="{BFC60607-AC45-4D69-8C1A-99952C82D89A}" srcOrd="1" destOrd="0" presId="urn:microsoft.com/office/officeart/2005/8/layout/matrix1"/>
    <dgm:cxn modelId="{5A8B580E-E462-4EA0-A61A-CC4A2FE3D4C5}" srcId="{B4D3C2C1-7E06-4833-B1A1-3D3A6FD5ADE5}" destId="{93E42335-1F9A-4703-9F9A-1E5A7387DE66}" srcOrd="3" destOrd="0" parTransId="{B4A68F4F-8552-4B1B-95ED-1817F3FBD0FE}" sibTransId="{0CF418EB-FC6F-4BFE-B403-21C6BB5ABCBD}"/>
    <dgm:cxn modelId="{D7C96DA3-C202-43C8-AB92-1A860BED68B9}" srcId="{ACB47FC3-024C-4EDA-A1A2-900192E0D55B}" destId="{EF8A80C3-9CEB-4DEA-8AD5-496745C2B7AD}" srcOrd="0" destOrd="0" parTransId="{472D8D33-61EC-44BE-8E01-71F6BDD8DED9}" sibTransId="{ACC329AC-5B09-4268-B588-0521913D3909}"/>
    <dgm:cxn modelId="{7E924CFC-1847-42BB-AB24-99D129BB4D08}" srcId="{ACB47FC3-024C-4EDA-A1A2-900192E0D55B}" destId="{CB65E8E6-390C-4BD4-AABE-431EA44F9FD0}" srcOrd="4" destOrd="0" parTransId="{FAF59BCD-2CA5-47FC-9011-DC65F81AEABC}" sibTransId="{244BBDA6-40B5-4D05-8397-4F41E70305AE}"/>
    <dgm:cxn modelId="{A4B1118E-7C57-4DF3-BAD0-E8DA8EC1D21A}" type="presOf" srcId="{ACB47FC3-024C-4EDA-A1A2-900192E0D55B}" destId="{5CEB0D34-494D-4EE2-B1C1-0302FB6DB7C0}" srcOrd="0" destOrd="0" presId="urn:microsoft.com/office/officeart/2005/8/layout/matrix1"/>
    <dgm:cxn modelId="{21987555-F1C8-459C-B9B7-25D76A3F0E47}" srcId="{B4D3C2C1-7E06-4833-B1A1-3D3A6FD5ADE5}" destId="{3DDA5123-CDBC-45F2-A959-5F9A48CA1220}" srcOrd="2" destOrd="0" parTransId="{B25EC688-6CAF-4307-A056-D6A44D61930A}" sibTransId="{ACADB73D-36E7-431B-9320-2D954B070CF9}"/>
    <dgm:cxn modelId="{029A07AB-7593-4DA2-844C-438987D1C034}" type="presOf" srcId="{B4D3C2C1-7E06-4833-B1A1-3D3A6FD5ADE5}" destId="{88FCDA6E-3349-4DE9-B759-3BCF7BE18DD7}" srcOrd="0" destOrd="0" presId="urn:microsoft.com/office/officeart/2005/8/layout/matrix1"/>
    <dgm:cxn modelId="{74ADBCD8-A159-426E-9DCC-0725661B50DD}" srcId="{ACB47FC3-024C-4EDA-A1A2-900192E0D55B}" destId="{CE4F19D1-3174-48CA-8569-3A8BE92E2AD8}" srcOrd="5" destOrd="0" parTransId="{7FC45674-81A7-4047-A4D9-F7F23D63F10A}" sibTransId="{7DB8F9C2-8D67-4CDF-AAFE-325601801BE3}"/>
    <dgm:cxn modelId="{0E898A5B-996C-4C90-AE74-9D3A6765CC42}" type="presOf" srcId="{85CCB666-001E-4726-9E78-0695E730B9D8}" destId="{2FAAD2E3-D0F7-410C-B366-3154EC8F31DC}" srcOrd="0" destOrd="0" presId="urn:microsoft.com/office/officeart/2005/8/layout/matrix1"/>
    <dgm:cxn modelId="{37BAE4BC-67B1-4B79-99C4-1D9FCB315E0C}" srcId="{ACB47FC3-024C-4EDA-A1A2-900192E0D55B}" destId="{85CCB666-001E-4726-9E78-0695E730B9D8}" srcOrd="2" destOrd="0" parTransId="{D6E3A82E-DA75-45D4-8495-62BCC4983FE6}" sibTransId="{7875599B-44ED-4553-A630-D9EDD5EE4334}"/>
    <dgm:cxn modelId="{66D3A5D3-9DA5-4017-8420-DEDBE8F04033}" type="presOf" srcId="{46C48952-F751-4675-9505-B54E8E8B531D}" destId="{1E888D88-240D-4A3F-8FA0-6ADCC59E7119}" srcOrd="1" destOrd="0" presId="urn:microsoft.com/office/officeart/2005/8/layout/matrix1"/>
    <dgm:cxn modelId="{EB577075-18BB-4D93-B782-7B81AC0B8B5A}" type="presOf" srcId="{EF8A80C3-9CEB-4DEA-8AD5-496745C2B7AD}" destId="{E9CD4456-4262-4E60-B8AB-F8EF280F3892}" srcOrd="1" destOrd="0" presId="urn:microsoft.com/office/officeart/2005/8/layout/matrix1"/>
    <dgm:cxn modelId="{87A37437-4367-44EC-AC0C-AAE310482F9B}" srcId="{ACB47FC3-024C-4EDA-A1A2-900192E0D55B}" destId="{46C48952-F751-4675-9505-B54E8E8B531D}" srcOrd="3" destOrd="0" parTransId="{F785B861-4D29-4CBA-82E9-9995C22803A8}" sibTransId="{700E9E89-B7CF-4099-BDA2-8B7E75FD646E}"/>
    <dgm:cxn modelId="{4F9CB91F-51B5-4F65-963A-E72E3267FF7E}" type="presOf" srcId="{85CCB666-001E-4726-9E78-0695E730B9D8}" destId="{25056929-FA97-4D4C-A1A8-43A9EC57F28C}" srcOrd="1" destOrd="0" presId="urn:microsoft.com/office/officeart/2005/8/layout/matrix1"/>
    <dgm:cxn modelId="{8F3A8815-1DBF-437F-A042-4C66DE801AEB}" srcId="{B4D3C2C1-7E06-4833-B1A1-3D3A6FD5ADE5}" destId="{ACB47FC3-024C-4EDA-A1A2-900192E0D55B}" srcOrd="0" destOrd="0" parTransId="{36F6205A-1AFC-41DF-8BD8-B9A2FDDADB68}" sibTransId="{7323D061-B8F8-4CFA-A6B8-738E547AA604}"/>
    <dgm:cxn modelId="{5ECE0F2B-07D7-4B81-AE55-E46E261138D6}" type="presOf" srcId="{EF8A80C3-9CEB-4DEA-8AD5-496745C2B7AD}" destId="{501B4439-ED9D-48E0-8FBA-C3B848F9C89D}" srcOrd="0" destOrd="0" presId="urn:microsoft.com/office/officeart/2005/8/layout/matrix1"/>
    <dgm:cxn modelId="{89DAE0DE-A8A5-4440-88CF-EE6927DA8C0C}" type="presParOf" srcId="{88FCDA6E-3349-4DE9-B759-3BCF7BE18DD7}" destId="{4EE1FE77-3454-4752-9037-32E50DCE17C3}" srcOrd="0" destOrd="0" presId="urn:microsoft.com/office/officeart/2005/8/layout/matrix1"/>
    <dgm:cxn modelId="{EB6F8129-8DF1-407D-AC28-E6B28464BFA6}" type="presParOf" srcId="{4EE1FE77-3454-4752-9037-32E50DCE17C3}" destId="{501B4439-ED9D-48E0-8FBA-C3B848F9C89D}" srcOrd="0" destOrd="0" presId="urn:microsoft.com/office/officeart/2005/8/layout/matrix1"/>
    <dgm:cxn modelId="{64B6F012-180B-41AE-ACD9-3AE9DB3323A4}" type="presParOf" srcId="{4EE1FE77-3454-4752-9037-32E50DCE17C3}" destId="{E9CD4456-4262-4E60-B8AB-F8EF280F3892}" srcOrd="1" destOrd="0" presId="urn:microsoft.com/office/officeart/2005/8/layout/matrix1"/>
    <dgm:cxn modelId="{8C4108E9-360C-41EA-8F1F-DC38746172EA}" type="presParOf" srcId="{4EE1FE77-3454-4752-9037-32E50DCE17C3}" destId="{FB212293-E299-4800-B2A3-26A6A1E40B0A}" srcOrd="2" destOrd="0" presId="urn:microsoft.com/office/officeart/2005/8/layout/matrix1"/>
    <dgm:cxn modelId="{22646B83-1D3D-440D-99FA-65BA2EDA6AAB}" type="presParOf" srcId="{4EE1FE77-3454-4752-9037-32E50DCE17C3}" destId="{BFC60607-AC45-4D69-8C1A-99952C82D89A}" srcOrd="3" destOrd="0" presId="urn:microsoft.com/office/officeart/2005/8/layout/matrix1"/>
    <dgm:cxn modelId="{11DE3217-DB40-4DD3-87B7-CEF907D495B3}" type="presParOf" srcId="{4EE1FE77-3454-4752-9037-32E50DCE17C3}" destId="{2FAAD2E3-D0F7-410C-B366-3154EC8F31DC}" srcOrd="4" destOrd="0" presId="urn:microsoft.com/office/officeart/2005/8/layout/matrix1"/>
    <dgm:cxn modelId="{D4AF8080-92F5-4D8A-83CD-364FEDE71F23}" type="presParOf" srcId="{4EE1FE77-3454-4752-9037-32E50DCE17C3}" destId="{25056929-FA97-4D4C-A1A8-43A9EC57F28C}" srcOrd="5" destOrd="0" presId="urn:microsoft.com/office/officeart/2005/8/layout/matrix1"/>
    <dgm:cxn modelId="{7B58AA5B-1BD4-4F4E-A026-40681BC92497}" type="presParOf" srcId="{4EE1FE77-3454-4752-9037-32E50DCE17C3}" destId="{E18793E8-166B-4286-8678-9CB665BA3E98}" srcOrd="6" destOrd="0" presId="urn:microsoft.com/office/officeart/2005/8/layout/matrix1"/>
    <dgm:cxn modelId="{57482E51-CFB8-415D-8AD9-B57130A966DB}" type="presParOf" srcId="{4EE1FE77-3454-4752-9037-32E50DCE17C3}" destId="{1E888D88-240D-4A3F-8FA0-6ADCC59E7119}" srcOrd="7" destOrd="0" presId="urn:microsoft.com/office/officeart/2005/8/layout/matrix1"/>
    <dgm:cxn modelId="{E61CE124-A956-42BA-BB3F-37027055B555}" type="presParOf" srcId="{88FCDA6E-3349-4DE9-B759-3BCF7BE18DD7}" destId="{5CEB0D34-494D-4EE2-B1C1-0302FB6DB7C0}"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1B4439-ED9D-48E0-8FBA-C3B848F9C89D}">
      <dsp:nvSpPr>
        <dsp:cNvPr id="0" name=""/>
        <dsp:cNvSpPr/>
      </dsp:nvSpPr>
      <dsp:spPr>
        <a:xfrm rot="16200000">
          <a:off x="1369324" y="-1369324"/>
          <a:ext cx="3357349" cy="6095999"/>
        </a:xfrm>
        <a:prstGeom prst="round1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lvl="0" algn="ctr" defTabSz="1333500">
            <a:lnSpc>
              <a:spcPct val="90000"/>
            </a:lnSpc>
            <a:spcBef>
              <a:spcPct val="0"/>
            </a:spcBef>
            <a:spcAft>
              <a:spcPct val="35000"/>
            </a:spcAft>
          </a:pPr>
          <a:r>
            <a:rPr lang="en-GB" sz="3000" kern="1200" dirty="0" smtClean="0"/>
            <a:t>Demographic and Social-economic factors associated with HIV antigen positivity</a:t>
          </a:r>
          <a:endParaRPr lang="en-US" sz="3000" kern="1200" dirty="0"/>
        </a:p>
      </dsp:txBody>
      <dsp:txXfrm rot="5400000">
        <a:off x="0" y="0"/>
        <a:ext cx="6095999" cy="2518012"/>
      </dsp:txXfrm>
    </dsp:sp>
    <dsp:sp modelId="{FB212293-E299-4800-B2A3-26A6A1E40B0A}">
      <dsp:nvSpPr>
        <dsp:cNvPr id="0" name=""/>
        <dsp:cNvSpPr/>
      </dsp:nvSpPr>
      <dsp:spPr>
        <a:xfrm>
          <a:off x="6095999" y="0"/>
          <a:ext cx="6095999" cy="3357349"/>
        </a:xfrm>
        <a:prstGeom prst="round1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lvl="0" algn="ctr" defTabSz="1333500">
            <a:lnSpc>
              <a:spcPct val="90000"/>
            </a:lnSpc>
            <a:spcBef>
              <a:spcPct val="0"/>
            </a:spcBef>
            <a:spcAft>
              <a:spcPct val="35000"/>
            </a:spcAft>
          </a:pPr>
          <a:r>
            <a:rPr lang="en-US" sz="3000" kern="1200" dirty="0" smtClean="0"/>
            <a:t>Geographical factors associated with HIV antigen positivity</a:t>
          </a:r>
          <a:endParaRPr lang="en-US" sz="3000" kern="1200" dirty="0"/>
        </a:p>
      </dsp:txBody>
      <dsp:txXfrm>
        <a:off x="6095999" y="0"/>
        <a:ext cx="6095999" cy="2518012"/>
      </dsp:txXfrm>
    </dsp:sp>
    <dsp:sp modelId="{2FAAD2E3-D0F7-410C-B366-3154EC8F31DC}">
      <dsp:nvSpPr>
        <dsp:cNvPr id="0" name=""/>
        <dsp:cNvSpPr/>
      </dsp:nvSpPr>
      <dsp:spPr>
        <a:xfrm rot="10800000">
          <a:off x="0" y="3357349"/>
          <a:ext cx="6095999" cy="3357349"/>
        </a:xfrm>
        <a:prstGeom prst="round1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lvl="0" algn="ctr" defTabSz="1333500">
            <a:lnSpc>
              <a:spcPct val="90000"/>
            </a:lnSpc>
            <a:spcBef>
              <a:spcPct val="0"/>
            </a:spcBef>
            <a:spcAft>
              <a:spcPct val="35000"/>
            </a:spcAft>
          </a:pPr>
          <a:r>
            <a:rPr lang="en-US" sz="3000" kern="1200" dirty="0" smtClean="0"/>
            <a:t>Infant factors associated with HIV antigen positivity</a:t>
          </a:r>
          <a:endParaRPr lang="en-US" sz="3000" kern="1200" dirty="0"/>
        </a:p>
      </dsp:txBody>
      <dsp:txXfrm rot="10800000">
        <a:off x="0" y="4196686"/>
        <a:ext cx="6095999" cy="2518012"/>
      </dsp:txXfrm>
    </dsp:sp>
    <dsp:sp modelId="{E18793E8-166B-4286-8678-9CB665BA3E98}">
      <dsp:nvSpPr>
        <dsp:cNvPr id="0" name=""/>
        <dsp:cNvSpPr/>
      </dsp:nvSpPr>
      <dsp:spPr>
        <a:xfrm rot="5400000">
          <a:off x="7465324" y="1988024"/>
          <a:ext cx="3357349" cy="6095999"/>
        </a:xfrm>
        <a:prstGeom prst="round1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lvl="0" algn="ctr" defTabSz="1333500">
            <a:lnSpc>
              <a:spcPct val="90000"/>
            </a:lnSpc>
            <a:spcBef>
              <a:spcPct val="0"/>
            </a:spcBef>
            <a:spcAft>
              <a:spcPct val="35000"/>
            </a:spcAft>
          </a:pPr>
          <a:r>
            <a:rPr lang="en-US" sz="3000" kern="1200" dirty="0" smtClean="0"/>
            <a:t>Maternal factors associated with HIV antigen positivity</a:t>
          </a:r>
          <a:endParaRPr lang="en-US" sz="3000" kern="1200" dirty="0"/>
        </a:p>
      </dsp:txBody>
      <dsp:txXfrm rot="-5400000">
        <a:off x="6096000" y="4196686"/>
        <a:ext cx="6095999" cy="2518012"/>
      </dsp:txXfrm>
    </dsp:sp>
    <dsp:sp modelId="{5CEB0D34-494D-4EE2-B1C1-0302FB6DB7C0}">
      <dsp:nvSpPr>
        <dsp:cNvPr id="0" name=""/>
        <dsp:cNvSpPr/>
      </dsp:nvSpPr>
      <dsp:spPr>
        <a:xfrm>
          <a:off x="2462905" y="2503793"/>
          <a:ext cx="7075699" cy="1678674"/>
        </a:xfrm>
        <a:prstGeom prst="roundRect">
          <a:avLst/>
        </a:prstGeom>
        <a:solidFill>
          <a:schemeClr val="dk2">
            <a:tint val="6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dirty="0" smtClean="0"/>
            <a:t>HIV-free survival among infants born to HIV-positive mothers in Homa Bay County.</a:t>
          </a:r>
          <a:endParaRPr lang="en-US" sz="3000" kern="1200" dirty="0"/>
        </a:p>
      </dsp:txBody>
      <dsp:txXfrm>
        <a:off x="2544851" y="2585739"/>
        <a:ext cx="6911807" cy="1514782"/>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EB54876-A058-4135-BE9F-6267E2691918}" type="datetimeFigureOut">
              <a:rPr lang="en-US" smtClean="0"/>
              <a:t>3/23/2024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2110546-525A-40B2-B390-9C1F8FEDB325}" type="slidenum">
              <a:rPr lang="en-US" smtClean="0"/>
              <a:t>‹#›</a:t>
            </a:fld>
            <a:endParaRPr lang="en-US"/>
          </a:p>
        </p:txBody>
      </p:sp>
    </p:spTree>
    <p:extLst>
      <p:ext uri="{BB962C8B-B14F-4D97-AF65-F5344CB8AC3E}">
        <p14:creationId xmlns:p14="http://schemas.microsoft.com/office/powerpoint/2010/main" val="34152359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D9800D-8E94-4255-91B8-7459E41C3AA7}" type="datetimeFigureOut">
              <a:rPr lang="en-US" smtClean="0"/>
              <a:t>3/23/2024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1820B5-0D4F-4646-B36A-7C258F828BDF}" type="slidenum">
              <a:rPr lang="en-US" smtClean="0"/>
              <a:t>‹#›</a:t>
            </a:fld>
            <a:endParaRPr lang="en-US"/>
          </a:p>
        </p:txBody>
      </p:sp>
    </p:spTree>
    <p:extLst>
      <p:ext uri="{BB962C8B-B14F-4D97-AF65-F5344CB8AC3E}">
        <p14:creationId xmlns:p14="http://schemas.microsoft.com/office/powerpoint/2010/main" val="577377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9507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a:lvl1pPr>
          </a:lstStyle>
          <a:p>
            <a:r>
              <a:rPr lang="en-US" dirty="0"/>
              <a:t>Click to edit Master title style</a:t>
            </a:r>
          </a:p>
        </p:txBody>
      </p:sp>
      <p:sp>
        <p:nvSpPr>
          <p:cNvPr id="3" name="Content Placeholder 2"/>
          <p:cNvSpPr>
            <a:spLocks noGrp="1"/>
          </p:cNvSpPr>
          <p:nvPr>
            <p:ph idx="1"/>
          </p:nvPr>
        </p:nvSpPr>
        <p:spPr/>
        <p:txBody>
          <a:bodyPr/>
          <a:lstStyle>
            <a:lvl1pPr>
              <a:defRPr>
                <a:latin typeface="Segoe UI" panose="020B0502040204020203" pitchFamily="34"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80375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620221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6623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174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2331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FDA55DA6-07E5-5A44-325E-F61E53F909A4}"/>
              </a:ext>
            </a:extLst>
          </p:cNvPr>
          <p:cNvSpPr>
            <a:spLocks noGrp="1"/>
          </p:cNvSpPr>
          <p:nvPr>
            <p:ph type="title"/>
          </p:nvPr>
        </p:nvSpPr>
        <p:spPr/>
        <p:txBody>
          <a:bodyPr/>
          <a:lstStyle/>
          <a:p>
            <a:r>
              <a:rPr lang="en-US"/>
              <a:t>Click to edit Master title style</a:t>
            </a:r>
            <a:endParaRPr lang="aa-ET"/>
          </a:p>
        </p:txBody>
      </p:sp>
    </p:spTree>
    <p:extLst>
      <p:ext uri="{BB962C8B-B14F-4D97-AF65-F5344CB8AC3E}">
        <p14:creationId xmlns:p14="http://schemas.microsoft.com/office/powerpoint/2010/main" val="2354271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223250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dirty="0"/>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301481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5248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15216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636137"/>
            <a:ext cx="10515600" cy="10545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3"/>
          <p:cNvSpPr/>
          <p:nvPr userDrawn="1"/>
        </p:nvSpPr>
        <p:spPr>
          <a:xfrm>
            <a:off x="0" y="6451023"/>
            <a:ext cx="9115024" cy="406977"/>
          </a:xfrm>
          <a:custGeom>
            <a:avLst/>
            <a:gdLst>
              <a:gd name="connsiteX0" fmla="*/ 0 w 9115024"/>
              <a:gd name="connsiteY0" fmla="*/ 0 h 400079"/>
              <a:gd name="connsiteX1" fmla="*/ 9115024 w 9115024"/>
              <a:gd name="connsiteY1" fmla="*/ 0 h 400079"/>
              <a:gd name="connsiteX2" fmla="*/ 9115024 w 9115024"/>
              <a:gd name="connsiteY2" fmla="*/ 400079 h 400079"/>
              <a:gd name="connsiteX3" fmla="*/ 0 w 9115024"/>
              <a:gd name="connsiteY3" fmla="*/ 400079 h 400079"/>
              <a:gd name="connsiteX4" fmla="*/ 0 w 9115024"/>
              <a:gd name="connsiteY4" fmla="*/ 0 h 400079"/>
              <a:gd name="connsiteX0" fmla="*/ 0 w 9115024"/>
              <a:gd name="connsiteY0" fmla="*/ 0 h 400079"/>
              <a:gd name="connsiteX1" fmla="*/ 9115024 w 9115024"/>
              <a:gd name="connsiteY1" fmla="*/ 0 h 400079"/>
              <a:gd name="connsiteX2" fmla="*/ 8756805 w 9115024"/>
              <a:gd name="connsiteY2" fmla="*/ 390652 h 400079"/>
              <a:gd name="connsiteX3" fmla="*/ 0 w 9115024"/>
              <a:gd name="connsiteY3" fmla="*/ 400079 h 400079"/>
              <a:gd name="connsiteX4" fmla="*/ 0 w 9115024"/>
              <a:gd name="connsiteY4" fmla="*/ 0 h 400079"/>
              <a:gd name="connsiteX0" fmla="*/ 0 w 9115024"/>
              <a:gd name="connsiteY0" fmla="*/ 0 h 400079"/>
              <a:gd name="connsiteX1" fmla="*/ 9115024 w 9115024"/>
              <a:gd name="connsiteY1" fmla="*/ 0 h 400079"/>
              <a:gd name="connsiteX2" fmla="*/ 8763496 w 9115024"/>
              <a:gd name="connsiteY2" fmla="*/ 399573 h 400079"/>
              <a:gd name="connsiteX3" fmla="*/ 0 w 9115024"/>
              <a:gd name="connsiteY3" fmla="*/ 400079 h 400079"/>
              <a:gd name="connsiteX4" fmla="*/ 0 w 9115024"/>
              <a:gd name="connsiteY4" fmla="*/ 0 h 400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5024" h="400079">
                <a:moveTo>
                  <a:pt x="0" y="0"/>
                </a:moveTo>
                <a:lnTo>
                  <a:pt x="9115024" y="0"/>
                </a:lnTo>
                <a:lnTo>
                  <a:pt x="8763496" y="399573"/>
                </a:lnTo>
                <a:lnTo>
                  <a:pt x="0" y="400079"/>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397762" y="50666"/>
            <a:ext cx="726072" cy="731665"/>
          </a:xfrm>
          <a:prstGeom prst="rect">
            <a:avLst/>
          </a:prstGeom>
        </p:spPr>
      </p:pic>
      <p:sp>
        <p:nvSpPr>
          <p:cNvPr id="18" name="Rectangle 4"/>
          <p:cNvSpPr/>
          <p:nvPr userDrawn="1"/>
        </p:nvSpPr>
        <p:spPr>
          <a:xfrm>
            <a:off x="5676616" y="6451024"/>
            <a:ext cx="3429355" cy="406976"/>
          </a:xfrm>
          <a:custGeom>
            <a:avLst/>
            <a:gdLst>
              <a:gd name="connsiteX0" fmla="*/ 0 w 3076976"/>
              <a:gd name="connsiteY0" fmla="*/ 0 h 400078"/>
              <a:gd name="connsiteX1" fmla="*/ 3076976 w 3076976"/>
              <a:gd name="connsiteY1" fmla="*/ 0 h 400078"/>
              <a:gd name="connsiteX2" fmla="*/ 3076976 w 3076976"/>
              <a:gd name="connsiteY2" fmla="*/ 400078 h 400078"/>
              <a:gd name="connsiteX3" fmla="*/ 0 w 3076976"/>
              <a:gd name="connsiteY3" fmla="*/ 400078 h 400078"/>
              <a:gd name="connsiteX4" fmla="*/ 0 w 3076976"/>
              <a:gd name="connsiteY4" fmla="*/ 0 h 400078"/>
              <a:gd name="connsiteX0" fmla="*/ 352379 w 3429355"/>
              <a:gd name="connsiteY0" fmla="*/ 0 h 400078"/>
              <a:gd name="connsiteX1" fmla="*/ 3429355 w 3429355"/>
              <a:gd name="connsiteY1" fmla="*/ 0 h 400078"/>
              <a:gd name="connsiteX2" fmla="*/ 3429355 w 3429355"/>
              <a:gd name="connsiteY2" fmla="*/ 400078 h 400078"/>
              <a:gd name="connsiteX3" fmla="*/ 0 w 3429355"/>
              <a:gd name="connsiteY3" fmla="*/ 397848 h 400078"/>
              <a:gd name="connsiteX4" fmla="*/ 352379 w 3429355"/>
              <a:gd name="connsiteY4" fmla="*/ 0 h 400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355" h="400078">
                <a:moveTo>
                  <a:pt x="352379" y="0"/>
                </a:moveTo>
                <a:lnTo>
                  <a:pt x="3429355" y="0"/>
                </a:lnTo>
                <a:lnTo>
                  <a:pt x="3429355" y="400078"/>
                </a:lnTo>
                <a:lnTo>
                  <a:pt x="0" y="397848"/>
                </a:lnTo>
                <a:lnTo>
                  <a:pt x="352379" y="0"/>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9" name="Rectangle 4"/>
          <p:cNvSpPr/>
          <p:nvPr userDrawn="1"/>
        </p:nvSpPr>
        <p:spPr>
          <a:xfrm>
            <a:off x="8762644" y="6451022"/>
            <a:ext cx="3429355" cy="406978"/>
          </a:xfrm>
          <a:custGeom>
            <a:avLst/>
            <a:gdLst>
              <a:gd name="connsiteX0" fmla="*/ 0 w 3076976"/>
              <a:gd name="connsiteY0" fmla="*/ 0 h 400078"/>
              <a:gd name="connsiteX1" fmla="*/ 3076976 w 3076976"/>
              <a:gd name="connsiteY1" fmla="*/ 0 h 400078"/>
              <a:gd name="connsiteX2" fmla="*/ 3076976 w 3076976"/>
              <a:gd name="connsiteY2" fmla="*/ 400078 h 400078"/>
              <a:gd name="connsiteX3" fmla="*/ 0 w 3076976"/>
              <a:gd name="connsiteY3" fmla="*/ 400078 h 400078"/>
              <a:gd name="connsiteX4" fmla="*/ 0 w 3076976"/>
              <a:gd name="connsiteY4" fmla="*/ 0 h 400078"/>
              <a:gd name="connsiteX0" fmla="*/ 352379 w 3429355"/>
              <a:gd name="connsiteY0" fmla="*/ 0 h 400078"/>
              <a:gd name="connsiteX1" fmla="*/ 3429355 w 3429355"/>
              <a:gd name="connsiteY1" fmla="*/ 0 h 400078"/>
              <a:gd name="connsiteX2" fmla="*/ 3429355 w 3429355"/>
              <a:gd name="connsiteY2" fmla="*/ 400078 h 400078"/>
              <a:gd name="connsiteX3" fmla="*/ 0 w 3429355"/>
              <a:gd name="connsiteY3" fmla="*/ 397848 h 400078"/>
              <a:gd name="connsiteX4" fmla="*/ 352379 w 3429355"/>
              <a:gd name="connsiteY4" fmla="*/ 0 h 400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355" h="400078">
                <a:moveTo>
                  <a:pt x="352379" y="0"/>
                </a:moveTo>
                <a:lnTo>
                  <a:pt x="3429355" y="0"/>
                </a:lnTo>
                <a:lnTo>
                  <a:pt x="3429355" y="400078"/>
                </a:lnTo>
                <a:lnTo>
                  <a:pt x="0" y="397848"/>
                </a:lnTo>
                <a:lnTo>
                  <a:pt x="352379"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i="1" kern="1200" dirty="0">
                <a:solidFill>
                  <a:schemeClr val="bg1"/>
                </a:solidFill>
                <a:latin typeface="Times New Roman" panose="02020603050405020304" pitchFamily="18" charset="0"/>
                <a:ea typeface="+mn-ea"/>
                <a:cs typeface="Times New Roman" panose="02020603050405020304" pitchFamily="18" charset="0"/>
              </a:rPr>
              <a:t>SEMINAR</a:t>
            </a:r>
            <a:r>
              <a:rPr lang="en-US" i="1" dirty="0"/>
              <a:t> </a:t>
            </a:r>
            <a:r>
              <a:rPr lang="en-US" sz="1400" i="1" kern="1200" dirty="0">
                <a:solidFill>
                  <a:schemeClr val="bg1"/>
                </a:solidFill>
                <a:latin typeface="Times New Roman" panose="02020603050405020304" pitchFamily="18" charset="0"/>
                <a:ea typeface="+mn-ea"/>
                <a:cs typeface="Times New Roman" panose="02020603050405020304" pitchFamily="18" charset="0"/>
              </a:rPr>
              <a:t>PRESENTATION</a:t>
            </a:r>
            <a:r>
              <a:rPr lang="en-US" dirty="0"/>
              <a:t> </a:t>
            </a:r>
          </a:p>
        </p:txBody>
      </p:sp>
      <p:sp>
        <p:nvSpPr>
          <p:cNvPr id="10" name="TextBox 9"/>
          <p:cNvSpPr txBox="1"/>
          <p:nvPr userDrawn="1"/>
        </p:nvSpPr>
        <p:spPr>
          <a:xfrm>
            <a:off x="263410" y="6500622"/>
            <a:ext cx="4200541" cy="307777"/>
          </a:xfrm>
          <a:prstGeom prst="rect">
            <a:avLst/>
          </a:prstGeom>
          <a:noFill/>
        </p:spPr>
        <p:txBody>
          <a:bodyPr wrap="square" rtlCol="0">
            <a:spAutoFit/>
          </a:bodyPr>
          <a:lstStyle/>
          <a:p>
            <a:r>
              <a:rPr lang="en-US" sz="1400" i="1" dirty="0">
                <a:solidFill>
                  <a:schemeClr val="bg1"/>
                </a:solidFill>
                <a:latin typeface="Times New Roman" panose="02020603050405020304" pitchFamily="18" charset="0"/>
                <a:cs typeface="Times New Roman" panose="02020603050405020304" pitchFamily="18" charset="0"/>
              </a:rPr>
              <a:t>KEMRI GRADUATE SCHOOL</a:t>
            </a:r>
          </a:p>
        </p:txBody>
      </p:sp>
      <p:sp>
        <p:nvSpPr>
          <p:cNvPr id="23" name="Rectangle 22"/>
          <p:cNvSpPr/>
          <p:nvPr userDrawn="1"/>
        </p:nvSpPr>
        <p:spPr>
          <a:xfrm>
            <a:off x="838200" y="174668"/>
            <a:ext cx="885092" cy="6649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userDrawn="1"/>
        </p:nvSpPr>
        <p:spPr>
          <a:xfrm>
            <a:off x="1767254" y="174668"/>
            <a:ext cx="885092" cy="66492"/>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userDrawn="1"/>
        </p:nvSpPr>
        <p:spPr>
          <a:xfrm>
            <a:off x="2696308" y="174668"/>
            <a:ext cx="885092" cy="6649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3193443"/>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800" kern="1200" smtClean="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000" kern="1200" smtClean="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CD1970-76D7-210C-ABC6-9E3567BAC251}"/>
              </a:ext>
            </a:extLst>
          </p:cNvPr>
          <p:cNvSpPr>
            <a:spLocks noGrp="1"/>
          </p:cNvSpPr>
          <p:nvPr>
            <p:ph type="ctrTitle"/>
          </p:nvPr>
        </p:nvSpPr>
        <p:spPr>
          <a:xfrm>
            <a:off x="1524000" y="1122363"/>
            <a:ext cx="9144000" cy="1316037"/>
          </a:xfrm>
        </p:spPr>
        <p:txBody>
          <a:bodyPr>
            <a:noAutofit/>
          </a:bodyPr>
          <a:lstStyle/>
          <a:p>
            <a:r>
              <a:rPr lang="en-US" sz="4000" dirty="0"/>
              <a:t>MODELLING FACTORS ASSOCIATED WITH HIV-FREE SURVIVAL AMONG EXPOSED INFANTS IN HOMA BAY COUNTY</a:t>
            </a:r>
            <a:endParaRPr lang="aa-ET" sz="4000" dirty="0"/>
          </a:p>
        </p:txBody>
      </p:sp>
      <p:sp>
        <p:nvSpPr>
          <p:cNvPr id="4" name="Subtitle 3">
            <a:extLst>
              <a:ext uri="{FF2B5EF4-FFF2-40B4-BE49-F238E27FC236}">
                <a16:creationId xmlns:a16="http://schemas.microsoft.com/office/drawing/2014/main" xmlns="" id="{601CF9FD-175C-D98B-B5CC-3A58E72B73D0}"/>
              </a:ext>
            </a:extLst>
          </p:cNvPr>
          <p:cNvSpPr>
            <a:spLocks noGrp="1"/>
          </p:cNvSpPr>
          <p:nvPr>
            <p:ph type="subTitle" idx="1"/>
          </p:nvPr>
        </p:nvSpPr>
        <p:spPr>
          <a:xfrm>
            <a:off x="395785" y="2438399"/>
            <a:ext cx="11505063" cy="3812275"/>
          </a:xfrm>
        </p:spPr>
        <p:txBody>
          <a:bodyPr>
            <a:normAutofit fontScale="92500" lnSpcReduction="10000"/>
          </a:bodyPr>
          <a:lstStyle/>
          <a:p>
            <a:r>
              <a:rPr lang="en-US" b="1" dirty="0" smtClean="0">
                <a:latin typeface="Segoe UI" panose="020B0502040204020203" pitchFamily="34" charset="0"/>
                <a:cs typeface="Segoe UI" panose="020B0502040204020203" pitchFamily="34" charset="0"/>
              </a:rPr>
              <a:t>AUGUSTINE GATIMU NJUGUNA</a:t>
            </a:r>
            <a:endParaRPr lang="en-US" b="1"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TM </a:t>
            </a:r>
            <a:r>
              <a:rPr lang="en-US" b="1" dirty="0" smtClean="0">
                <a:latin typeface="Segoe UI" panose="020B0502040204020203" pitchFamily="34" charset="0"/>
                <a:cs typeface="Segoe UI" panose="020B0502040204020203" pitchFamily="34" charset="0"/>
              </a:rPr>
              <a:t>406-3105/2015</a:t>
            </a:r>
          </a:p>
          <a:p>
            <a:r>
              <a:rPr lang="en-US" b="1" dirty="0">
                <a:latin typeface="Segoe UI" panose="020B0502040204020203" pitchFamily="34" charset="0"/>
                <a:cs typeface="Segoe UI" panose="020B0502040204020203" pitchFamily="34" charset="0"/>
              </a:rPr>
              <a:t>Doctor of Philosophy in Epidemiology </a:t>
            </a:r>
            <a:endParaRPr lang="en-US" b="1" dirty="0" smtClean="0">
              <a:latin typeface="Segoe UI" panose="020B0502040204020203" pitchFamily="34" charset="0"/>
              <a:cs typeface="Segoe UI" panose="020B0502040204020203" pitchFamily="34" charset="0"/>
            </a:endParaRPr>
          </a:p>
          <a:p>
            <a:r>
              <a:rPr lang="en-US" b="1" dirty="0" smtClean="0">
                <a:latin typeface="Segoe UI" panose="020B0502040204020203" pitchFamily="34" charset="0"/>
                <a:cs typeface="Segoe UI" panose="020B0502040204020203" pitchFamily="34" charset="0"/>
              </a:rPr>
              <a:t>26/03/2024</a:t>
            </a:r>
            <a:endParaRPr lang="en-US" b="1" dirty="0">
              <a:latin typeface="Segoe UI" panose="020B0502040204020203" pitchFamily="34" charset="0"/>
              <a:cs typeface="Segoe UI" panose="020B0502040204020203" pitchFamily="34" charset="0"/>
            </a:endParaRPr>
          </a:p>
          <a:p>
            <a:r>
              <a:rPr lang="en-US" b="1" dirty="0" smtClean="0">
                <a:latin typeface="Segoe UI" panose="020B0502040204020203" pitchFamily="34" charset="0"/>
                <a:cs typeface="Segoe UI" panose="020B0502040204020203" pitchFamily="34" charset="0"/>
              </a:rPr>
              <a:t>Seminar 2</a:t>
            </a:r>
          </a:p>
          <a:p>
            <a:r>
              <a:rPr lang="en-US" b="1" dirty="0">
                <a:latin typeface="Segoe UI" panose="020B0502040204020203" pitchFamily="34" charset="0"/>
                <a:cs typeface="Segoe UI" panose="020B0502040204020203" pitchFamily="34" charset="0"/>
              </a:rPr>
              <a:t>Professor Simon Karanja </a:t>
            </a:r>
            <a:endParaRPr lang="en-US" b="1" dirty="0" smtClean="0">
              <a:latin typeface="Segoe UI" panose="020B0502040204020203" pitchFamily="34" charset="0"/>
              <a:cs typeface="Segoe UI" panose="020B0502040204020203" pitchFamily="34" charset="0"/>
            </a:endParaRPr>
          </a:p>
          <a:p>
            <a:r>
              <a:rPr lang="en-US" b="1" dirty="0" smtClean="0">
                <a:latin typeface="Segoe UI" panose="020B0502040204020203" pitchFamily="34" charset="0"/>
                <a:cs typeface="Segoe UI" panose="020B0502040204020203" pitchFamily="34" charset="0"/>
              </a:rPr>
              <a:t>Jomo </a:t>
            </a:r>
            <a:r>
              <a:rPr lang="en-US" b="1" dirty="0">
                <a:latin typeface="Segoe UI" panose="020B0502040204020203" pitchFamily="34" charset="0"/>
                <a:cs typeface="Segoe UI" panose="020B0502040204020203" pitchFamily="34" charset="0"/>
              </a:rPr>
              <a:t>Kenyatta University of Agriculture &amp; Technology</a:t>
            </a:r>
          </a:p>
          <a:p>
            <a:endParaRPr lang="en-US" sz="1200" b="1" dirty="0">
              <a:latin typeface="Segoe UI" panose="020B0502040204020203" pitchFamily="34" charset="0"/>
              <a:cs typeface="Segoe UI" panose="020B0502040204020203" pitchFamily="34" charset="0"/>
            </a:endParaRPr>
          </a:p>
          <a:p>
            <a:r>
              <a:rPr lang="en-US" b="1" dirty="0" smtClean="0">
                <a:latin typeface="Segoe UI" panose="020B0502040204020203" pitchFamily="34" charset="0"/>
                <a:cs typeface="Segoe UI" panose="020B0502040204020203" pitchFamily="34" charset="0"/>
              </a:rPr>
              <a:t>Late Dr</a:t>
            </a:r>
            <a:r>
              <a:rPr lang="en-US" b="1" dirty="0">
                <a:latin typeface="Segoe UI" panose="020B0502040204020203" pitchFamily="34" charset="0"/>
                <a:cs typeface="Segoe UI" panose="020B0502040204020203" pitchFamily="34" charset="0"/>
              </a:rPr>
              <a:t>. Peter Wanzala </a:t>
            </a:r>
          </a:p>
          <a:p>
            <a:r>
              <a:rPr lang="en-US" b="1" dirty="0">
                <a:latin typeface="Segoe UI" panose="020B0502040204020203" pitchFamily="34" charset="0"/>
                <a:cs typeface="Segoe UI" panose="020B0502040204020203" pitchFamily="34" charset="0"/>
              </a:rPr>
              <a:t>Institute of Tropical Medicine and Infectious Diseases (ITROMID)</a:t>
            </a:r>
          </a:p>
        </p:txBody>
      </p:sp>
    </p:spTree>
    <p:extLst>
      <p:ext uri="{BB962C8B-B14F-4D97-AF65-F5344CB8AC3E}">
        <p14:creationId xmlns:p14="http://schemas.microsoft.com/office/powerpoint/2010/main" val="18565750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5924" y="0"/>
            <a:ext cx="10515600" cy="1023582"/>
          </a:xfrm>
        </p:spPr>
        <p:txBody>
          <a:bodyPr/>
          <a:lstStyle/>
          <a:p>
            <a:r>
              <a:rPr lang="en-US" dirty="0"/>
              <a:t>Background</a:t>
            </a:r>
          </a:p>
        </p:txBody>
      </p:sp>
      <p:sp>
        <p:nvSpPr>
          <p:cNvPr id="3" name="Content Placeholder 2"/>
          <p:cNvSpPr>
            <a:spLocks noGrp="1"/>
          </p:cNvSpPr>
          <p:nvPr>
            <p:ph idx="1"/>
          </p:nvPr>
        </p:nvSpPr>
        <p:spPr>
          <a:xfrm>
            <a:off x="109182" y="764275"/>
            <a:ext cx="11969087" cy="5595582"/>
          </a:xfrm>
        </p:spPr>
        <p:txBody>
          <a:bodyPr>
            <a:normAutofit/>
          </a:bodyPr>
          <a:lstStyle/>
          <a:p>
            <a:pPr algn="just"/>
            <a:r>
              <a:rPr lang="en-US" dirty="0"/>
              <a:t>Human immunodeficiency virus (HIV) is an infection with a global prevalence and currently no cure </a:t>
            </a:r>
            <a:r>
              <a:rPr lang="en-US" dirty="0" smtClean="0"/>
              <a:t>or vaccine</a:t>
            </a:r>
            <a:r>
              <a:rPr lang="en-US" dirty="0"/>
              <a:t>. </a:t>
            </a:r>
            <a:endParaRPr lang="en-US" dirty="0" smtClean="0"/>
          </a:p>
          <a:p>
            <a:pPr algn="just"/>
            <a:r>
              <a:rPr lang="en-US" dirty="0" smtClean="0"/>
              <a:t>Women </a:t>
            </a:r>
            <a:r>
              <a:rPr lang="en-US" dirty="0"/>
              <a:t>living with HIV who become pregnant or who acquire the virus during pregnancy are </a:t>
            </a:r>
            <a:r>
              <a:rPr lang="en-US" dirty="0" smtClean="0"/>
              <a:t>at risk </a:t>
            </a:r>
            <a:r>
              <a:rPr lang="en-US" dirty="0"/>
              <a:t>of both </a:t>
            </a:r>
            <a:r>
              <a:rPr lang="en-US" dirty="0" smtClean="0"/>
              <a:t>maternal </a:t>
            </a:r>
            <a:r>
              <a:rPr lang="en-US" dirty="0"/>
              <a:t>and perinatal morbidity and mortality mainly if the virus is poorly controlled.</a:t>
            </a:r>
          </a:p>
          <a:p>
            <a:pPr algn="just"/>
            <a:r>
              <a:rPr lang="en-US" dirty="0"/>
              <a:t>Furthermore, there is a risk of vertical transmission to the fetus during pregnancy labour and </a:t>
            </a:r>
            <a:r>
              <a:rPr lang="en-US" dirty="0" smtClean="0"/>
              <a:t>postpartum through </a:t>
            </a:r>
            <a:r>
              <a:rPr lang="en-US" dirty="0"/>
              <a:t>breastfeeding</a:t>
            </a:r>
            <a:r>
              <a:rPr lang="en-US" dirty="0" smtClean="0"/>
              <a:t>.</a:t>
            </a:r>
          </a:p>
          <a:p>
            <a:pPr algn="just"/>
            <a:r>
              <a:rPr lang="en-US" dirty="0"/>
              <a:t>Globally, the prevention of vertical HIV transmission </a:t>
            </a:r>
            <a:r>
              <a:rPr lang="en-US" dirty="0" smtClean="0"/>
              <a:t>programmes have </a:t>
            </a:r>
            <a:r>
              <a:rPr lang="en-US" dirty="0"/>
              <a:t>made tremendous progress in reducing </a:t>
            </a:r>
            <a:r>
              <a:rPr lang="en-US" dirty="0" smtClean="0"/>
              <a:t>pediatric HIV </a:t>
            </a:r>
            <a:r>
              <a:rPr lang="en-US" dirty="0"/>
              <a:t>infection. </a:t>
            </a:r>
            <a:endParaRPr lang="en-US" dirty="0" smtClean="0"/>
          </a:p>
          <a:p>
            <a:pPr algn="just"/>
            <a:r>
              <a:rPr lang="en-US" dirty="0" smtClean="0"/>
              <a:t>Despite </a:t>
            </a:r>
            <a:r>
              <a:rPr lang="en-US" dirty="0"/>
              <a:t>the progress made, </a:t>
            </a:r>
            <a:r>
              <a:rPr lang="en-US" dirty="0" smtClean="0"/>
              <a:t>achieving the </a:t>
            </a:r>
            <a:r>
              <a:rPr lang="en-US" dirty="0"/>
              <a:t>elimination of vertical HIV transmission target has </a:t>
            </a:r>
            <a:r>
              <a:rPr lang="en-US" dirty="0" smtClean="0"/>
              <a:t>been challenging </a:t>
            </a:r>
            <a:r>
              <a:rPr lang="en-US" dirty="0"/>
              <a:t>for most </a:t>
            </a:r>
            <a:r>
              <a:rPr lang="en-US" dirty="0" smtClean="0"/>
              <a:t>Sub-Saharan African </a:t>
            </a:r>
            <a:r>
              <a:rPr lang="en-US" dirty="0"/>
              <a:t>countries due </a:t>
            </a:r>
            <a:r>
              <a:rPr lang="en-US" dirty="0" smtClean="0"/>
              <a:t>to the </a:t>
            </a:r>
            <a:r>
              <a:rPr lang="en-US" dirty="0"/>
              <a:t>high burden of HIV among </a:t>
            </a:r>
            <a:r>
              <a:rPr lang="en-US" dirty="0" smtClean="0"/>
              <a:t>reproductive-age women in these </a:t>
            </a:r>
            <a:r>
              <a:rPr lang="en-US" dirty="0"/>
              <a:t>countries</a:t>
            </a:r>
          </a:p>
        </p:txBody>
      </p:sp>
    </p:spTree>
    <p:extLst>
      <p:ext uri="{BB962C8B-B14F-4D97-AF65-F5344CB8AC3E}">
        <p14:creationId xmlns:p14="http://schemas.microsoft.com/office/powerpoint/2010/main" val="18121435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FC5F8F-1D8C-AD4A-2E6E-F9B69738207A}"/>
              </a:ext>
            </a:extLst>
          </p:cNvPr>
          <p:cNvSpPr>
            <a:spLocks noGrp="1"/>
          </p:cNvSpPr>
          <p:nvPr>
            <p:ph type="title"/>
          </p:nvPr>
        </p:nvSpPr>
        <p:spPr>
          <a:xfrm>
            <a:off x="838199" y="199409"/>
            <a:ext cx="10515600" cy="796877"/>
          </a:xfrm>
        </p:spPr>
        <p:txBody>
          <a:bodyPr/>
          <a:lstStyle/>
          <a:p>
            <a:r>
              <a:rPr lang="en-US" dirty="0"/>
              <a:t>Problem Statement</a:t>
            </a:r>
            <a:endParaRPr lang="aa-ET" dirty="0"/>
          </a:p>
        </p:txBody>
      </p:sp>
      <p:sp>
        <p:nvSpPr>
          <p:cNvPr id="3" name="Content Placeholder 2">
            <a:extLst>
              <a:ext uri="{FF2B5EF4-FFF2-40B4-BE49-F238E27FC236}">
                <a16:creationId xmlns:a16="http://schemas.microsoft.com/office/drawing/2014/main" xmlns="" id="{324C976A-2408-F481-F954-4103C08F05DD}"/>
              </a:ext>
            </a:extLst>
          </p:cNvPr>
          <p:cNvSpPr>
            <a:spLocks noGrp="1"/>
          </p:cNvSpPr>
          <p:nvPr>
            <p:ph idx="1"/>
          </p:nvPr>
        </p:nvSpPr>
        <p:spPr>
          <a:xfrm>
            <a:off x="313899" y="818866"/>
            <a:ext cx="11532357" cy="5595582"/>
          </a:xfrm>
        </p:spPr>
        <p:txBody>
          <a:bodyPr>
            <a:normAutofit lnSpcReduction="10000"/>
          </a:bodyPr>
          <a:lstStyle/>
          <a:p>
            <a:pPr algn="just"/>
            <a:r>
              <a:rPr lang="en-US" dirty="0"/>
              <a:t>Despite strategies to prevent mother-to-child transmission of the human immunodeficiency virus (HIV), infected </a:t>
            </a:r>
            <a:r>
              <a:rPr lang="en-US" dirty="0" smtClean="0"/>
              <a:t>children continue </a:t>
            </a:r>
            <a:r>
              <a:rPr lang="en-US" dirty="0"/>
              <a:t>to be </a:t>
            </a:r>
            <a:r>
              <a:rPr lang="en-US" dirty="0" smtClean="0"/>
              <a:t>born.</a:t>
            </a:r>
          </a:p>
          <a:p>
            <a:pPr algn="just"/>
            <a:r>
              <a:rPr lang="en-US" dirty="0"/>
              <a:t>Vertical transmission of HIV can be effectively controlled through antenatal screening, antiretroviral treatment and the services provided during and after childbirth for mother and </a:t>
            </a:r>
            <a:r>
              <a:rPr lang="en-US" dirty="0" smtClean="0"/>
              <a:t>newborn.</a:t>
            </a:r>
          </a:p>
          <a:p>
            <a:pPr algn="just"/>
            <a:r>
              <a:rPr lang="en-US" dirty="0" smtClean="0"/>
              <a:t>World-wide </a:t>
            </a:r>
            <a:r>
              <a:rPr lang="en-US" dirty="0"/>
              <a:t>rate of MTCT of </a:t>
            </a:r>
            <a:r>
              <a:rPr lang="en-US" dirty="0" smtClean="0"/>
              <a:t>HIV is </a:t>
            </a:r>
            <a:r>
              <a:rPr lang="en-US" dirty="0"/>
              <a:t>still far from reaching the zero transmission </a:t>
            </a:r>
            <a:r>
              <a:rPr lang="en-US" dirty="0" smtClean="0"/>
              <a:t>target, even </a:t>
            </a:r>
            <a:r>
              <a:rPr lang="en-US" dirty="0"/>
              <a:t>in countries with consolidated screening </a:t>
            </a:r>
            <a:r>
              <a:rPr lang="en-US" dirty="0" smtClean="0"/>
              <a:t>programmes </a:t>
            </a:r>
            <a:r>
              <a:rPr lang="en-US" dirty="0"/>
              <a:t>and standardized protocols of HIV </a:t>
            </a:r>
            <a:r>
              <a:rPr lang="en-US" dirty="0" smtClean="0"/>
              <a:t>management during </a:t>
            </a:r>
            <a:r>
              <a:rPr lang="en-US" dirty="0"/>
              <a:t>pregnancy. </a:t>
            </a:r>
            <a:endParaRPr lang="en-US" dirty="0" smtClean="0"/>
          </a:p>
          <a:p>
            <a:pPr algn="just"/>
            <a:r>
              <a:rPr lang="en-US" dirty="0"/>
              <a:t>In </a:t>
            </a:r>
            <a:r>
              <a:rPr lang="en-US" dirty="0" smtClean="0"/>
              <a:t>2022 Homa Bay County had 4510 mother </a:t>
            </a:r>
            <a:r>
              <a:rPr lang="en-US" dirty="0"/>
              <a:t>baby pair </a:t>
            </a:r>
            <a:r>
              <a:rPr lang="en-US" dirty="0" smtClean="0"/>
              <a:t>Receiving PMTCT services with 8.7 </a:t>
            </a:r>
            <a:r>
              <a:rPr lang="en-US" dirty="0"/>
              <a:t>percent of </a:t>
            </a:r>
            <a:r>
              <a:rPr lang="en-US" dirty="0" smtClean="0"/>
              <a:t>infants getting infected </a:t>
            </a:r>
            <a:r>
              <a:rPr lang="en-US" dirty="0"/>
              <a:t>with </a:t>
            </a:r>
            <a:r>
              <a:rPr lang="en-US" dirty="0" smtClean="0"/>
              <a:t>HIV which </a:t>
            </a:r>
            <a:r>
              <a:rPr lang="en-US" dirty="0"/>
              <a:t>implies that more efforts are needed in order to reduce mother to child transmission of HIV.</a:t>
            </a:r>
            <a:endParaRPr lang="aa-ET" dirty="0"/>
          </a:p>
        </p:txBody>
      </p:sp>
    </p:spTree>
    <p:extLst>
      <p:ext uri="{BB962C8B-B14F-4D97-AF65-F5344CB8AC3E}">
        <p14:creationId xmlns:p14="http://schemas.microsoft.com/office/powerpoint/2010/main" val="34588711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46D82E-F129-3EEB-655A-8AFAEF2A9044}"/>
              </a:ext>
            </a:extLst>
          </p:cNvPr>
          <p:cNvSpPr>
            <a:spLocks noGrp="1"/>
          </p:cNvSpPr>
          <p:nvPr>
            <p:ph type="title"/>
          </p:nvPr>
        </p:nvSpPr>
        <p:spPr>
          <a:xfrm>
            <a:off x="838200" y="294944"/>
            <a:ext cx="10515600" cy="796878"/>
          </a:xfrm>
        </p:spPr>
        <p:txBody>
          <a:bodyPr/>
          <a:lstStyle/>
          <a:p>
            <a:r>
              <a:rPr lang="en-US" dirty="0"/>
              <a:t>Justification</a:t>
            </a:r>
            <a:endParaRPr lang="aa-ET" dirty="0"/>
          </a:p>
        </p:txBody>
      </p:sp>
      <p:sp>
        <p:nvSpPr>
          <p:cNvPr id="3" name="Content Placeholder 2">
            <a:extLst>
              <a:ext uri="{FF2B5EF4-FFF2-40B4-BE49-F238E27FC236}">
                <a16:creationId xmlns:a16="http://schemas.microsoft.com/office/drawing/2014/main" xmlns="" id="{412CA4CB-5E2C-42CC-2C31-9FCB64FD6BCB}"/>
              </a:ext>
            </a:extLst>
          </p:cNvPr>
          <p:cNvSpPr>
            <a:spLocks noGrp="1"/>
          </p:cNvSpPr>
          <p:nvPr>
            <p:ph idx="1"/>
          </p:nvPr>
        </p:nvSpPr>
        <p:spPr>
          <a:xfrm>
            <a:off x="354842" y="982639"/>
            <a:ext cx="11641540" cy="5349922"/>
          </a:xfrm>
        </p:spPr>
        <p:txBody>
          <a:bodyPr>
            <a:normAutofit fontScale="92500" lnSpcReduction="10000"/>
          </a:bodyPr>
          <a:lstStyle/>
          <a:p>
            <a:pPr algn="just"/>
            <a:r>
              <a:rPr lang="en-US" dirty="0"/>
              <a:t> Despite progress in reducing infant mortality due to HIV/AIDS, the disease continues to have a devastating impact on infants </a:t>
            </a:r>
            <a:r>
              <a:rPr lang="en-US" dirty="0" smtClean="0"/>
              <a:t>worldwide.</a:t>
            </a:r>
          </a:p>
          <a:p>
            <a:pPr algn="just"/>
            <a:r>
              <a:rPr lang="en-US" dirty="0" smtClean="0"/>
              <a:t>Factors </a:t>
            </a:r>
            <a:r>
              <a:rPr lang="en-US" dirty="0"/>
              <a:t>causing diseases are dispersed unevenly across communities and regions, and the processes that bring people and disease-causing agents into contact vary geographically.</a:t>
            </a:r>
          </a:p>
          <a:p>
            <a:pPr algn="just"/>
            <a:r>
              <a:rPr lang="en-US" dirty="0" smtClean="0"/>
              <a:t>The </a:t>
            </a:r>
            <a:r>
              <a:rPr lang="en-US" dirty="0"/>
              <a:t>environment, including physical, social, and economic factors, significantly influences people's </a:t>
            </a:r>
            <a:r>
              <a:rPr lang="en-US" dirty="0" smtClean="0"/>
              <a:t>health. Geography, </a:t>
            </a:r>
            <a:r>
              <a:rPr lang="en-US" dirty="0"/>
              <a:t>particularly the use of geographic information systems, has been instrumental in understanding health-related </a:t>
            </a:r>
            <a:r>
              <a:rPr lang="en-US" dirty="0" smtClean="0"/>
              <a:t>issues.</a:t>
            </a:r>
          </a:p>
          <a:p>
            <a:pPr algn="just"/>
            <a:r>
              <a:rPr lang="en-US" dirty="0" smtClean="0"/>
              <a:t>Advances </a:t>
            </a:r>
            <a:r>
              <a:rPr lang="en-US" dirty="0"/>
              <a:t>in data collection methods, geographic visualization techniques, and modeling have helped identify spatial patterns and disease spread probability.</a:t>
            </a:r>
          </a:p>
          <a:p>
            <a:pPr algn="just"/>
            <a:r>
              <a:rPr lang="en-US" dirty="0" smtClean="0"/>
              <a:t>This </a:t>
            </a:r>
            <a:r>
              <a:rPr lang="en-US" dirty="0"/>
              <a:t>study aims to provide insight into the determinants of vertical HIV transmission, filling a critical knowledge gap in the field of epidemiology.</a:t>
            </a:r>
            <a:endParaRPr lang="aa-ET" dirty="0"/>
          </a:p>
        </p:txBody>
      </p:sp>
    </p:spTree>
    <p:extLst>
      <p:ext uri="{BB962C8B-B14F-4D97-AF65-F5344CB8AC3E}">
        <p14:creationId xmlns:p14="http://schemas.microsoft.com/office/powerpoint/2010/main" val="36657336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9307"/>
            <a:ext cx="10515600" cy="736981"/>
          </a:xfrm>
        </p:spPr>
        <p:txBody>
          <a:bodyPr>
            <a:normAutofit/>
          </a:bodyPr>
          <a:lstStyle/>
          <a:p>
            <a:r>
              <a:rPr lang="en-US" dirty="0"/>
              <a:t>Specific Objectives</a:t>
            </a:r>
          </a:p>
        </p:txBody>
      </p:sp>
      <p:sp>
        <p:nvSpPr>
          <p:cNvPr id="3" name="Content Placeholder 2"/>
          <p:cNvSpPr>
            <a:spLocks noGrp="1"/>
          </p:cNvSpPr>
          <p:nvPr>
            <p:ph idx="1"/>
          </p:nvPr>
        </p:nvSpPr>
        <p:spPr>
          <a:xfrm>
            <a:off x="286603" y="996288"/>
            <a:ext cx="11627893" cy="5268034"/>
          </a:xfrm>
        </p:spPr>
        <p:txBody>
          <a:bodyPr/>
          <a:lstStyle/>
          <a:p>
            <a:pPr algn="just">
              <a:lnSpc>
                <a:spcPct val="150000"/>
              </a:lnSpc>
            </a:pPr>
            <a:r>
              <a:rPr lang="en-US" dirty="0" smtClean="0"/>
              <a:t>Determine </a:t>
            </a:r>
            <a:r>
              <a:rPr lang="en-US" dirty="0"/>
              <a:t>survival rate of HIV exposed infants in Homa Bay County.</a:t>
            </a:r>
          </a:p>
          <a:p>
            <a:pPr algn="just">
              <a:lnSpc>
                <a:spcPct val="150000"/>
              </a:lnSpc>
            </a:pPr>
            <a:r>
              <a:rPr lang="en-US" dirty="0" smtClean="0"/>
              <a:t>Determine </a:t>
            </a:r>
            <a:r>
              <a:rPr lang="en-US" dirty="0"/>
              <a:t>the maternal factors associated with HIV antigen positivity among exposed infants in Homa Bay County.</a:t>
            </a:r>
          </a:p>
          <a:p>
            <a:pPr algn="just">
              <a:lnSpc>
                <a:spcPct val="150000"/>
              </a:lnSpc>
            </a:pPr>
            <a:r>
              <a:rPr lang="en-US" dirty="0" smtClean="0"/>
              <a:t>To </a:t>
            </a:r>
            <a:r>
              <a:rPr lang="en-US" dirty="0"/>
              <a:t>determine infant factors associated with HIV antigen positivity among exposed infants in Homa Bay County.</a:t>
            </a:r>
          </a:p>
          <a:p>
            <a:pPr algn="just">
              <a:lnSpc>
                <a:spcPct val="150000"/>
              </a:lnSpc>
            </a:pPr>
            <a:r>
              <a:rPr lang="en-US" dirty="0" smtClean="0"/>
              <a:t>To </a:t>
            </a:r>
            <a:r>
              <a:rPr lang="en-US" dirty="0"/>
              <a:t>develop a model on HIV-free survival among infants born to HIV-positive mothers in Homa Bay County.</a:t>
            </a:r>
          </a:p>
          <a:p>
            <a:endParaRPr lang="en-US" dirty="0"/>
          </a:p>
        </p:txBody>
      </p:sp>
    </p:spTree>
    <p:extLst>
      <p:ext uri="{BB962C8B-B14F-4D97-AF65-F5344CB8AC3E}">
        <p14:creationId xmlns:p14="http://schemas.microsoft.com/office/powerpoint/2010/main" val="33217354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23667783"/>
              </p:ext>
            </p:extLst>
          </p:nvPr>
        </p:nvGraphicFramePr>
        <p:xfrm>
          <a:off x="0" y="0"/>
          <a:ext cx="12191999" cy="67146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Left Arrow 4"/>
          <p:cNvSpPr/>
          <p:nvPr/>
        </p:nvSpPr>
        <p:spPr>
          <a:xfrm rot="19090713">
            <a:off x="8522552" y="1945932"/>
            <a:ext cx="763567" cy="561905"/>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solidFill>
                <a:prstClr val="white"/>
              </a:solidFill>
            </a:endParaRPr>
          </a:p>
        </p:txBody>
      </p:sp>
      <p:sp>
        <p:nvSpPr>
          <p:cNvPr id="6" name="Right Arrow 5"/>
          <p:cNvSpPr/>
          <p:nvPr/>
        </p:nvSpPr>
        <p:spPr>
          <a:xfrm rot="2677292">
            <a:off x="3027366" y="2005775"/>
            <a:ext cx="651111" cy="533233"/>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solidFill>
                <a:prstClr val="white"/>
              </a:solidFill>
            </a:endParaRPr>
          </a:p>
        </p:txBody>
      </p:sp>
      <p:sp>
        <p:nvSpPr>
          <p:cNvPr id="7" name="Right Arrow 6"/>
          <p:cNvSpPr/>
          <p:nvPr/>
        </p:nvSpPr>
        <p:spPr>
          <a:xfrm rot="19180860">
            <a:off x="2999813" y="4164860"/>
            <a:ext cx="675089" cy="547716"/>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solidFill>
                <a:prstClr val="white"/>
              </a:solidFill>
            </a:endParaRPr>
          </a:p>
        </p:txBody>
      </p:sp>
      <p:sp>
        <p:nvSpPr>
          <p:cNvPr id="8" name="Right Arrow 7"/>
          <p:cNvSpPr/>
          <p:nvPr/>
        </p:nvSpPr>
        <p:spPr>
          <a:xfrm rot="13281546">
            <a:off x="8534941" y="4166197"/>
            <a:ext cx="682506" cy="56775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19270696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89B2F015-72B5-562E-CDFA-E5DD85832F5E}"/>
              </a:ext>
            </a:extLst>
          </p:cNvPr>
          <p:cNvSpPr>
            <a:spLocks noGrp="1"/>
          </p:cNvSpPr>
          <p:nvPr>
            <p:ph type="title"/>
          </p:nvPr>
        </p:nvSpPr>
        <p:spPr>
          <a:xfrm>
            <a:off x="838200" y="294943"/>
            <a:ext cx="10515600" cy="824173"/>
          </a:xfrm>
        </p:spPr>
        <p:txBody>
          <a:bodyPr/>
          <a:lstStyle/>
          <a:p>
            <a:r>
              <a:rPr lang="en-US" dirty="0"/>
              <a:t>Methodology</a:t>
            </a:r>
            <a:endParaRPr lang="aa-ET" dirty="0"/>
          </a:p>
        </p:txBody>
      </p:sp>
      <p:sp>
        <p:nvSpPr>
          <p:cNvPr id="5" name="Content Placeholder 4">
            <a:extLst>
              <a:ext uri="{FF2B5EF4-FFF2-40B4-BE49-F238E27FC236}">
                <a16:creationId xmlns:a16="http://schemas.microsoft.com/office/drawing/2014/main" xmlns="" id="{ED3E5C90-D77B-50CB-115C-853AF3D6A30A}"/>
              </a:ext>
            </a:extLst>
          </p:cNvPr>
          <p:cNvSpPr>
            <a:spLocks noGrp="1"/>
          </p:cNvSpPr>
          <p:nvPr>
            <p:ph idx="1"/>
          </p:nvPr>
        </p:nvSpPr>
        <p:spPr>
          <a:xfrm>
            <a:off x="477672" y="1119116"/>
            <a:ext cx="11273050" cy="5281684"/>
          </a:xfrm>
        </p:spPr>
        <p:txBody>
          <a:bodyPr>
            <a:normAutofit lnSpcReduction="10000"/>
          </a:bodyPr>
          <a:lstStyle/>
          <a:p>
            <a:pPr algn="just"/>
            <a:r>
              <a:rPr lang="en-US" dirty="0"/>
              <a:t>The research </a:t>
            </a:r>
            <a:r>
              <a:rPr lang="en-US" dirty="0" smtClean="0"/>
              <a:t>employed </a:t>
            </a:r>
            <a:r>
              <a:rPr lang="en-US" dirty="0"/>
              <a:t>a longitudinal cohort design. </a:t>
            </a:r>
            <a:endParaRPr lang="en-US" dirty="0" smtClean="0"/>
          </a:p>
          <a:p>
            <a:pPr algn="just"/>
            <a:r>
              <a:rPr lang="en-US" dirty="0" smtClean="0"/>
              <a:t>The </a:t>
            </a:r>
            <a:r>
              <a:rPr lang="en-US" dirty="0"/>
              <a:t>study </a:t>
            </a:r>
            <a:r>
              <a:rPr lang="en-US" dirty="0" smtClean="0"/>
              <a:t>was </a:t>
            </a:r>
            <a:r>
              <a:rPr lang="en-US" dirty="0"/>
              <a:t>conducted among infants born of HIV positive </a:t>
            </a:r>
            <a:r>
              <a:rPr lang="en-US" dirty="0" smtClean="0"/>
              <a:t>mothers.</a:t>
            </a:r>
          </a:p>
          <a:p>
            <a:pPr marL="0" indent="0" algn="just">
              <a:buNone/>
            </a:pPr>
            <a:r>
              <a:rPr lang="en-US" b="1" dirty="0" smtClean="0"/>
              <a:t>Study </a:t>
            </a:r>
            <a:r>
              <a:rPr lang="en-US" b="1" dirty="0"/>
              <a:t>Area</a:t>
            </a:r>
          </a:p>
          <a:p>
            <a:pPr algn="just"/>
            <a:r>
              <a:rPr lang="en-US" dirty="0"/>
              <a:t>The study </a:t>
            </a:r>
            <a:r>
              <a:rPr lang="en-US" dirty="0" smtClean="0"/>
              <a:t>was carried </a:t>
            </a:r>
            <a:r>
              <a:rPr lang="en-US" dirty="0"/>
              <a:t>out in Homa Bay County. </a:t>
            </a:r>
            <a:endParaRPr lang="en-US" dirty="0" smtClean="0"/>
          </a:p>
          <a:p>
            <a:pPr algn="just"/>
            <a:r>
              <a:rPr lang="en-US" dirty="0" smtClean="0"/>
              <a:t>The </a:t>
            </a:r>
            <a:r>
              <a:rPr lang="en-US" dirty="0"/>
              <a:t>county covers an area of 3,183.3 sq km with a </a:t>
            </a:r>
            <a:r>
              <a:rPr lang="en-US" dirty="0" smtClean="0"/>
              <a:t>projected in 2023 of </a:t>
            </a:r>
            <a:r>
              <a:rPr lang="en-US" dirty="0"/>
              <a:t>about 1,231,659 people. </a:t>
            </a:r>
            <a:endParaRPr lang="en-US" dirty="0" smtClean="0"/>
          </a:p>
          <a:p>
            <a:pPr algn="just"/>
            <a:r>
              <a:rPr lang="en-US" dirty="0" err="1" smtClean="0"/>
              <a:t>Homa</a:t>
            </a:r>
            <a:r>
              <a:rPr lang="en-US" dirty="0" smtClean="0"/>
              <a:t>-Bay </a:t>
            </a:r>
            <a:r>
              <a:rPr lang="en-US" dirty="0"/>
              <a:t>sub county, 40 (12%) were from Kabondo Kasipul sub county, 63 (19%) were from Karachuonyo sub county, 46 (14%) were from Kasipul sub county, 30 (9%) were from Mbita sub county, 23 (7%) were from Ndiwa sub county, 57 (17%) were from Rangwe sub county, and 43 (13%) were from Suba sub county. </a:t>
            </a:r>
          </a:p>
          <a:p>
            <a:pPr marL="0" indent="0">
              <a:buNone/>
            </a:pPr>
            <a:endParaRPr lang="aa-ET" dirty="0"/>
          </a:p>
        </p:txBody>
      </p:sp>
    </p:spTree>
    <p:extLst>
      <p:ext uri="{BB962C8B-B14F-4D97-AF65-F5344CB8AC3E}">
        <p14:creationId xmlns:p14="http://schemas.microsoft.com/office/powerpoint/2010/main" val="18766491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04A75E17-1EC9-DFBC-98B2-6CC11A6306F3}"/>
              </a:ext>
            </a:extLst>
          </p:cNvPr>
          <p:cNvSpPr>
            <a:spLocks noGrp="1"/>
          </p:cNvSpPr>
          <p:nvPr>
            <p:ph type="title"/>
          </p:nvPr>
        </p:nvSpPr>
        <p:spPr>
          <a:xfrm>
            <a:off x="842748" y="267647"/>
            <a:ext cx="10515600" cy="633105"/>
          </a:xfrm>
        </p:spPr>
        <p:txBody>
          <a:bodyPr>
            <a:normAutofit fontScale="90000"/>
          </a:bodyPr>
          <a:lstStyle/>
          <a:p>
            <a:r>
              <a:rPr lang="en-US" dirty="0"/>
              <a:t>Sample size determination </a:t>
            </a:r>
            <a:endParaRPr lang="aa-ET" dirty="0"/>
          </a:p>
        </p:txBody>
      </p:sp>
      <p:sp>
        <p:nvSpPr>
          <p:cNvPr id="7" name="Content Placeholder 6"/>
          <p:cNvSpPr>
            <a:spLocks noGrp="1"/>
          </p:cNvSpPr>
          <p:nvPr>
            <p:ph idx="1"/>
          </p:nvPr>
        </p:nvSpPr>
        <p:spPr>
          <a:xfrm>
            <a:off x="395785" y="900752"/>
            <a:ext cx="11409527" cy="5500047"/>
          </a:xfrm>
        </p:spPr>
        <p:txBody>
          <a:bodyPr>
            <a:normAutofit/>
          </a:bodyPr>
          <a:lstStyle/>
          <a:p>
            <a:r>
              <a:rPr lang="en-US" dirty="0"/>
              <a:t>The general formula for the required number of subjects in a survival study may be expressed </a:t>
            </a:r>
            <a:r>
              <a:rPr lang="en-US" dirty="0" smtClean="0"/>
              <a:t>as</a:t>
            </a:r>
          </a:p>
          <a:p>
            <a:endParaRPr lang="en-US" dirty="0"/>
          </a:p>
          <a:p>
            <a:pPr marL="0" indent="0">
              <a:buNone/>
            </a:pPr>
            <a:endParaRPr lang="en-US" dirty="0"/>
          </a:p>
          <a:p>
            <a:pPr marL="0" indent="0">
              <a:buNone/>
            </a:pPr>
            <a:r>
              <a:rPr lang="en-US" b="1" dirty="0" smtClean="0"/>
              <a:t>Stpower </a:t>
            </a:r>
            <a:r>
              <a:rPr lang="en-US" b="1" dirty="0"/>
              <a:t>command</a:t>
            </a:r>
          </a:p>
          <a:p>
            <a:r>
              <a:rPr lang="en-US" dirty="0"/>
              <a:t>stpower cox, power(0.95) hratio(0.37) failprob(0.17) </a:t>
            </a:r>
            <a:r>
              <a:rPr lang="en-US" dirty="0" err="1"/>
              <a:t>wdprob</a:t>
            </a:r>
            <a:r>
              <a:rPr lang="en-US" dirty="0"/>
              <a:t>(0.05</a:t>
            </a:r>
            <a:r>
              <a:rPr lang="en-US" dirty="0" smtClean="0"/>
              <a:t>)</a:t>
            </a:r>
          </a:p>
          <a:p>
            <a:pPr marL="457200" marR="540385" indent="0">
              <a:lnSpc>
                <a:spcPct val="107000"/>
              </a:lnSpc>
              <a:spcAft>
                <a:spcPts val="800"/>
              </a:spcAft>
              <a:buNone/>
            </a:pPr>
            <a:r>
              <a:rPr lang="en-GB" dirty="0" smtClean="0">
                <a:latin typeface="Times New Roman" panose="02020603050405020304" pitchFamily="18" charset="0"/>
                <a:ea typeface="Calibri" panose="020F0502020204030204" pitchFamily="34" charset="0"/>
                <a:cs typeface="Times New Roman" panose="02020603050405020304" pitchFamily="18" charset="0"/>
              </a:rPr>
              <a:t>Estimated </a:t>
            </a:r>
            <a:r>
              <a:rPr lang="en-GB" dirty="0">
                <a:latin typeface="Times New Roman" panose="02020603050405020304" pitchFamily="18" charset="0"/>
                <a:ea typeface="Calibri" panose="020F0502020204030204" pitchFamily="34" charset="0"/>
                <a:cs typeface="Times New Roman" panose="02020603050405020304" pitchFamily="18" charset="0"/>
              </a:rPr>
              <a:t>number of events and sample size:</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R="540385" lvl="1">
              <a:lnSpc>
                <a:spcPct val="107000"/>
              </a:lnSpc>
              <a:spcAft>
                <a:spcPts val="800"/>
              </a:spcAft>
            </a:pPr>
            <a:r>
              <a:rPr lang="en-GB" dirty="0">
                <a:latin typeface="Times New Roman" panose="02020603050405020304" pitchFamily="18" charset="0"/>
                <a:ea typeface="Calibri" panose="020F0502020204030204" pitchFamily="34" charset="0"/>
                <a:cs typeface="Times New Roman" panose="02020603050405020304" pitchFamily="18" charset="0"/>
              </a:rPr>
              <a:t>E (expected number of events)  =        53</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R="540385" lvl="1">
              <a:lnSpc>
                <a:spcPct val="107000"/>
              </a:lnSpc>
              <a:spcAft>
                <a:spcPts val="800"/>
              </a:spcAft>
            </a:pPr>
            <a:r>
              <a:rPr lang="en-GB" dirty="0">
                <a:latin typeface="Times New Roman" panose="02020603050405020304" pitchFamily="18" charset="0"/>
                <a:ea typeface="Calibri" panose="020F0502020204030204" pitchFamily="34" charset="0"/>
                <a:cs typeface="Times New Roman" panose="02020603050405020304" pitchFamily="18" charset="0"/>
              </a:rPr>
              <a:t>N (sample size required)            =       326</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8" name="Picture 7"/>
          <p:cNvPicPr>
            <a:picLocks noChangeAspect="1"/>
          </p:cNvPicPr>
          <p:nvPr/>
        </p:nvPicPr>
        <p:blipFill>
          <a:blip r:embed="rId2"/>
          <a:stretch>
            <a:fillRect/>
          </a:stretch>
        </p:blipFill>
        <p:spPr>
          <a:xfrm>
            <a:off x="709684" y="1678675"/>
            <a:ext cx="11095628" cy="1282889"/>
          </a:xfrm>
          <a:prstGeom prst="rect">
            <a:avLst/>
          </a:prstGeom>
        </p:spPr>
      </p:pic>
    </p:spTree>
    <p:extLst>
      <p:ext uri="{BB962C8B-B14F-4D97-AF65-F5344CB8AC3E}">
        <p14:creationId xmlns:p14="http://schemas.microsoft.com/office/powerpoint/2010/main" val="14033030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785" y="322239"/>
            <a:ext cx="11232108" cy="687695"/>
          </a:xfrm>
        </p:spPr>
        <p:txBody>
          <a:bodyPr>
            <a:normAutofit fontScale="90000"/>
          </a:bodyPr>
          <a:lstStyle/>
          <a:p>
            <a:r>
              <a:rPr lang="en-US" dirty="0" smtClean="0"/>
              <a:t>Data Analysis </a:t>
            </a:r>
            <a:endParaRPr lang="en-US" dirty="0"/>
          </a:p>
        </p:txBody>
      </p:sp>
      <p:sp>
        <p:nvSpPr>
          <p:cNvPr id="3" name="Content Placeholder 2"/>
          <p:cNvSpPr>
            <a:spLocks noGrp="1"/>
          </p:cNvSpPr>
          <p:nvPr>
            <p:ph idx="1"/>
          </p:nvPr>
        </p:nvSpPr>
        <p:spPr>
          <a:xfrm>
            <a:off x="170597" y="1351128"/>
            <a:ext cx="11682483" cy="4271750"/>
          </a:xfrm>
        </p:spPr>
        <p:txBody>
          <a:bodyPr>
            <a:normAutofit/>
          </a:bodyPr>
          <a:lstStyle/>
          <a:p>
            <a:pPr algn="just"/>
            <a:r>
              <a:rPr lang="en-US" dirty="0" smtClean="0"/>
              <a:t>Results </a:t>
            </a:r>
            <a:r>
              <a:rPr lang="en-US" dirty="0"/>
              <a:t>presented as percentages and frequencies for categorical variables, mean ± SD for discrete/continuous variables</a:t>
            </a:r>
          </a:p>
          <a:p>
            <a:pPr algn="just"/>
            <a:r>
              <a:rPr lang="en-US" dirty="0" smtClean="0"/>
              <a:t>Chi-square </a:t>
            </a:r>
            <a:r>
              <a:rPr lang="en-US" dirty="0"/>
              <a:t>test used for comparisons</a:t>
            </a:r>
          </a:p>
          <a:p>
            <a:pPr algn="just"/>
            <a:r>
              <a:rPr lang="en-US" dirty="0" smtClean="0"/>
              <a:t>Kaplan </a:t>
            </a:r>
            <a:r>
              <a:rPr lang="en-US" dirty="0"/>
              <a:t>Meier and log rank methods used to analyze impact of factors on HIV antigen positivity</a:t>
            </a:r>
          </a:p>
          <a:p>
            <a:pPr algn="just"/>
            <a:r>
              <a:rPr lang="en-US" dirty="0" smtClean="0"/>
              <a:t>Bivariate </a:t>
            </a:r>
            <a:r>
              <a:rPr lang="en-US" dirty="0"/>
              <a:t>and multivariate logistic regression analysis used to define risk associated with HIV antigen positivity</a:t>
            </a:r>
          </a:p>
          <a:p>
            <a:pPr algn="just"/>
            <a:r>
              <a:rPr lang="en-US" dirty="0" smtClean="0"/>
              <a:t>Bivariate </a:t>
            </a:r>
            <a:r>
              <a:rPr lang="en-US" dirty="0"/>
              <a:t>and multivariate Cox proportional hazards regression analysis used to determine hazard ratios associated with HIV antigen </a:t>
            </a:r>
            <a:r>
              <a:rPr lang="en-US" dirty="0" smtClean="0"/>
              <a:t>positivity</a:t>
            </a:r>
            <a:endParaRPr lang="en-US" dirty="0"/>
          </a:p>
        </p:txBody>
      </p:sp>
    </p:spTree>
    <p:extLst>
      <p:ext uri="{BB962C8B-B14F-4D97-AF65-F5344CB8AC3E}">
        <p14:creationId xmlns:p14="http://schemas.microsoft.com/office/powerpoint/2010/main" val="31080140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5887"/>
            <a:ext cx="10515600" cy="592162"/>
          </a:xfrm>
        </p:spPr>
        <p:txBody>
          <a:bodyPr>
            <a:normAutofit fontScale="90000"/>
          </a:bodyPr>
          <a:lstStyle/>
          <a:p>
            <a:r>
              <a:rPr lang="en-US" dirty="0"/>
              <a:t>Data Analysis </a:t>
            </a:r>
            <a:r>
              <a:rPr lang="en-US" dirty="0" smtClean="0"/>
              <a:t>Cont’d</a:t>
            </a:r>
            <a:endParaRPr lang="en-US" dirty="0"/>
          </a:p>
        </p:txBody>
      </p:sp>
      <p:sp>
        <p:nvSpPr>
          <p:cNvPr id="3" name="Content Placeholder 2"/>
          <p:cNvSpPr>
            <a:spLocks noGrp="1"/>
          </p:cNvSpPr>
          <p:nvPr>
            <p:ph idx="1"/>
          </p:nvPr>
        </p:nvSpPr>
        <p:spPr>
          <a:xfrm>
            <a:off x="288877" y="1146413"/>
            <a:ext cx="11614245" cy="4776715"/>
          </a:xfrm>
        </p:spPr>
        <p:txBody>
          <a:bodyPr/>
          <a:lstStyle/>
          <a:p>
            <a:pPr algn="just"/>
            <a:r>
              <a:rPr lang="en-US" dirty="0"/>
              <a:t>Variables with p &lt; 0.05 in bivariate analysis included in multivariate analysis using addition </a:t>
            </a:r>
            <a:r>
              <a:rPr lang="en-US" dirty="0" smtClean="0"/>
              <a:t>method</a:t>
            </a:r>
          </a:p>
          <a:p>
            <a:pPr algn="just"/>
            <a:r>
              <a:rPr lang="en-US" dirty="0" smtClean="0"/>
              <a:t>Multivariate </a:t>
            </a:r>
            <a:r>
              <a:rPr lang="en-US" dirty="0"/>
              <a:t>analysis adjusted to identify best model</a:t>
            </a:r>
          </a:p>
          <a:p>
            <a:pPr algn="just"/>
            <a:r>
              <a:rPr lang="en-US" dirty="0" smtClean="0"/>
              <a:t>Spatial </a:t>
            </a:r>
            <a:r>
              <a:rPr lang="en-US" dirty="0"/>
              <a:t>analysis conducted using conditional autoregressive method with Moran I and Geary Indices, as well as Bayesian modeling</a:t>
            </a:r>
          </a:p>
          <a:p>
            <a:pPr algn="just"/>
            <a:r>
              <a:rPr lang="en-US" dirty="0" smtClean="0"/>
              <a:t>Spatial </a:t>
            </a:r>
            <a:r>
              <a:rPr lang="en-US" dirty="0"/>
              <a:t>scan method used to identify clustering of HIV antigen positivity, spatial autocorrelation method used to establish </a:t>
            </a:r>
            <a:r>
              <a:rPr lang="en-US" dirty="0" smtClean="0"/>
              <a:t>randomness</a:t>
            </a:r>
          </a:p>
          <a:p>
            <a:pPr algn="just"/>
            <a:r>
              <a:rPr lang="en-US" dirty="0" smtClean="0"/>
              <a:t>Bayesian </a:t>
            </a:r>
            <a:r>
              <a:rPr lang="en-US" dirty="0"/>
              <a:t>modeling employed to evaluate spatial factors associated with HIV antigen positivity in </a:t>
            </a:r>
            <a:r>
              <a:rPr lang="en-US" dirty="0" err="1" smtClean="0"/>
              <a:t>Homa</a:t>
            </a:r>
            <a:r>
              <a:rPr lang="en-US" dirty="0" smtClean="0"/>
              <a:t>-Bay </a:t>
            </a:r>
            <a:r>
              <a:rPr lang="en-US" dirty="0"/>
              <a:t>County</a:t>
            </a:r>
          </a:p>
          <a:p>
            <a:pPr algn="just"/>
            <a:r>
              <a:rPr lang="en-US" dirty="0" smtClean="0"/>
              <a:t>R </a:t>
            </a:r>
            <a:r>
              <a:rPr lang="en-US" dirty="0"/>
              <a:t>program and STATA used for all analyses.</a:t>
            </a:r>
          </a:p>
          <a:p>
            <a:endParaRPr lang="en-US" dirty="0"/>
          </a:p>
        </p:txBody>
      </p:sp>
    </p:spTree>
    <p:extLst>
      <p:ext uri="{BB962C8B-B14F-4D97-AF65-F5344CB8AC3E}">
        <p14:creationId xmlns:p14="http://schemas.microsoft.com/office/powerpoint/2010/main" val="40314632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34" y="172114"/>
            <a:ext cx="11436824" cy="660400"/>
          </a:xfrm>
        </p:spPr>
        <p:txBody>
          <a:bodyPr>
            <a:noAutofit/>
          </a:bodyPr>
          <a:lstStyle/>
          <a:p>
            <a:pPr algn="ctr"/>
            <a:r>
              <a:rPr lang="en-US" sz="2000" dirty="0" smtClean="0"/>
              <a:t>TABLE 4.1 Association of Various Potential Risk Factors to HIV Antigen Positivity(ꭕ2)</a:t>
            </a:r>
            <a:endParaRPr lang="en-US" sz="2000" dirty="0"/>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617543330"/>
              </p:ext>
            </p:extLst>
          </p:nvPr>
        </p:nvGraphicFramePr>
        <p:xfrm>
          <a:off x="95534" y="736985"/>
          <a:ext cx="5923396" cy="5852160"/>
        </p:xfrm>
        <a:graphic>
          <a:graphicData uri="http://schemas.openxmlformats.org/drawingml/2006/table">
            <a:tbl>
              <a:tblPr firstRow="1" firstCol="1" bandRow="1"/>
              <a:tblGrid>
                <a:gridCol w="3247511"/>
                <a:gridCol w="1687989"/>
                <a:gridCol w="987896"/>
              </a:tblGrid>
              <a:tr h="354842">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Variable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Chi</a:t>
                      </a:r>
                      <a:r>
                        <a:rPr lang="en-US" sz="1600" baseline="30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value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p-value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r>
              <a:tr h="354842">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sub county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5.3679</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0.615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54842">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marital status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0.3863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0.824</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Residence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0.2446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0.621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Employment status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3.2106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0.201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anc attendance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51.9856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Facility level</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0.3558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0.250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Distance to facility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1.646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0.559</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54842">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Hiv status before pregnancy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64.6096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Syphilis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0.3588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0.549</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Uti</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3.2170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0.073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Miscarriage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0.1012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0.402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Abortion </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0.0630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0.802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Stillbirth</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0.0141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0.905</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Premature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92.167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Haart during pregnancy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21.3997</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bl>
          </a:graphicData>
        </a:graphic>
      </p:graphicFrame>
      <p:graphicFrame>
        <p:nvGraphicFramePr>
          <p:cNvPr id="7" name="Content Placeholder 6"/>
          <p:cNvGraphicFramePr>
            <a:graphicFrameLocks noGrp="1"/>
          </p:cNvGraphicFramePr>
          <p:nvPr>
            <p:ph sz="half" idx="2"/>
            <p:extLst>
              <p:ext uri="{D42A27DB-BD31-4B8C-83A1-F6EECF244321}">
                <p14:modId xmlns:p14="http://schemas.microsoft.com/office/powerpoint/2010/main" val="406756863"/>
              </p:ext>
            </p:extLst>
          </p:nvPr>
        </p:nvGraphicFramePr>
        <p:xfrm>
          <a:off x="6018928" y="736979"/>
          <a:ext cx="6077537" cy="5677470"/>
        </p:xfrm>
        <a:graphic>
          <a:graphicData uri="http://schemas.openxmlformats.org/drawingml/2006/table">
            <a:tbl>
              <a:tblPr firstRow="1" firstCol="1" bandRow="1"/>
              <a:tblGrid>
                <a:gridCol w="3332019"/>
                <a:gridCol w="1731915"/>
                <a:gridCol w="1013603"/>
              </a:tblGrid>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Cd4 cell count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algn="just">
                        <a:lnSpc>
                          <a:spcPct val="150000"/>
                        </a:lnSpc>
                        <a:spcAft>
                          <a:spcPts val="0"/>
                        </a:spcAft>
                      </a:pPr>
                      <a:r>
                        <a:rPr lang="en-US" sz="1600" b="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303.0770</a:t>
                      </a:r>
                      <a:endParaRPr lang="en-US"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algn="just">
                        <a:lnSpc>
                          <a:spcPct val="150000"/>
                        </a:lnSpc>
                        <a:spcAft>
                          <a:spcPts val="0"/>
                        </a:spcAft>
                      </a:pPr>
                      <a:r>
                        <a:rPr lang="en-US" sz="1600" b="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r>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History of </a:t>
                      </a: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STI during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pregnancy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0.5634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0.453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Genital wart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0.1846</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0.6667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Vaginal discharge syndrome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1.1660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0.280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78498">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Genital herpes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1.7772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0.182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Treated during pregnancy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1.0324</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0.310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78498">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Malaria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0.3099</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0.578</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78498">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Anaemia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0.1992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0.655</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78498">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Hypertension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0.1621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0.687</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Partner’s HIV status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0.8193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0.664</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WHO </a:t>
                      </a:r>
                      <a:r>
                        <a:rPr lang="en-US" sz="16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hiv</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disease stage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184.7703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78498">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 membrane. 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0.623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0.969</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78498">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Sex of the baby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1.1196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0.290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78498">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Education level</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152.4252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Adherence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107.5346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0478988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86603" y="327546"/>
            <a:ext cx="11737075" cy="6018663"/>
          </a:xfrm>
        </p:spPr>
        <p:txBody>
          <a:bodyPr>
            <a:normAutofit fontScale="85000" lnSpcReduction="20000"/>
          </a:bodyPr>
          <a:lstStyle/>
          <a:p>
            <a:r>
              <a:rPr lang="en-US" dirty="0" smtClean="0"/>
              <a:t>As per above table there is association </a:t>
            </a:r>
            <a:r>
              <a:rPr lang="en-US" dirty="0"/>
              <a:t>between ANC attendance and HIV antigen </a:t>
            </a:r>
            <a:r>
              <a:rPr lang="en-US" dirty="0" smtClean="0"/>
              <a:t>positivity, a </a:t>
            </a:r>
            <a:r>
              <a:rPr lang="en-US" dirty="0"/>
              <a:t>chi-square test of independence was conducted and revealed a significant relationship (χ2 = 51.9856, p &lt; 0.001)</a:t>
            </a:r>
          </a:p>
          <a:p>
            <a:r>
              <a:rPr lang="en-US" dirty="0" smtClean="0"/>
              <a:t>HIV </a:t>
            </a:r>
            <a:r>
              <a:rPr lang="en-US" dirty="0"/>
              <a:t>status before pregnancy (negative, positive, and unknown) was also significantly related to HIV antigen positivity at the end of the follow-up period (χ2 = 64.6096, p &lt; 0.001)</a:t>
            </a:r>
          </a:p>
          <a:p>
            <a:r>
              <a:rPr lang="en-US" dirty="0" smtClean="0"/>
              <a:t>Prematurity </a:t>
            </a:r>
            <a:r>
              <a:rPr lang="en-US" dirty="0"/>
              <a:t>was found to have a significant relationship with HIV antigen positivity at the end of the follow-up period (χ2 = 9.2617, p = 0.002)</a:t>
            </a:r>
          </a:p>
          <a:p>
            <a:r>
              <a:rPr lang="en-US" dirty="0" smtClean="0"/>
              <a:t>HAART </a:t>
            </a:r>
            <a:r>
              <a:rPr lang="en-US" dirty="0"/>
              <a:t>during pregnancy was significantly related to HIV antigen positivity at the end of the follow-up period (χ2 = 21.3997, p &lt; 0.000)</a:t>
            </a:r>
          </a:p>
          <a:p>
            <a:r>
              <a:rPr lang="en-US" dirty="0" smtClean="0"/>
              <a:t>CD4 </a:t>
            </a:r>
            <a:r>
              <a:rPr lang="en-US" dirty="0"/>
              <a:t>cell count was significantly related to HIV antigen positivity at the end of the follow-up (χ2 = 303.0770, p &lt; 0.000)</a:t>
            </a:r>
          </a:p>
          <a:p>
            <a:r>
              <a:rPr lang="en-US" dirty="0" smtClean="0"/>
              <a:t>WHO </a:t>
            </a:r>
            <a:r>
              <a:rPr lang="en-US" dirty="0"/>
              <a:t>HIV disease stage showed a significant relationship with HIV antigen positivity (χ2 = 184.7703, p &lt; 0.000)</a:t>
            </a:r>
          </a:p>
          <a:p>
            <a:r>
              <a:rPr lang="en-US" dirty="0" smtClean="0"/>
              <a:t>Education </a:t>
            </a:r>
            <a:r>
              <a:rPr lang="en-US" dirty="0"/>
              <a:t>level was found to be significantly related to HIV antigen positivity (χ2 = 152.4252, p &lt; 0.000)</a:t>
            </a:r>
          </a:p>
          <a:p>
            <a:r>
              <a:rPr lang="en-US" dirty="0" smtClean="0"/>
              <a:t>Adherence </a:t>
            </a:r>
            <a:r>
              <a:rPr lang="en-US" dirty="0"/>
              <a:t>was also significantly related to HIV antigen positivity at the end of the follow-up period (χ2 = 107.5346, p &lt; 0.000)</a:t>
            </a:r>
          </a:p>
        </p:txBody>
      </p:sp>
    </p:spTree>
    <p:extLst>
      <p:ext uri="{BB962C8B-B14F-4D97-AF65-F5344CB8AC3E}">
        <p14:creationId xmlns:p14="http://schemas.microsoft.com/office/powerpoint/2010/main" val="38234544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117527"/>
            <a:ext cx="11764369" cy="537570"/>
          </a:xfrm>
        </p:spPr>
        <p:txBody>
          <a:bodyPr>
            <a:normAutofit fontScale="90000"/>
          </a:bodyPr>
          <a:lstStyle/>
          <a:p>
            <a:pPr algn="ctr"/>
            <a:r>
              <a:rPr lang="en-US" sz="2000" dirty="0" smtClean="0"/>
              <a:t>Table 4.2 : FACTORS </a:t>
            </a:r>
            <a:r>
              <a:rPr lang="en-US" sz="2000" dirty="0"/>
              <a:t>ASSOCIATED WITH HIV ANTIGEN POSITIVITY BY BIVARIATE LOGISTIC REGRESSION</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092488343"/>
              </p:ext>
            </p:extLst>
          </p:nvPr>
        </p:nvGraphicFramePr>
        <p:xfrm>
          <a:off x="309065" y="655097"/>
          <a:ext cx="11764369" cy="5728116"/>
        </p:xfrm>
        <a:graphic>
          <a:graphicData uri="http://schemas.openxmlformats.org/drawingml/2006/table">
            <a:tbl>
              <a:tblPr firstRow="1" firstCol="1" bandRow="1">
                <a:tableStyleId>{793D81CF-94F2-401A-BA57-92F5A7B2D0C5}</a:tableStyleId>
              </a:tblPr>
              <a:tblGrid>
                <a:gridCol w="5106360"/>
                <a:gridCol w="4316704"/>
                <a:gridCol w="2341305"/>
              </a:tblGrid>
              <a:tr h="477343">
                <a:tc>
                  <a:txBody>
                    <a:bodyPr/>
                    <a:lstStyle/>
                    <a:p>
                      <a:pPr>
                        <a:lnSpc>
                          <a:spcPct val="150000"/>
                        </a:lnSpc>
                        <a:spcAft>
                          <a:spcPts val="0"/>
                        </a:spcAft>
                      </a:pPr>
                      <a:r>
                        <a:rPr lang="en-US" sz="2000" dirty="0">
                          <a:effectLst/>
                        </a:rPr>
                        <a:t>Variables</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Odds Ratio (95% CI)</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P Value</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r>
              <a:tr h="477343">
                <a:tc>
                  <a:txBody>
                    <a:bodyPr/>
                    <a:lstStyle/>
                    <a:p>
                      <a:pPr>
                        <a:lnSpc>
                          <a:spcPct val="150000"/>
                        </a:lnSpc>
                        <a:spcAft>
                          <a:spcPts val="0"/>
                        </a:spcAft>
                      </a:pPr>
                      <a:r>
                        <a:rPr lang="en-US" sz="2000" dirty="0">
                          <a:effectLst/>
                        </a:rPr>
                        <a:t>Antenatal clinic attendance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a:effectLst/>
                        </a:rPr>
                        <a:t>0.066[0.027-0.163]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a:effectLst/>
                        </a:rPr>
                        <a:t>&lt;0.001*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r>
              <a:tr h="477343">
                <a:tc>
                  <a:txBody>
                    <a:bodyPr/>
                    <a:lstStyle/>
                    <a:p>
                      <a:pPr>
                        <a:lnSpc>
                          <a:spcPct val="150000"/>
                        </a:lnSpc>
                        <a:spcAft>
                          <a:spcPts val="0"/>
                        </a:spcAft>
                      </a:pPr>
                      <a:r>
                        <a:rPr lang="en-US" sz="2000" dirty="0">
                          <a:effectLst/>
                        </a:rPr>
                        <a:t>HAART During Pregnancy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0.05 [0.009 -0.285]</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a:effectLst/>
                        </a:rPr>
                        <a:t>0.001*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r>
              <a:tr h="477343">
                <a:tc>
                  <a:txBody>
                    <a:bodyPr/>
                    <a:lstStyle/>
                    <a:p>
                      <a:pPr>
                        <a:lnSpc>
                          <a:spcPct val="150000"/>
                        </a:lnSpc>
                        <a:spcAft>
                          <a:spcPts val="0"/>
                        </a:spcAft>
                      </a:pPr>
                      <a:r>
                        <a:rPr lang="en-US" sz="2000" dirty="0">
                          <a:effectLst/>
                        </a:rPr>
                        <a:t>WHO HIV disease stage(stage </a:t>
                      </a:r>
                      <a:r>
                        <a:rPr lang="en-US" sz="2000" dirty="0" smtClean="0">
                          <a:effectLst/>
                        </a:rPr>
                        <a:t>III)</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16.8  [3.683-76.640]</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a:effectLst/>
                        </a:rPr>
                        <a:t>&lt;0.001*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r>
              <a:tr h="477343">
                <a:tc>
                  <a:txBody>
                    <a:bodyPr/>
                    <a:lstStyle/>
                    <a:p>
                      <a:pPr>
                        <a:lnSpc>
                          <a:spcPct val="150000"/>
                        </a:lnSpc>
                        <a:spcAft>
                          <a:spcPts val="0"/>
                        </a:spcAft>
                      </a:pPr>
                      <a:r>
                        <a:rPr lang="en-US" sz="2000" dirty="0">
                          <a:effectLst/>
                        </a:rPr>
                        <a:t>Number of ANC visits made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0.716[0.629- 0.813]</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a:effectLst/>
                        </a:rPr>
                        <a:t>&lt;0.001*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r>
              <a:tr h="477343">
                <a:tc>
                  <a:txBody>
                    <a:bodyPr/>
                    <a:lstStyle/>
                    <a:p>
                      <a:pPr>
                        <a:lnSpc>
                          <a:spcPct val="150000"/>
                        </a:lnSpc>
                        <a:spcAft>
                          <a:spcPts val="0"/>
                        </a:spcAft>
                      </a:pPr>
                      <a:r>
                        <a:rPr lang="en-US" sz="2000" dirty="0">
                          <a:effectLst/>
                        </a:rPr>
                        <a:t>Duration of labor </a:t>
                      </a:r>
                      <a:r>
                        <a:rPr lang="en-US" sz="2000" dirty="0" smtClean="0">
                          <a:effectLst/>
                        </a:rPr>
                        <a:t>in hours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0.641[0.419 -0.979]</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0.040</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r>
              <a:tr h="477343">
                <a:tc>
                  <a:txBody>
                    <a:bodyPr/>
                    <a:lstStyle/>
                    <a:p>
                      <a:pPr>
                        <a:lnSpc>
                          <a:spcPct val="150000"/>
                        </a:lnSpc>
                        <a:spcAft>
                          <a:spcPts val="0"/>
                        </a:spcAft>
                      </a:pPr>
                      <a:r>
                        <a:rPr lang="en-US" sz="2000" dirty="0">
                          <a:effectLst/>
                        </a:rPr>
                        <a:t>Duration of breast </a:t>
                      </a:r>
                      <a:r>
                        <a:rPr lang="en-US" sz="2000" dirty="0" smtClean="0">
                          <a:effectLst/>
                        </a:rPr>
                        <a:t>feeding in</a:t>
                      </a:r>
                      <a:r>
                        <a:rPr lang="en-US" sz="2000" baseline="0" dirty="0" smtClean="0">
                          <a:effectLst/>
                        </a:rPr>
                        <a:t> </a:t>
                      </a:r>
                      <a:r>
                        <a:rPr lang="en-US" sz="2000" dirty="0" smtClean="0">
                          <a:effectLst/>
                        </a:rPr>
                        <a:t>months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1.446[1.262-1.657]</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&lt;0.001*</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r>
              <a:tr h="477343">
                <a:tc>
                  <a:txBody>
                    <a:bodyPr/>
                    <a:lstStyle/>
                    <a:p>
                      <a:pPr>
                        <a:lnSpc>
                          <a:spcPct val="150000"/>
                        </a:lnSpc>
                        <a:spcAft>
                          <a:spcPts val="0"/>
                        </a:spcAft>
                      </a:pPr>
                      <a:r>
                        <a:rPr lang="en-US" sz="2000">
                          <a:effectLst/>
                        </a:rPr>
                        <a:t>Never attended school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2.162[1.120- 6.577]</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&lt;0.001*</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r>
              <a:tr h="477343">
                <a:tc>
                  <a:txBody>
                    <a:bodyPr/>
                    <a:lstStyle/>
                    <a:p>
                      <a:pPr algn="r">
                        <a:lnSpc>
                          <a:spcPct val="150000"/>
                        </a:lnSpc>
                        <a:spcAft>
                          <a:spcPts val="0"/>
                        </a:spcAft>
                      </a:pPr>
                      <a:r>
                        <a:rPr lang="en-US" sz="2000" dirty="0" smtClean="0">
                          <a:effectLst/>
                        </a:rPr>
                        <a:t>Adherence                                      Good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0.039442[0.008-0.189]</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&lt;0.001*</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r>
              <a:tr h="477343">
                <a:tc>
                  <a:txBody>
                    <a:bodyPr/>
                    <a:lstStyle/>
                    <a:p>
                      <a:pPr algn="r">
                        <a:lnSpc>
                          <a:spcPct val="150000"/>
                        </a:lnSpc>
                        <a:spcAft>
                          <a:spcPts val="0"/>
                        </a:spcAft>
                      </a:pPr>
                      <a:r>
                        <a:rPr lang="en-US" sz="2000" dirty="0">
                          <a:effectLst/>
                        </a:rPr>
                        <a:t>                         </a:t>
                      </a:r>
                      <a:r>
                        <a:rPr lang="en-US" sz="2000" dirty="0" smtClean="0">
                          <a:effectLst/>
                        </a:rPr>
                        <a:t>Poor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a:effectLst/>
                        </a:rPr>
                        <a:t>5.011[1.9534-12.852]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0.001</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r>
              <a:tr h="477343">
                <a:tc>
                  <a:txBody>
                    <a:bodyPr/>
                    <a:lstStyle/>
                    <a:p>
                      <a:pPr>
                        <a:lnSpc>
                          <a:spcPct val="150000"/>
                        </a:lnSpc>
                        <a:spcAft>
                          <a:spcPts val="0"/>
                        </a:spcAft>
                      </a:pPr>
                      <a:r>
                        <a:rPr lang="en-US" sz="2000" dirty="0">
                          <a:effectLst/>
                        </a:rPr>
                        <a:t>HIV status before pregnancy(positive)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a:effectLst/>
                        </a:rPr>
                        <a:t>0.057[0.0226- 0.144]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&lt;0.001*</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r>
              <a:tr h="477343">
                <a:tc>
                  <a:txBody>
                    <a:bodyPr/>
                    <a:lstStyle/>
                    <a:p>
                      <a:pPr>
                        <a:lnSpc>
                          <a:spcPct val="150000"/>
                        </a:lnSpc>
                        <a:spcAft>
                          <a:spcPts val="0"/>
                        </a:spcAft>
                      </a:pPr>
                      <a:r>
                        <a:rPr lang="en-US" sz="2000" dirty="0">
                          <a:effectLst/>
                        </a:rPr>
                        <a:t>prematurity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5.035713[1.607-15.770]</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0.006</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r>
            </a:tbl>
          </a:graphicData>
        </a:graphic>
      </p:graphicFrame>
    </p:spTree>
    <p:extLst>
      <p:ext uri="{BB962C8B-B14F-4D97-AF65-F5344CB8AC3E}">
        <p14:creationId xmlns:p14="http://schemas.microsoft.com/office/powerpoint/2010/main" val="31430832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136478" y="457200"/>
            <a:ext cx="5883322" cy="5957247"/>
          </a:xfrm>
        </p:spPr>
        <p:txBody>
          <a:bodyPr>
            <a:normAutofit fontScale="70000" lnSpcReduction="20000"/>
          </a:bodyPr>
          <a:lstStyle/>
          <a:p>
            <a:pPr algn="just"/>
            <a:r>
              <a:rPr lang="en-US" dirty="0" smtClean="0"/>
              <a:t>Antenatal </a:t>
            </a:r>
            <a:r>
              <a:rPr lang="en-US" dirty="0"/>
              <a:t>attendance has a statistically significant relationship with HIV antigen positivity (p &lt; 0.001).</a:t>
            </a:r>
          </a:p>
          <a:p>
            <a:pPr algn="just"/>
            <a:r>
              <a:rPr lang="en-US" dirty="0" smtClean="0"/>
              <a:t>The </a:t>
            </a:r>
            <a:r>
              <a:rPr lang="en-US" dirty="0"/>
              <a:t>odds of a child turning HIV positive decrease by 6.6% for every increase in a week of antenatal attendance (95% CI 0.027-0.163, p &lt; 0.001).</a:t>
            </a:r>
          </a:p>
          <a:p>
            <a:pPr algn="just"/>
            <a:r>
              <a:rPr lang="en-US" dirty="0" smtClean="0"/>
              <a:t>Taking </a:t>
            </a:r>
            <a:r>
              <a:rPr lang="en-US" dirty="0"/>
              <a:t>HAART during pregnancy decreases the likelihood of HIV antigen positivity by 5.5% as measured by the number of ANC visits made.</a:t>
            </a:r>
          </a:p>
          <a:p>
            <a:pPr algn="just"/>
            <a:r>
              <a:rPr lang="en-US" dirty="0" smtClean="0"/>
              <a:t>WHO </a:t>
            </a:r>
            <a:r>
              <a:rPr lang="en-US" dirty="0"/>
              <a:t>staging is significantly associated with HIV antigen positivity, with mothers in stage three being 17 times more likely to transmit HIV to their children (95% CI 3.683-76.640, p &lt; 0.001).</a:t>
            </a:r>
          </a:p>
          <a:p>
            <a:pPr algn="just"/>
            <a:r>
              <a:rPr lang="en-US" dirty="0" smtClean="0"/>
              <a:t>The </a:t>
            </a:r>
            <a:r>
              <a:rPr lang="en-US" dirty="0"/>
              <a:t>number of ANC visits made to the prenatal clinic is significantly associated with HIV infection in babies born to HIV positive mothers, with a 71.6% decrease in the likelihood of HIV antigen positivity for every week increase in attendance (95% CI [0.629-0.813], p &lt; 0.001).</a:t>
            </a:r>
          </a:p>
          <a:p>
            <a:pPr algn="just"/>
            <a:r>
              <a:rPr lang="en-US" dirty="0" smtClean="0"/>
              <a:t>Every </a:t>
            </a:r>
            <a:r>
              <a:rPr lang="en-US" dirty="0"/>
              <a:t>hour increase in the duration of labor is associated with a 64.1% likelihood of HIV antigen positivity (95% CI [0.419-0.979], p &lt; 0.040).</a:t>
            </a:r>
          </a:p>
          <a:p>
            <a:endParaRPr lang="en-US" dirty="0"/>
          </a:p>
        </p:txBody>
      </p:sp>
      <p:sp>
        <p:nvSpPr>
          <p:cNvPr id="6" name="Content Placeholder 5"/>
          <p:cNvSpPr>
            <a:spLocks noGrp="1"/>
          </p:cNvSpPr>
          <p:nvPr>
            <p:ph sz="half" idx="2"/>
          </p:nvPr>
        </p:nvSpPr>
        <p:spPr>
          <a:xfrm>
            <a:off x="6127845" y="457200"/>
            <a:ext cx="5927677" cy="5957248"/>
          </a:xfrm>
        </p:spPr>
        <p:txBody>
          <a:bodyPr>
            <a:normAutofit fontScale="70000" lnSpcReduction="20000"/>
          </a:bodyPr>
          <a:lstStyle/>
          <a:p>
            <a:pPr algn="just"/>
            <a:r>
              <a:rPr lang="en-US" dirty="0" smtClean="0"/>
              <a:t>An </a:t>
            </a:r>
            <a:r>
              <a:rPr lang="en-US" dirty="0"/>
              <a:t>increase in the duration of breastfeeding by a month is associated with 1.446 odds of HIV antigen positivity (95% CI [1.262-1.657], p &lt; &lt;0.001).</a:t>
            </a:r>
          </a:p>
          <a:p>
            <a:pPr algn="just"/>
            <a:r>
              <a:rPr lang="en-US" dirty="0" smtClean="0"/>
              <a:t>Babies </a:t>
            </a:r>
            <a:r>
              <a:rPr lang="en-US" dirty="0"/>
              <a:t>born to mothers who never attended school had odds of 2.162 for transmitting HIV to their children.</a:t>
            </a:r>
          </a:p>
          <a:p>
            <a:pPr algn="just"/>
            <a:r>
              <a:rPr lang="en-US" dirty="0" smtClean="0"/>
              <a:t>Good </a:t>
            </a:r>
            <a:r>
              <a:rPr lang="en-US" dirty="0"/>
              <a:t>adherence to medication is associated with a 4% reduction in the chances of HIV antigen positivity (95% CI [0.008-0.189], p &lt; 0.001), while poor adherence increases the likelihood by 5 times (95% CI [1.9534-12.852], p &lt; 0.001).</a:t>
            </a:r>
          </a:p>
          <a:p>
            <a:pPr algn="just"/>
            <a:r>
              <a:rPr lang="en-US" dirty="0" smtClean="0"/>
              <a:t>Knowledge </a:t>
            </a:r>
            <a:r>
              <a:rPr lang="en-US" dirty="0"/>
              <a:t>of HIV status before the perinatal period is associated with a 5.7% decrease in the likelihood of turning HIV positive by the end of the follow-up period (95% CI [0.0226-0.144], p &lt; 0.001).</a:t>
            </a:r>
          </a:p>
          <a:p>
            <a:pPr algn="just"/>
            <a:r>
              <a:rPr lang="en-US" dirty="0" smtClean="0"/>
              <a:t>Premature </a:t>
            </a:r>
            <a:r>
              <a:rPr lang="en-US" dirty="0"/>
              <a:t>infants are 5 times more likely to be infected with the HIV virus by the end.</a:t>
            </a:r>
          </a:p>
          <a:p>
            <a:pPr algn="just"/>
            <a:r>
              <a:rPr lang="en-US" dirty="0" smtClean="0"/>
              <a:t>These </a:t>
            </a:r>
            <a:r>
              <a:rPr lang="en-US" dirty="0"/>
              <a:t>findings demonstrate various significant factors associated with HIV antigen positivity and suggest potential preventive measures.</a:t>
            </a:r>
          </a:p>
          <a:p>
            <a:endParaRPr lang="en-US" dirty="0"/>
          </a:p>
        </p:txBody>
      </p:sp>
    </p:spTree>
    <p:extLst>
      <p:ext uri="{BB962C8B-B14F-4D97-AF65-F5344CB8AC3E}">
        <p14:creationId xmlns:p14="http://schemas.microsoft.com/office/powerpoint/2010/main" val="33573968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7345" y="158466"/>
            <a:ext cx="10515600" cy="605810"/>
          </a:xfrm>
        </p:spPr>
        <p:txBody>
          <a:bodyPr>
            <a:normAutofit fontScale="90000"/>
          </a:bodyPr>
          <a:lstStyle/>
          <a:p>
            <a:pPr algn="ctr"/>
            <a:r>
              <a:rPr lang="en-US" sz="2000" dirty="0" smtClean="0"/>
              <a:t>Table 4.3 :Factors </a:t>
            </a:r>
            <a:r>
              <a:rPr lang="en-US" sz="2000" dirty="0"/>
              <a:t>Associated With HIV Antigen Positivity by Multivariate Logistic Regression</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3473154149"/>
              </p:ext>
            </p:extLst>
          </p:nvPr>
        </p:nvGraphicFramePr>
        <p:xfrm>
          <a:off x="246187" y="668741"/>
          <a:ext cx="11658599" cy="5773008"/>
        </p:xfrm>
        <a:graphic>
          <a:graphicData uri="http://schemas.openxmlformats.org/drawingml/2006/table">
            <a:tbl>
              <a:tblPr firstRow="1" firstCol="1" bandRow="1">
                <a:tableStyleId>{5202B0CA-FC54-4496-8BCA-5EF66A818D29}</a:tableStyleId>
              </a:tblPr>
              <a:tblGrid>
                <a:gridCol w="5489058"/>
                <a:gridCol w="3944414"/>
                <a:gridCol w="2225127"/>
              </a:tblGrid>
              <a:tr h="481084">
                <a:tc>
                  <a:txBody>
                    <a:bodyPr/>
                    <a:lstStyle/>
                    <a:p>
                      <a:pPr>
                        <a:lnSpc>
                          <a:spcPct val="150000"/>
                        </a:lnSpc>
                        <a:spcAft>
                          <a:spcPts val="800"/>
                        </a:spcAft>
                      </a:pPr>
                      <a:r>
                        <a:rPr lang="en-GB" sz="2000" dirty="0">
                          <a:effectLst/>
                        </a:rPr>
                        <a:t>Variables</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Odds Ratio (95% CI)</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P Value</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r>
              <a:tr h="481084">
                <a:tc>
                  <a:txBody>
                    <a:bodyPr/>
                    <a:lstStyle/>
                    <a:p>
                      <a:pPr>
                        <a:lnSpc>
                          <a:spcPct val="150000"/>
                        </a:lnSpc>
                        <a:spcAft>
                          <a:spcPts val="800"/>
                        </a:spcAft>
                      </a:pPr>
                      <a:r>
                        <a:rPr lang="en-GB" sz="2000" dirty="0">
                          <a:effectLst/>
                        </a:rPr>
                        <a:t> </a:t>
                      </a:r>
                      <a:r>
                        <a:rPr lang="en-GB" sz="2000" dirty="0" smtClean="0">
                          <a:effectLst/>
                        </a:rPr>
                        <a:t>Duration </a:t>
                      </a:r>
                      <a:r>
                        <a:rPr lang="en-GB" sz="2000" dirty="0">
                          <a:effectLst/>
                        </a:rPr>
                        <a:t>of labor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0.461[0.162-0.307]</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a:effectLst/>
                        </a:rPr>
                        <a:t>0.046*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r>
              <a:tr h="481084">
                <a:tc>
                  <a:txBody>
                    <a:bodyPr/>
                    <a:lstStyle/>
                    <a:p>
                      <a:pPr>
                        <a:lnSpc>
                          <a:spcPct val="150000"/>
                        </a:lnSpc>
                        <a:spcAft>
                          <a:spcPts val="800"/>
                        </a:spcAft>
                      </a:pPr>
                      <a:r>
                        <a:rPr lang="en-GB" sz="2000" dirty="0">
                          <a:effectLst/>
                        </a:rPr>
                        <a:t>Duration of breast feeding in months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1.463[1.0344-2.068]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0.031*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r>
              <a:tr h="481084">
                <a:tc>
                  <a:txBody>
                    <a:bodyPr/>
                    <a:lstStyle/>
                    <a:p>
                      <a:pPr>
                        <a:lnSpc>
                          <a:spcPct val="150000"/>
                        </a:lnSpc>
                        <a:spcAft>
                          <a:spcPts val="800"/>
                        </a:spcAft>
                      </a:pPr>
                      <a:r>
                        <a:rPr lang="en-GB" sz="2000">
                          <a:effectLst/>
                        </a:rPr>
                        <a:t>Antenatal clinic attendance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0.007[0.00004-1.043]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a:effectLst/>
                        </a:rPr>
                        <a:t>0.050*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r>
              <a:tr h="481084">
                <a:tc>
                  <a:txBody>
                    <a:bodyPr/>
                    <a:lstStyle/>
                    <a:p>
                      <a:pPr>
                        <a:lnSpc>
                          <a:spcPct val="150000"/>
                        </a:lnSpc>
                        <a:spcAft>
                          <a:spcPts val="800"/>
                        </a:spcAft>
                      </a:pPr>
                      <a:r>
                        <a:rPr lang="en-GB" sz="2000" dirty="0">
                          <a:effectLst/>
                        </a:rPr>
                        <a:t>Initiation of HAART during pregnancy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0.065[0.00001-266.615]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0.50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r>
              <a:tr h="481084">
                <a:tc>
                  <a:txBody>
                    <a:bodyPr/>
                    <a:lstStyle/>
                    <a:p>
                      <a:pPr>
                        <a:lnSpc>
                          <a:spcPct val="150000"/>
                        </a:lnSpc>
                        <a:spcAft>
                          <a:spcPts val="800"/>
                        </a:spcAft>
                      </a:pPr>
                      <a:r>
                        <a:rPr lang="en-GB" sz="2000">
                          <a:effectLst/>
                        </a:rPr>
                        <a:t>Never attended school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4.52[8.799 -23214.54]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0.002*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r>
              <a:tr h="481084">
                <a:tc>
                  <a:txBody>
                    <a:bodyPr/>
                    <a:lstStyle/>
                    <a:p>
                      <a:pPr>
                        <a:lnSpc>
                          <a:spcPct val="150000"/>
                        </a:lnSpc>
                        <a:spcAft>
                          <a:spcPts val="800"/>
                        </a:spcAft>
                      </a:pPr>
                      <a:r>
                        <a:rPr lang="en-GB" sz="2000">
                          <a:effectLst/>
                        </a:rPr>
                        <a:t>Attended up to Primary school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a:effectLst/>
                        </a:rPr>
                        <a:t>1.821[0.0835-0.681]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0.703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r>
              <a:tr h="481084">
                <a:tc>
                  <a:txBody>
                    <a:bodyPr/>
                    <a:lstStyle/>
                    <a:p>
                      <a:pPr>
                        <a:lnSpc>
                          <a:spcPct val="150000"/>
                        </a:lnSpc>
                        <a:spcAft>
                          <a:spcPts val="800"/>
                        </a:spcAft>
                      </a:pPr>
                      <a:r>
                        <a:rPr lang="en-GB" sz="2000">
                          <a:effectLst/>
                        </a:rPr>
                        <a:t>Attended up to Secondary school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1.538[0.063-37.003]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0.791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r>
              <a:tr h="481084">
                <a:tc>
                  <a:txBody>
                    <a:bodyPr/>
                    <a:lstStyle/>
                    <a:p>
                      <a:pPr>
                        <a:lnSpc>
                          <a:spcPct val="150000"/>
                        </a:lnSpc>
                        <a:spcAft>
                          <a:spcPts val="800"/>
                        </a:spcAft>
                      </a:pPr>
                      <a:r>
                        <a:rPr lang="en-GB" sz="2000">
                          <a:effectLst/>
                        </a:rPr>
                        <a:t>Adherence to HAART during ANC        Good</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0.0437[0.003-0.658]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0.024*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r>
              <a:tr h="481084">
                <a:tc>
                  <a:txBody>
                    <a:bodyPr/>
                    <a:lstStyle/>
                    <a:p>
                      <a:pPr>
                        <a:lnSpc>
                          <a:spcPct val="150000"/>
                        </a:lnSpc>
                        <a:spcAft>
                          <a:spcPts val="800"/>
                        </a:spcAft>
                      </a:pPr>
                      <a:r>
                        <a:rPr lang="en-GB" sz="2000" dirty="0">
                          <a:effectLst/>
                        </a:rPr>
                        <a:t>                                                                     Poor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a:effectLst/>
                        </a:rPr>
                        <a:t>10.272[1.198-88.109]</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0.034*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r>
              <a:tr h="481084">
                <a:tc>
                  <a:txBody>
                    <a:bodyPr/>
                    <a:lstStyle/>
                    <a:p>
                      <a:pPr>
                        <a:lnSpc>
                          <a:spcPct val="150000"/>
                        </a:lnSpc>
                        <a:spcAft>
                          <a:spcPts val="800"/>
                        </a:spcAft>
                      </a:pPr>
                      <a:r>
                        <a:rPr lang="en-GB" sz="2000">
                          <a:effectLst/>
                        </a:rPr>
                        <a:t>No of ANC visits made during pregnancy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a:effectLst/>
                        </a:rPr>
                        <a:t>1.150[0.599-2.205]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0.674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r>
              <a:tr h="481084">
                <a:tc>
                  <a:txBody>
                    <a:bodyPr/>
                    <a:lstStyle/>
                    <a:p>
                      <a:pPr>
                        <a:lnSpc>
                          <a:spcPct val="150000"/>
                        </a:lnSpc>
                        <a:spcAft>
                          <a:spcPts val="800"/>
                        </a:spcAft>
                      </a:pPr>
                      <a:r>
                        <a:rPr lang="en-GB" sz="2000" dirty="0">
                          <a:effectLst/>
                        </a:rPr>
                        <a:t>premature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a:effectLst/>
                        </a:rPr>
                        <a:t>9.386[0.896-98.283]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0.062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r>
            </a:tbl>
          </a:graphicData>
        </a:graphic>
      </p:graphicFrame>
    </p:spTree>
    <p:extLst>
      <p:ext uri="{BB962C8B-B14F-4D97-AF65-F5344CB8AC3E}">
        <p14:creationId xmlns:p14="http://schemas.microsoft.com/office/powerpoint/2010/main" val="34943822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125" y="696036"/>
            <a:ext cx="11928144" cy="5390865"/>
          </a:xfrm>
        </p:spPr>
        <p:txBody>
          <a:bodyPr>
            <a:noAutofit/>
          </a:bodyPr>
          <a:lstStyle/>
          <a:p>
            <a:pPr algn="just">
              <a:lnSpc>
                <a:spcPct val="100000"/>
              </a:lnSpc>
            </a:pPr>
            <a:r>
              <a:rPr lang="en-US" sz="2000" dirty="0" smtClean="0"/>
              <a:t>Duration </a:t>
            </a:r>
            <a:r>
              <a:rPr lang="en-US" sz="2000" dirty="0"/>
              <a:t>of breastfeeding in months reduces likelihood of turning HIV positive by 46.1% for every one-hour increase in duration of labor (95% CI [0.162-0.307], p=0.046), controlling for other variables</a:t>
            </a:r>
          </a:p>
          <a:p>
            <a:pPr algn="just">
              <a:lnSpc>
                <a:spcPct val="100000"/>
              </a:lnSpc>
            </a:pPr>
            <a:r>
              <a:rPr lang="en-US" sz="2000" dirty="0" smtClean="0"/>
              <a:t>Duration </a:t>
            </a:r>
            <a:r>
              <a:rPr lang="en-US" sz="2000" dirty="0"/>
              <a:t>of breastfeeding in months is associated with vertical HIV infection, with odds of 1.463 of being HIV positive for every one-unit increase (months) (95% CI [1.0344-2.068], p=0.031), controlling for other variables</a:t>
            </a:r>
          </a:p>
          <a:p>
            <a:pPr algn="just">
              <a:lnSpc>
                <a:spcPct val="100000"/>
              </a:lnSpc>
            </a:pPr>
            <a:r>
              <a:rPr lang="en-US" sz="2000" dirty="0" smtClean="0"/>
              <a:t>Week </a:t>
            </a:r>
            <a:r>
              <a:rPr lang="en-US" sz="2000" dirty="0"/>
              <a:t>of antenatal clinic attendance decreases chances of vertical HIV infection by 0.7% for every week attended (95% CI [0.00004-1.043], p=0.050), adjusting for other variables</a:t>
            </a:r>
          </a:p>
          <a:p>
            <a:pPr algn="just">
              <a:lnSpc>
                <a:spcPct val="100000"/>
              </a:lnSpc>
            </a:pPr>
            <a:r>
              <a:rPr lang="en-US" sz="2000" dirty="0" smtClean="0"/>
              <a:t>Mothers </a:t>
            </a:r>
            <a:r>
              <a:rPr lang="en-US" sz="2000" dirty="0"/>
              <a:t>who never attended school have odds of 4.5 of infants contracting HIV (95% CI [8.799-23214.54], p=0.002), controlling for other variables</a:t>
            </a:r>
          </a:p>
          <a:p>
            <a:pPr algn="just">
              <a:lnSpc>
                <a:spcPct val="100000"/>
              </a:lnSpc>
            </a:pPr>
            <a:r>
              <a:rPr lang="en-US" sz="2000" dirty="0" smtClean="0"/>
              <a:t>Adherence </a:t>
            </a:r>
            <a:r>
              <a:rPr lang="en-US" sz="2000" dirty="0"/>
              <a:t>to HAART during ANC reduces likelihood of transmitting HIV by 4.5% (95% CI [0.003-0.658], p=0.024), controlling for other variables</a:t>
            </a:r>
          </a:p>
          <a:p>
            <a:pPr algn="just">
              <a:lnSpc>
                <a:spcPct val="100000"/>
              </a:lnSpc>
            </a:pPr>
            <a:r>
              <a:rPr lang="en-US" sz="2000" dirty="0" smtClean="0"/>
              <a:t>Poor </a:t>
            </a:r>
            <a:r>
              <a:rPr lang="en-US" sz="2000" dirty="0"/>
              <a:t>compliance with HAART leads to 10.3 times higher likelihood of transmitting HIV to </a:t>
            </a:r>
            <a:r>
              <a:rPr lang="en-US" sz="2000" dirty="0" smtClean="0"/>
              <a:t>infants</a:t>
            </a:r>
          </a:p>
          <a:p>
            <a:pPr algn="just">
              <a:lnSpc>
                <a:spcPct val="100000"/>
              </a:lnSpc>
            </a:pPr>
            <a:r>
              <a:rPr lang="en-US" sz="2000" dirty="0" smtClean="0"/>
              <a:t>Factors </a:t>
            </a:r>
            <a:r>
              <a:rPr lang="en-US" sz="2000" dirty="0"/>
              <a:t>not statistically significant: initiation of HAART during pregnancy, attending up to primary school, attending up to secondary school, number of ANC visits, and prematurity</a:t>
            </a:r>
          </a:p>
        </p:txBody>
      </p:sp>
    </p:spTree>
    <p:extLst>
      <p:ext uri="{BB962C8B-B14F-4D97-AF65-F5344CB8AC3E}">
        <p14:creationId xmlns:p14="http://schemas.microsoft.com/office/powerpoint/2010/main" val="33975252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199" y="136479"/>
            <a:ext cx="10515600" cy="559558"/>
          </a:xfrm>
        </p:spPr>
        <p:txBody>
          <a:bodyPr>
            <a:normAutofit/>
          </a:bodyPr>
          <a:lstStyle/>
          <a:p>
            <a:r>
              <a:rPr lang="en-US" sz="2000" dirty="0" smtClean="0"/>
              <a:t>Table 4.4 : Factors </a:t>
            </a:r>
            <a:r>
              <a:rPr lang="en-US" sz="2000" dirty="0"/>
              <a:t>Associated With HIV Antigen Positivity by Bivariate Cox PH Model</a:t>
            </a:r>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869442448"/>
              </p:ext>
            </p:extLst>
          </p:nvPr>
        </p:nvGraphicFramePr>
        <p:xfrm>
          <a:off x="432179" y="559559"/>
          <a:ext cx="11327641" cy="5718154"/>
        </p:xfrm>
        <a:graphic>
          <a:graphicData uri="http://schemas.openxmlformats.org/drawingml/2006/table">
            <a:tbl>
              <a:tblPr firstRow="1" firstCol="1" bandRow="1"/>
              <a:tblGrid>
                <a:gridCol w="4412776"/>
                <a:gridCol w="5462603"/>
                <a:gridCol w="1452262"/>
              </a:tblGrid>
              <a:tr h="336362">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Covariates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HR (95% CI)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 value </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nSpc>
                          <a:spcPct val="150000"/>
                        </a:lnSpc>
                        <a:spcAft>
                          <a:spcPts val="0"/>
                        </a:spcAft>
                      </a:pPr>
                      <a:r>
                        <a:rPr lang="en-US" sz="1600" b="1" i="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Employment status</a:t>
                      </a:r>
                      <a:r>
                        <a:rPr lang="en-US" sz="1600" b="1" i="1" baseline="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Self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employed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0.399[0.158-1.011</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0.053</a:t>
                      </a:r>
                      <a:r>
                        <a:rPr lang="en-US" sz="140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gn="r">
                        <a:lnSpc>
                          <a:spcPct val="150000"/>
                        </a:lnSpc>
                        <a:spcAft>
                          <a:spcPts val="0"/>
                        </a:spcAft>
                      </a:pP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ANC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attendance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0.081[0.377-0.173]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b="1" i="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Facility level                                                 </a:t>
                      </a:r>
                      <a:r>
                        <a:rPr lang="en-US" sz="1600" dirty="0" err="1"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Level</a:t>
                      </a: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3</a:t>
                      </a: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2.54[3.25-1.99]</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Level 4</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2.03[2.65-1.55]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Level 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3.23[3.26-3.11]</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nSpc>
                          <a:spcPct val="150000"/>
                        </a:lnSpc>
                        <a:spcAft>
                          <a:spcPts val="0"/>
                        </a:spcAft>
                      </a:pP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b="1" i="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HIV status before pregnancy                       </a:t>
                      </a: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Positive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0.024[0.003-0.186</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Unknown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0.333[0.042-2.628]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0.297</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Premature pregnancy</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4.114[1.422-11.899]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0.009</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gn="r">
                        <a:lnSpc>
                          <a:spcPct val="150000"/>
                        </a:lnSpc>
                        <a:spcAft>
                          <a:spcPts val="0"/>
                        </a:spcAft>
                      </a:pP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HAART during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pregnancy</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0.107[0.025-0.452]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0.002</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gn="l">
                        <a:lnSpc>
                          <a:spcPct val="150000"/>
                        </a:lnSpc>
                        <a:spcAft>
                          <a:spcPts val="0"/>
                        </a:spcAft>
                      </a:pPr>
                      <a:r>
                        <a:rPr lang="en-US" sz="16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b="1" i="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CD4 cell count</a:t>
                      </a:r>
                      <a:r>
                        <a:rPr lang="en-US" sz="1600" b="1" i="1" baseline="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b="1" i="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200-500</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0.011[0.004-0.026</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Above 500</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0.183[0.053-0.639]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0.008</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sz="1600" b="1" i="1"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rPr>
                        <a:t>WHO HIV disease stage                              </a:t>
                      </a:r>
                      <a:r>
                        <a:rPr kumimoji="0" lang="en-US" sz="16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rPr>
                        <a:t>Stage II</a:t>
                      </a:r>
                      <a:endParaRPr lang="en-US" sz="1400" b="0" i="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0.716[0.202-2.538</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0.605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Stage III</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14.003[3.499-56.042]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Stage IV</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47.265[17.692-126.269]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No of </a:t>
                      </a: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ANC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visits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0.721[0.639-0.814]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362">
                <a:tc>
                  <a:txBody>
                    <a:bodyPr/>
                    <a:lstStyle/>
                    <a:p>
                      <a:pPr algn="r">
                        <a:lnSpc>
                          <a:spcPct val="150000"/>
                        </a:lnSpc>
                        <a:spcAft>
                          <a:spcPts val="0"/>
                        </a:spcAft>
                      </a:pPr>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Duration of labor </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0.888[0.564-1.397]</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0.608</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7937052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73" y="158262"/>
            <a:ext cx="11805314" cy="469535"/>
          </a:xfrm>
        </p:spPr>
        <p:txBody>
          <a:bodyPr>
            <a:noAutofit/>
          </a:bodyPr>
          <a:lstStyle/>
          <a:p>
            <a:r>
              <a:rPr lang="en-US" sz="2000" dirty="0" smtClean="0"/>
              <a:t>Table 4.5 :Factors </a:t>
            </a:r>
            <a:r>
              <a:rPr lang="en-US" sz="2000" dirty="0"/>
              <a:t>Associated with HIV Antigen Positivity by multivariate Cox PH Model</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64117662"/>
              </p:ext>
            </p:extLst>
          </p:nvPr>
        </p:nvGraphicFramePr>
        <p:xfrm>
          <a:off x="316173" y="627797"/>
          <a:ext cx="11805314" cy="5800300"/>
        </p:xfrm>
        <a:graphic>
          <a:graphicData uri="http://schemas.openxmlformats.org/drawingml/2006/table">
            <a:tbl>
              <a:tblPr firstRow="1" firstCol="1" bandRow="1"/>
              <a:tblGrid>
                <a:gridCol w="4328492"/>
                <a:gridCol w="4194495"/>
                <a:gridCol w="3282327"/>
              </a:tblGrid>
              <a:tr h="573010">
                <a:tc>
                  <a:txBody>
                    <a:bodyPr/>
                    <a:lstStyle/>
                    <a:p>
                      <a:pPr>
                        <a:lnSpc>
                          <a:spcPct val="150000"/>
                        </a:lnSpc>
                        <a:spcAft>
                          <a:spcPts val="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Covariates</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HR (95% CI)</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 value </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2475">
                <a:tc>
                  <a:txBody>
                    <a:bodyPr/>
                    <a:lstStyle/>
                    <a:p>
                      <a:pPr algn="l">
                        <a:lnSpc>
                          <a:spcPct val="150000"/>
                        </a:lnSpc>
                        <a:spcAft>
                          <a:spcPts val="0"/>
                        </a:spcAft>
                        <a:tabLst>
                          <a:tab pos="920750" algn="ctr"/>
                        </a:tabLst>
                      </a:pPr>
                      <a:r>
                        <a:rPr lang="en-US" sz="2000" b="1" i="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HIV status before pregnancy</a:t>
                      </a:r>
                      <a:r>
                        <a:rPr lang="en-US" sz="2000" b="1" i="1" baseline="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Positive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15.5[0.447-537.778</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0.130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3010">
                <a:tc>
                  <a:txBody>
                    <a:bodyPr/>
                    <a:lstStyle/>
                    <a:p>
                      <a:pPr algn="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Unknown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17.7[0.556-567.848]</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0.104</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3745">
                <a:tc>
                  <a:txBody>
                    <a:bodyPr/>
                    <a:lstStyle/>
                    <a:p>
                      <a:pPr algn="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HAART During Pregnancy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0.30[0.002-0.4710</a:t>
                      </a: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0.012</a:t>
                      </a: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3010">
                <a:tc>
                  <a:txBody>
                    <a:bodyPr/>
                    <a:lstStyle/>
                    <a:p>
                      <a:pPr algn="l">
                        <a:lnSpc>
                          <a:spcPct val="150000"/>
                        </a:lnSpc>
                        <a:spcAft>
                          <a:spcPts val="0"/>
                        </a:spcAft>
                      </a:pPr>
                      <a:r>
                        <a:rPr lang="en-US" sz="2000" b="1" i="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CD4 cell count cells mm3</a:t>
                      </a:r>
                      <a:r>
                        <a:rPr lang="en-US" sz="2000" b="1" i="1" baseline="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200-500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0.20[0.001-0.352]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0.007*</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3010">
                <a:tc>
                  <a:txBody>
                    <a:bodyPr/>
                    <a:lstStyle/>
                    <a:p>
                      <a:pPr algn="r">
                        <a:lnSpc>
                          <a:spcPct val="150000"/>
                        </a:lnSpc>
                        <a:spcAft>
                          <a:spcPts val="0"/>
                        </a:spcAft>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below 200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60579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24.3[1.993-594.65]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0.050*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3010">
                <a:tc>
                  <a:txBody>
                    <a:bodyPr/>
                    <a:lstStyle/>
                    <a:p>
                      <a:pPr algn="l">
                        <a:lnSpc>
                          <a:spcPct val="150000"/>
                        </a:lnSpc>
                        <a:spcAft>
                          <a:spcPts val="0"/>
                        </a:spcAft>
                      </a:pPr>
                      <a:r>
                        <a:rPr lang="en-US" sz="2000" b="1" i="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WHO HIV Disease Stage</a:t>
                      </a:r>
                      <a:r>
                        <a:rPr lang="en-US" sz="2000" b="1" i="1" baseline="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Stage II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2.5[0.184-34.95</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0.486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3010">
                <a:tc>
                  <a:txBody>
                    <a:bodyPr/>
                    <a:lstStyle/>
                    <a:p>
                      <a:pPr algn="r">
                        <a:lnSpc>
                          <a:spcPct val="150000"/>
                        </a:lnSpc>
                        <a:spcAft>
                          <a:spcPts val="0"/>
                        </a:spcAft>
                      </a:pP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Stage III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0.04[0.0007-0.02</a:t>
                      </a: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&lt;0.001</a:t>
                      </a: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3010">
                <a:tc>
                  <a:txBody>
                    <a:bodyPr/>
                    <a:lstStyle/>
                    <a:p>
                      <a:pPr algn="l">
                        <a:lnSpc>
                          <a:spcPct val="150000"/>
                        </a:lnSpc>
                        <a:spcAft>
                          <a:spcPts val="0"/>
                        </a:spcAft>
                      </a:pPr>
                      <a:r>
                        <a:rPr lang="en-US" sz="2000" b="1" i="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Adherence</a:t>
                      </a:r>
                      <a:r>
                        <a:rPr lang="en-US" sz="2000" b="1" i="1" baseline="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aseline="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Good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3.58[0.574- 22.32]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0.172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3010">
                <a:tc>
                  <a:txBody>
                    <a:bodyPr/>
                    <a:lstStyle/>
                    <a:p>
                      <a:pPr algn="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2.49[0.757- 8.163]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0.133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257856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6603" y="614149"/>
            <a:ext cx="11682483" cy="5923128"/>
          </a:xfrm>
        </p:spPr>
        <p:txBody>
          <a:bodyPr>
            <a:normAutofit/>
          </a:bodyPr>
          <a:lstStyle/>
          <a:p>
            <a:pPr marL="0" indent="0" algn="just">
              <a:buNone/>
            </a:pPr>
            <a:r>
              <a:rPr lang="en-US" dirty="0" smtClean="0"/>
              <a:t>In the Adjusted </a:t>
            </a:r>
            <a:r>
              <a:rPr lang="en-US" dirty="0"/>
              <a:t>model: </a:t>
            </a:r>
            <a:endParaRPr lang="en-US" dirty="0" smtClean="0"/>
          </a:p>
          <a:p>
            <a:pPr algn="just"/>
            <a:r>
              <a:rPr lang="en-US" dirty="0" smtClean="0"/>
              <a:t>Mothers </a:t>
            </a:r>
            <a:r>
              <a:rPr lang="en-US" dirty="0"/>
              <a:t>who took HAART during pregnancy were 30% less likely to transmit HIV to their children compared to those who did not (HR=0.03, 95% CI: 0.002-0.4710, P=0.012)</a:t>
            </a:r>
          </a:p>
          <a:p>
            <a:pPr algn="just"/>
            <a:r>
              <a:rPr lang="en-US" dirty="0" smtClean="0"/>
              <a:t>CD4 </a:t>
            </a:r>
            <a:r>
              <a:rPr lang="en-US" dirty="0"/>
              <a:t>cell count between 200-500: 20% less likely to transmit HIV to children (95% CI: 0.001-0.352, P=0.007) compared to CD4 count above 500 cells/mm3</a:t>
            </a:r>
          </a:p>
          <a:p>
            <a:pPr algn="just"/>
            <a:r>
              <a:rPr lang="en-US" dirty="0" smtClean="0"/>
              <a:t>CD4 </a:t>
            </a:r>
            <a:r>
              <a:rPr lang="en-US" dirty="0"/>
              <a:t>cell count below 200: 24.3 times more likely to transmit HIV to children (95% CI: 1.993-594.65, P=0.050)</a:t>
            </a:r>
          </a:p>
          <a:p>
            <a:pPr algn="just"/>
            <a:r>
              <a:rPr lang="en-US" dirty="0" smtClean="0"/>
              <a:t>WHO </a:t>
            </a:r>
            <a:r>
              <a:rPr lang="en-US" dirty="0"/>
              <a:t>HIV Disease Stage III: 4% more likely to transmit HIV to offspring (95% CI: 0.0007-0.02, P=0.001) compared to Stage I</a:t>
            </a:r>
          </a:p>
          <a:p>
            <a:pPr algn="just"/>
            <a:r>
              <a:rPr lang="en-US" dirty="0" smtClean="0"/>
              <a:t>No </a:t>
            </a:r>
            <a:r>
              <a:rPr lang="en-US" dirty="0"/>
              <a:t>statistical association found for: HIV status before pregnancy, WHO HIV Disease Stage II, and Adherence</a:t>
            </a:r>
          </a:p>
        </p:txBody>
      </p:sp>
    </p:spTree>
    <p:extLst>
      <p:ext uri="{BB962C8B-B14F-4D97-AF65-F5344CB8AC3E}">
        <p14:creationId xmlns:p14="http://schemas.microsoft.com/office/powerpoint/2010/main" val="4112465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682387"/>
          </a:xfrm>
        </p:spPr>
        <p:txBody>
          <a:bodyPr>
            <a:normAutofit fontScale="90000"/>
          </a:bodyPr>
          <a:lstStyle/>
          <a:p>
            <a:pPr algn="ctr"/>
            <a:r>
              <a:rPr lang="en-US" dirty="0" smtClean="0"/>
              <a:t>Discussion </a:t>
            </a:r>
            <a:endParaRPr lang="en-US" dirty="0"/>
          </a:p>
        </p:txBody>
      </p:sp>
      <p:sp>
        <p:nvSpPr>
          <p:cNvPr id="3" name="Content Placeholder 2"/>
          <p:cNvSpPr>
            <a:spLocks noGrp="1"/>
          </p:cNvSpPr>
          <p:nvPr>
            <p:ph idx="1"/>
          </p:nvPr>
        </p:nvSpPr>
        <p:spPr>
          <a:xfrm>
            <a:off x="368490" y="682388"/>
            <a:ext cx="11532358" cy="5494575"/>
          </a:xfrm>
        </p:spPr>
        <p:txBody>
          <a:bodyPr>
            <a:normAutofit lnSpcReduction="10000"/>
          </a:bodyPr>
          <a:lstStyle/>
          <a:p>
            <a:pPr algn="just"/>
            <a:r>
              <a:rPr lang="en-US" dirty="0"/>
              <a:t>The results of this study indicate several factors that are significantly associated with HIV antigen positivity in infants. </a:t>
            </a:r>
            <a:endParaRPr lang="en-US" dirty="0" smtClean="0"/>
          </a:p>
          <a:p>
            <a:pPr algn="just"/>
            <a:r>
              <a:rPr lang="en-US" dirty="0" smtClean="0"/>
              <a:t>These </a:t>
            </a:r>
            <a:r>
              <a:rPr lang="en-US" dirty="0"/>
              <a:t>factors include attendance at antenatal care (ANC), HIV status before pregnancy, prematurity, use of highly active antiretroviral therapy (HAART) during pregnancy, CD4 cell count, WHO HIV disease stage, education level, and adherence. </a:t>
            </a:r>
            <a:endParaRPr lang="en-US" dirty="0" smtClean="0"/>
          </a:p>
          <a:p>
            <a:pPr algn="just"/>
            <a:r>
              <a:rPr lang="en-US" dirty="0" smtClean="0"/>
              <a:t>Bivariate </a:t>
            </a:r>
            <a:r>
              <a:rPr lang="en-US" dirty="0"/>
              <a:t>and multivariate analyses support these associations, with some additional factors such as breastfeeding duration, maternal education, and HAART adherence also showing significance. </a:t>
            </a:r>
            <a:endParaRPr lang="en-US" dirty="0" smtClean="0"/>
          </a:p>
          <a:p>
            <a:pPr algn="just"/>
            <a:r>
              <a:rPr lang="en-US" dirty="0" smtClean="0"/>
              <a:t>The </a:t>
            </a:r>
            <a:r>
              <a:rPr lang="en-US" dirty="0"/>
              <a:t>use of HAART during pregnancy and higher CD4 cell counts reduce the likelihood of HIV transmission, while lower CD4 counts and being in WHO HIV disease stage III increase the </a:t>
            </a:r>
            <a:r>
              <a:rPr lang="en-US" dirty="0" smtClean="0"/>
              <a:t>likelihood.</a:t>
            </a:r>
          </a:p>
          <a:p>
            <a:pPr algn="just"/>
            <a:r>
              <a:rPr lang="en-US" dirty="0" smtClean="0"/>
              <a:t>These </a:t>
            </a:r>
            <a:r>
              <a:rPr lang="en-US" dirty="0"/>
              <a:t>findings provide insight into potential measures to prevent vertical transmission of HIV in infants. (Chi et al., 2017)</a:t>
            </a:r>
          </a:p>
        </p:txBody>
      </p:sp>
    </p:spTree>
    <p:extLst>
      <p:ext uri="{BB962C8B-B14F-4D97-AF65-F5344CB8AC3E}">
        <p14:creationId xmlns:p14="http://schemas.microsoft.com/office/powerpoint/2010/main" val="2300667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1295"/>
            <a:ext cx="10515600" cy="1054551"/>
          </a:xfrm>
        </p:spPr>
        <p:txBody>
          <a:bodyPr/>
          <a:lstStyle/>
          <a:p>
            <a:pPr algn="ctr"/>
            <a:r>
              <a:rPr lang="en-US" dirty="0" smtClean="0"/>
              <a:t>Conclusion </a:t>
            </a:r>
            <a:endParaRPr lang="en-US" dirty="0"/>
          </a:p>
        </p:txBody>
      </p:sp>
      <p:sp>
        <p:nvSpPr>
          <p:cNvPr id="3" name="Content Placeholder 2"/>
          <p:cNvSpPr>
            <a:spLocks noGrp="1"/>
          </p:cNvSpPr>
          <p:nvPr>
            <p:ph idx="1"/>
          </p:nvPr>
        </p:nvSpPr>
        <p:spPr>
          <a:xfrm>
            <a:off x="272955" y="1119116"/>
            <a:ext cx="11423175" cy="5186150"/>
          </a:xfrm>
        </p:spPr>
        <p:txBody>
          <a:bodyPr>
            <a:normAutofit fontScale="92500"/>
          </a:bodyPr>
          <a:lstStyle/>
          <a:p>
            <a:pPr algn="just">
              <a:lnSpc>
                <a:spcPct val="150000"/>
              </a:lnSpc>
            </a:pPr>
            <a:r>
              <a:rPr lang="en-US" dirty="0"/>
              <a:t>The results of the study indicate several significant factors associated with HIV antigen positivity and the transmission of HIV from mothers to their children. </a:t>
            </a:r>
            <a:endParaRPr lang="en-US" dirty="0" smtClean="0"/>
          </a:p>
          <a:p>
            <a:pPr algn="just">
              <a:lnSpc>
                <a:spcPct val="150000"/>
              </a:lnSpc>
            </a:pPr>
            <a:r>
              <a:rPr lang="en-US" dirty="0" smtClean="0"/>
              <a:t>These </a:t>
            </a:r>
            <a:r>
              <a:rPr lang="en-US" dirty="0"/>
              <a:t>factors include antenatal clinic attendance, HIV status before pregnancy, prematurity, HAART during pregnancy, CD4 cell count, WHO HIV disease stage, education level, and adherence to medication. </a:t>
            </a:r>
            <a:endParaRPr lang="en-US" dirty="0" smtClean="0"/>
          </a:p>
          <a:p>
            <a:pPr algn="just">
              <a:lnSpc>
                <a:spcPct val="150000"/>
              </a:lnSpc>
            </a:pPr>
            <a:r>
              <a:rPr lang="en-US" dirty="0" smtClean="0"/>
              <a:t>Various </a:t>
            </a:r>
            <a:r>
              <a:rPr lang="en-US" dirty="0"/>
              <a:t>preventive measures can be considered based on these findings.</a:t>
            </a:r>
          </a:p>
        </p:txBody>
      </p:sp>
    </p:spTree>
    <p:extLst>
      <p:ext uri="{BB962C8B-B14F-4D97-AF65-F5344CB8AC3E}">
        <p14:creationId xmlns:p14="http://schemas.microsoft.com/office/powerpoint/2010/main" val="4235499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523"/>
            <a:ext cx="10515600" cy="674048"/>
          </a:xfrm>
        </p:spPr>
        <p:txBody>
          <a:bodyPr>
            <a:normAutofit fontScale="90000"/>
          </a:bodyPr>
          <a:lstStyle/>
          <a:p>
            <a:pPr algn="ctr"/>
            <a:r>
              <a:rPr lang="en-US" dirty="0" smtClean="0"/>
              <a:t>Recommendation </a:t>
            </a:r>
            <a:endParaRPr lang="en-US" dirty="0"/>
          </a:p>
        </p:txBody>
      </p:sp>
      <p:sp>
        <p:nvSpPr>
          <p:cNvPr id="3" name="Content Placeholder 2"/>
          <p:cNvSpPr>
            <a:spLocks noGrp="1"/>
          </p:cNvSpPr>
          <p:nvPr>
            <p:ph idx="1"/>
          </p:nvPr>
        </p:nvSpPr>
        <p:spPr>
          <a:xfrm>
            <a:off x="395785" y="791570"/>
            <a:ext cx="11491415" cy="6066429"/>
          </a:xfrm>
        </p:spPr>
        <p:txBody>
          <a:bodyPr>
            <a:normAutofit fontScale="62500" lnSpcReduction="20000"/>
          </a:bodyPr>
          <a:lstStyle/>
          <a:p>
            <a:pPr algn="just"/>
            <a:r>
              <a:rPr lang="en-US" dirty="0" smtClean="0"/>
              <a:t>Encourage </a:t>
            </a:r>
            <a:r>
              <a:rPr lang="en-US" dirty="0"/>
              <a:t>and promote antenatal clinic attendance: The study showed that attending antenatal clinics regularly reduces the risk of HIV transmission. It is important to educate pregnant women about the benefits of attending these clinics and provide support to ensure their regular attendance</a:t>
            </a:r>
            <a:r>
              <a:rPr lang="en-US" dirty="0" smtClean="0"/>
              <a:t>.</a:t>
            </a:r>
            <a:endParaRPr lang="en-US" dirty="0"/>
          </a:p>
          <a:p>
            <a:pPr algn="just"/>
            <a:r>
              <a:rPr lang="en-US" dirty="0" smtClean="0"/>
              <a:t>Promote </a:t>
            </a:r>
            <a:r>
              <a:rPr lang="en-US" dirty="0"/>
              <a:t>HIV testing and knowledge of HIV status: The study found that knowledge of HIV status before pregnancy decreases the likelihood of HIV transmission. Therefore, it is crucial to encourage HIV testing and provide counseling services to pregnant women to ensure early identification and appropriate management</a:t>
            </a:r>
            <a:r>
              <a:rPr lang="en-US" dirty="0" smtClean="0"/>
              <a:t>.</a:t>
            </a:r>
            <a:endParaRPr lang="en-US" dirty="0"/>
          </a:p>
          <a:p>
            <a:pPr algn="just"/>
            <a:r>
              <a:rPr lang="en-US" dirty="0" smtClean="0"/>
              <a:t>Enhance </a:t>
            </a:r>
            <a:r>
              <a:rPr lang="en-US" dirty="0"/>
              <a:t>adherence to HAART: The study demonstrated that adherence to HAART during pregnancy significantly reduces the risk of HIV transmission. Health systems should focus on providing comprehensive support to pregnant women, including education, counseling, and monitoring of medication adherence to ensure optimal protection</a:t>
            </a:r>
            <a:r>
              <a:rPr lang="en-US" dirty="0" smtClean="0"/>
              <a:t>.</a:t>
            </a:r>
            <a:endParaRPr lang="en-US" dirty="0"/>
          </a:p>
          <a:p>
            <a:pPr algn="just"/>
            <a:r>
              <a:rPr lang="en-US" dirty="0" smtClean="0"/>
              <a:t>Focus </a:t>
            </a:r>
            <a:r>
              <a:rPr lang="en-US" dirty="0"/>
              <a:t>on CD4 cell count monitoring: The study showed that maintaining CD4 cell count between 200-500 cells/mm3 reduces the risk of HIV transmission. Therefore, regular monitoring of CD4 cell count is essential to identify potential risks and provide appropriate interventions</a:t>
            </a:r>
            <a:r>
              <a:rPr lang="en-US" dirty="0" smtClean="0"/>
              <a:t>.</a:t>
            </a:r>
            <a:endParaRPr lang="en-US" dirty="0"/>
          </a:p>
          <a:p>
            <a:pPr algn="just"/>
            <a:r>
              <a:rPr lang="en-US" dirty="0" smtClean="0"/>
              <a:t>Address </a:t>
            </a:r>
            <a:r>
              <a:rPr lang="en-US" dirty="0"/>
              <a:t>education and literacy gaps: The study found that mothers with no formal education have a higher risk of HIV transmission. Efforts should be made to improve education access and promote health literacy among women of reproductive age to reduce HIV transmission</a:t>
            </a:r>
            <a:r>
              <a:rPr lang="en-US" dirty="0" smtClean="0"/>
              <a:t>.</a:t>
            </a:r>
            <a:endParaRPr lang="en-US" dirty="0"/>
          </a:p>
          <a:p>
            <a:pPr algn="just"/>
            <a:r>
              <a:rPr lang="en-US" dirty="0" smtClean="0"/>
              <a:t>Consider </a:t>
            </a:r>
            <a:r>
              <a:rPr lang="en-US" dirty="0"/>
              <a:t>individualized care based on WHO HIV disease stage: The study revealed that mothers in stage III of HIV disease are more likely to transmit the virus. Healthcare providers should consider individualized care plans based on disease stage to optimize prevention strategies</a:t>
            </a:r>
            <a:r>
              <a:rPr lang="en-US" dirty="0" smtClean="0"/>
              <a:t>.</a:t>
            </a:r>
            <a:endParaRPr lang="en-US" dirty="0"/>
          </a:p>
          <a:p>
            <a:pPr algn="just"/>
            <a:r>
              <a:rPr lang="en-US" dirty="0" smtClean="0"/>
              <a:t>Strengthen </a:t>
            </a:r>
            <a:r>
              <a:rPr lang="en-US" dirty="0"/>
              <a:t>support for breastfeeding mothers: The study found that the duration of breastfeeding is associated with the risk of HIV transmission. Supportive measures, such as lactation counseling and guidance on safe breastfeeding practices, should be provided to HIV-positive mothers to minimize transmission risk.</a:t>
            </a:r>
          </a:p>
        </p:txBody>
      </p:sp>
    </p:spTree>
    <p:extLst>
      <p:ext uri="{BB962C8B-B14F-4D97-AF65-F5344CB8AC3E}">
        <p14:creationId xmlns:p14="http://schemas.microsoft.com/office/powerpoint/2010/main" val="31518871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0D458D-516D-22E5-A57C-9B00ABF6A747}"/>
              </a:ext>
            </a:extLst>
          </p:cNvPr>
          <p:cNvSpPr>
            <a:spLocks noGrp="1"/>
          </p:cNvSpPr>
          <p:nvPr>
            <p:ph type="title"/>
          </p:nvPr>
        </p:nvSpPr>
        <p:spPr>
          <a:xfrm>
            <a:off x="838200" y="272956"/>
            <a:ext cx="10515600" cy="232012"/>
          </a:xfrm>
        </p:spPr>
        <p:txBody>
          <a:bodyPr>
            <a:normAutofit fontScale="90000"/>
          </a:bodyPr>
          <a:lstStyle/>
          <a:p>
            <a:pPr algn="ctr"/>
            <a:r>
              <a:rPr lang="en-US" dirty="0"/>
              <a:t>References</a:t>
            </a:r>
            <a:endParaRPr lang="aa-ET" dirty="0"/>
          </a:p>
        </p:txBody>
      </p:sp>
      <p:sp>
        <p:nvSpPr>
          <p:cNvPr id="3" name="Content Placeholder 2">
            <a:extLst>
              <a:ext uri="{FF2B5EF4-FFF2-40B4-BE49-F238E27FC236}">
                <a16:creationId xmlns:a16="http://schemas.microsoft.com/office/drawing/2014/main" xmlns="" id="{3AAE0594-C7AC-417B-5E8A-D4F74856DAE9}"/>
              </a:ext>
            </a:extLst>
          </p:cNvPr>
          <p:cNvSpPr>
            <a:spLocks noGrp="1"/>
          </p:cNvSpPr>
          <p:nvPr>
            <p:ph idx="1"/>
          </p:nvPr>
        </p:nvSpPr>
        <p:spPr>
          <a:xfrm>
            <a:off x="259307" y="504968"/>
            <a:ext cx="11764371" cy="5950423"/>
          </a:xfrm>
        </p:spPr>
        <p:txBody>
          <a:bodyPr>
            <a:noAutofit/>
          </a:bodyPr>
          <a:lstStyle/>
          <a:p>
            <a:r>
              <a:rPr lang="en-US" sz="800" dirty="0"/>
              <a:t>REFERENCES</a:t>
            </a:r>
          </a:p>
          <a:p>
            <a:r>
              <a:rPr lang="en-US" sz="800" dirty="0"/>
              <a:t>AVERT. An international AIDS Charity. Avert.org Worldwide HIV/AIDS epidemic statistics, 2005, http://www.avert.org/worlstatinfo.htm.</a:t>
            </a:r>
          </a:p>
          <a:p>
            <a:r>
              <a:rPr lang="en-US" sz="800" dirty="0" err="1"/>
              <a:t>Becquet</a:t>
            </a:r>
            <a:r>
              <a:rPr lang="en-US" sz="800" dirty="0"/>
              <a:t>, M. Marston, F. </a:t>
            </a:r>
            <a:r>
              <a:rPr lang="en-US" sz="800" dirty="0" err="1"/>
              <a:t>Dabis</a:t>
            </a:r>
            <a:r>
              <a:rPr lang="en-US" sz="800" dirty="0"/>
              <a:t>, L. H. Moulton, G. Gray, et al., “Children Who Acquire HIV Infection </a:t>
            </a:r>
            <a:r>
              <a:rPr lang="en-US" sz="800" dirty="0" err="1"/>
              <a:t>Perinatally</a:t>
            </a:r>
            <a:r>
              <a:rPr lang="en-US" sz="800" dirty="0"/>
              <a:t> Are at Higher Risk of Early Death than Those Acquiring HIV through Breastmilk: A Meta-Analysis,” </a:t>
            </a:r>
            <a:r>
              <a:rPr lang="en-US" sz="800" dirty="0" err="1"/>
              <a:t>PLoS</a:t>
            </a:r>
            <a:r>
              <a:rPr lang="en-US" sz="800" dirty="0"/>
              <a:t> One, Vol. 7, No. 2, 2012, p. e28510.</a:t>
            </a:r>
          </a:p>
          <a:p>
            <a:r>
              <a:rPr lang="en-US" sz="800" dirty="0" err="1"/>
              <a:t>Becquet</a:t>
            </a:r>
            <a:r>
              <a:rPr lang="en-US" sz="800" dirty="0"/>
              <a:t>, R., </a:t>
            </a:r>
            <a:r>
              <a:rPr lang="en-US" sz="800" dirty="0" err="1"/>
              <a:t>Bequet</a:t>
            </a:r>
            <a:r>
              <a:rPr lang="en-US" sz="800" dirty="0"/>
              <a:t>, L., </a:t>
            </a:r>
            <a:r>
              <a:rPr lang="en-US" sz="800" dirty="0" err="1"/>
              <a:t>Ekouevi</a:t>
            </a:r>
            <a:r>
              <a:rPr lang="en-US" sz="800" dirty="0"/>
              <a:t>, D. K., </a:t>
            </a:r>
            <a:r>
              <a:rPr lang="en-US" sz="800" dirty="0" err="1"/>
              <a:t>Viho</a:t>
            </a:r>
            <a:r>
              <a:rPr lang="en-US" sz="800" dirty="0"/>
              <a:t>, I., </a:t>
            </a:r>
            <a:r>
              <a:rPr lang="en-US" sz="800" dirty="0" err="1"/>
              <a:t>Sakarovitch</a:t>
            </a:r>
            <a:r>
              <a:rPr lang="en-US" sz="800" dirty="0"/>
              <a:t>, C., </a:t>
            </a:r>
            <a:r>
              <a:rPr lang="en-US" sz="800" dirty="0" err="1"/>
              <a:t>Fassinou</a:t>
            </a:r>
            <a:r>
              <a:rPr lang="en-US" sz="800" dirty="0"/>
              <a:t>, P., ... &amp; ANRS 1201/1202 </a:t>
            </a:r>
            <a:r>
              <a:rPr lang="en-US" sz="800" dirty="0" err="1"/>
              <a:t>Ditrame</a:t>
            </a:r>
            <a:r>
              <a:rPr lang="en-US" sz="800" dirty="0"/>
              <a:t> Plus Study Group. (2007). Two-year morbidity–mortality and alternatives to prolonged breast-feeding among children born to HIV-infected mothers in Côte d'Ivoire. </a:t>
            </a:r>
            <a:r>
              <a:rPr lang="en-US" sz="800" dirty="0" err="1"/>
              <a:t>PLoS</a:t>
            </a:r>
            <a:r>
              <a:rPr lang="en-US" sz="800" dirty="0"/>
              <a:t> medicine, 4(1), e17.</a:t>
            </a:r>
          </a:p>
          <a:p>
            <a:r>
              <a:rPr lang="en-US" sz="800" dirty="0" err="1"/>
              <a:t>Bhutta</a:t>
            </a:r>
            <a:r>
              <a:rPr lang="en-US" sz="800" dirty="0"/>
              <a:t> ZA, Ahmed T, Black RE, et al. What works? Interventions for maternal and child under nutrition and survival. Lancet. Feb 2 2008; 371(9610):417-440.</a:t>
            </a:r>
          </a:p>
          <a:p>
            <a:r>
              <a:rPr lang="en-US" sz="800" dirty="0" err="1"/>
              <a:t>Bomsel</a:t>
            </a:r>
            <a:r>
              <a:rPr lang="en-US" sz="800" dirty="0"/>
              <a:t> M, </a:t>
            </a:r>
            <a:r>
              <a:rPr lang="en-US" sz="800" dirty="0" err="1"/>
              <a:t>Alfsen</a:t>
            </a:r>
            <a:r>
              <a:rPr lang="en-US" sz="800" dirty="0"/>
              <a:t> A. Entry of viruses through the epithelial barrier: Pathogenic trickery. Nat Rev </a:t>
            </a:r>
            <a:r>
              <a:rPr lang="en-US" sz="800" dirty="0" err="1"/>
              <a:t>Mol</a:t>
            </a:r>
            <a:r>
              <a:rPr lang="en-US" sz="800" dirty="0"/>
              <a:t> Cell Biol. 2003; 4(1):57–68. </a:t>
            </a:r>
            <a:r>
              <a:rPr lang="en-US" sz="800" dirty="0" err="1"/>
              <a:t>doi</a:t>
            </a:r>
            <a:r>
              <a:rPr lang="en-US" sz="800" dirty="0"/>
              <a:t>: 10.1038/Nrm1005 PMID: ISI:000180170900016.</a:t>
            </a:r>
          </a:p>
          <a:p>
            <a:r>
              <a:rPr lang="en-US" sz="800" dirty="0" err="1"/>
              <a:t>Bomsel</a:t>
            </a:r>
            <a:r>
              <a:rPr lang="en-US" sz="800" dirty="0"/>
              <a:t> M, </a:t>
            </a:r>
            <a:r>
              <a:rPr lang="en-US" sz="800" dirty="0" err="1"/>
              <a:t>Heyman</a:t>
            </a:r>
            <a:r>
              <a:rPr lang="en-US" sz="800" dirty="0"/>
              <a:t> M, </a:t>
            </a:r>
            <a:r>
              <a:rPr lang="en-US" sz="800" dirty="0" err="1"/>
              <a:t>Hocini</a:t>
            </a:r>
            <a:r>
              <a:rPr lang="en-US" sz="800" dirty="0"/>
              <a:t> H, </a:t>
            </a:r>
            <a:r>
              <a:rPr lang="en-US" sz="800" dirty="0" err="1"/>
              <a:t>Lagaye</a:t>
            </a:r>
            <a:r>
              <a:rPr lang="en-US" sz="800" dirty="0"/>
              <a:t> S, </a:t>
            </a:r>
            <a:r>
              <a:rPr lang="en-US" sz="800" dirty="0" err="1"/>
              <a:t>Belec</a:t>
            </a:r>
            <a:r>
              <a:rPr lang="en-US" sz="800" dirty="0"/>
              <a:t> L, </a:t>
            </a:r>
            <a:r>
              <a:rPr lang="en-US" sz="800" dirty="0" err="1"/>
              <a:t>Dupont</a:t>
            </a:r>
            <a:r>
              <a:rPr lang="en-US" sz="800" dirty="0"/>
              <a:t> C, et al. Intracellular neutralization of HIV transcytosis across tight epithelial barriers by anti-HIV envelope protein </a:t>
            </a:r>
            <a:r>
              <a:rPr lang="en-US" sz="800" dirty="0" err="1"/>
              <a:t>dIgA</a:t>
            </a:r>
            <a:r>
              <a:rPr lang="en-US" sz="800" dirty="0"/>
              <a:t> or IgM. Immunity. (2008); 9 (2):277–87. </a:t>
            </a:r>
            <a:r>
              <a:rPr lang="en-US" sz="800" dirty="0" err="1"/>
              <a:t>Epub</a:t>
            </a:r>
            <a:r>
              <a:rPr lang="en-US" sz="800" dirty="0"/>
              <a:t> 1998/09/05. PMID: 9729048.</a:t>
            </a:r>
          </a:p>
          <a:p>
            <a:r>
              <a:rPr lang="en-US" sz="800" dirty="0" err="1"/>
              <a:t>Becquet</a:t>
            </a:r>
            <a:r>
              <a:rPr lang="en-US" sz="800" dirty="0"/>
              <a:t>, R., Marston, M., </a:t>
            </a:r>
            <a:r>
              <a:rPr lang="en-US" sz="800" dirty="0" err="1"/>
              <a:t>Dabis</a:t>
            </a:r>
            <a:r>
              <a:rPr lang="en-US" sz="800" dirty="0"/>
              <a:t>, F., Moulton, L. H., Gray, G., Coovadia, H. M., ... &amp; </a:t>
            </a:r>
            <a:r>
              <a:rPr lang="en-US" sz="800" dirty="0" err="1"/>
              <a:t>Kilewo</a:t>
            </a:r>
            <a:r>
              <a:rPr lang="en-US" sz="800" dirty="0"/>
              <a:t>, C. (2012). Children who acquire HIV infection </a:t>
            </a:r>
            <a:r>
              <a:rPr lang="en-US" sz="800" dirty="0" err="1"/>
              <a:t>perinatally</a:t>
            </a:r>
            <a:r>
              <a:rPr lang="en-US" sz="800" dirty="0"/>
              <a:t> are at higher risk of early death than those acquiring infection through breastmilk: a meta-analysis. </a:t>
            </a:r>
            <a:r>
              <a:rPr lang="en-US" sz="800" dirty="0" err="1"/>
              <a:t>PloS</a:t>
            </a:r>
            <a:r>
              <a:rPr lang="en-US" sz="800" dirty="0"/>
              <a:t> one, 7(2), e28510.</a:t>
            </a:r>
          </a:p>
          <a:p>
            <a:r>
              <a:rPr lang="en-US" sz="800" dirty="0" err="1"/>
              <a:t>Berhan</a:t>
            </a:r>
            <a:r>
              <a:rPr lang="en-US" sz="800" dirty="0"/>
              <a:t>, Z., </a:t>
            </a:r>
            <a:r>
              <a:rPr lang="en-US" sz="800" dirty="0" err="1"/>
              <a:t>Abebe</a:t>
            </a:r>
            <a:r>
              <a:rPr lang="en-US" sz="800" dirty="0"/>
              <a:t>, F., </a:t>
            </a:r>
            <a:r>
              <a:rPr lang="en-US" sz="800" dirty="0" err="1"/>
              <a:t>Gedefaw</a:t>
            </a:r>
            <a:r>
              <a:rPr lang="en-US" sz="800" dirty="0"/>
              <a:t>, M., </a:t>
            </a:r>
            <a:r>
              <a:rPr lang="en-US" sz="800" dirty="0" err="1"/>
              <a:t>Tesfa</a:t>
            </a:r>
            <a:r>
              <a:rPr lang="en-US" sz="800" dirty="0"/>
              <a:t>, M., </a:t>
            </a:r>
            <a:r>
              <a:rPr lang="en-US" sz="800" dirty="0" err="1"/>
              <a:t>Assefa</a:t>
            </a:r>
            <a:r>
              <a:rPr lang="en-US" sz="800" dirty="0"/>
              <a:t>, M., &amp; </a:t>
            </a:r>
            <a:r>
              <a:rPr lang="en-US" sz="800" dirty="0" err="1"/>
              <a:t>Tafere</a:t>
            </a:r>
            <a:r>
              <a:rPr lang="en-US" sz="800" dirty="0"/>
              <a:t>, Y. (2014). Risk of HIV and associated factors among infants born to HIV positive women in Amhara region, Ethiopia: a facility based retrospective study. BMC research notes, 7(1), 876.</a:t>
            </a:r>
          </a:p>
          <a:p>
            <a:r>
              <a:rPr lang="en-US" sz="800" dirty="0" err="1"/>
              <a:t>Coutsoudis</a:t>
            </a:r>
            <a:r>
              <a:rPr lang="en-US" sz="800" dirty="0"/>
              <a:t> A, Pillay A, Kuhn L , Spooner E, Tsai EW, Coovadia H. Methods of feeding  and  transmission  of  HIV-1  from  mothers  to  children  by  15  months  of age: prospective cohort study from Durban, South Africa. AIDS. 2001;115:379- 387.</a:t>
            </a:r>
          </a:p>
          <a:p>
            <a:r>
              <a:rPr lang="en-US" sz="800" dirty="0" err="1"/>
              <a:t>Coutsoudis</a:t>
            </a:r>
            <a:r>
              <a:rPr lang="en-US" sz="800" dirty="0"/>
              <a:t> A, Pillay A, Kuhn L , Spooner E, Tsai EW, Coovadia H. Methods of feeding  and  transmission  of  HIV-1  from  mothers  to  children  by  15  months  of age: prospective cohort study from Durban, South Africa. AIDS. 2009;115:379- 387.</a:t>
            </a:r>
          </a:p>
          <a:p>
            <a:r>
              <a:rPr lang="en-US" sz="800" dirty="0" err="1"/>
              <a:t>Cournil</a:t>
            </a:r>
            <a:r>
              <a:rPr lang="en-US" sz="800" dirty="0"/>
              <a:t> A, De </a:t>
            </a:r>
            <a:r>
              <a:rPr lang="en-US" sz="800" dirty="0" err="1"/>
              <a:t>Vincenzi</a:t>
            </a:r>
            <a:r>
              <a:rPr lang="en-US" sz="800" dirty="0"/>
              <a:t> I, Gaillard P, et al.; </a:t>
            </a:r>
            <a:r>
              <a:rPr lang="en-US" sz="800" dirty="0" err="1"/>
              <a:t>Kesho</a:t>
            </a:r>
            <a:r>
              <a:rPr lang="en-US" sz="800" dirty="0"/>
              <a:t> Bora Study Group. Relationship between mortality and feeding modality among children born to HIV-infected mothers in a research setting: the </a:t>
            </a:r>
            <a:r>
              <a:rPr lang="en-US" sz="800" dirty="0" err="1"/>
              <a:t>Kesho</a:t>
            </a:r>
            <a:r>
              <a:rPr lang="en-US" sz="800" dirty="0"/>
              <a:t> Bora study. AIDS. 2013;27:1621–1630.</a:t>
            </a:r>
          </a:p>
          <a:p>
            <a:r>
              <a:rPr lang="en-US" sz="800" dirty="0"/>
              <a:t>C King, C., R Ellington, S., &amp; P </a:t>
            </a:r>
            <a:r>
              <a:rPr lang="en-US" sz="800" dirty="0" err="1"/>
              <a:t>Kourtis</a:t>
            </a:r>
            <a:r>
              <a:rPr lang="en-US" sz="800" dirty="0"/>
              <a:t>, A. (2013). The role of co-infections in mother-to-child transmission of HIV. Current HIV research, 11(1), 10-23</a:t>
            </a:r>
            <a:r>
              <a:rPr lang="en-US" sz="800" dirty="0" smtClean="0"/>
              <a:t>.</a:t>
            </a:r>
          </a:p>
          <a:p>
            <a:r>
              <a:rPr lang="en-US" sz="800" dirty="0"/>
              <a:t>Chi, B. H., Mutale, W., </a:t>
            </a:r>
            <a:r>
              <a:rPr lang="en-US" sz="800" dirty="0" err="1"/>
              <a:t>Lembalemba</a:t>
            </a:r>
            <a:r>
              <a:rPr lang="en-US" sz="800" dirty="0"/>
              <a:t>, M. K., Bolton-Moore, C., Stringer, J. S. A., Reid, S. E., ... &amp; </a:t>
            </a:r>
            <a:r>
              <a:rPr lang="en-US" sz="800" dirty="0" err="1"/>
              <a:t>Chintu</a:t>
            </a:r>
            <a:r>
              <a:rPr lang="en-US" sz="800" dirty="0"/>
              <a:t>, N. T. (2017). Association of HIV antigen positivity with carriage duration in untreated infants and children older than 18 months: implications for diagnosis in the era of antiretroviral therapy scale-up. The Pediatric infectious disease journal, 36(9), 872-876.CSA, ICF International: Ethiopia Demographic and Health Survey (2011), Addis Ababa, Ethiopia and Calverton, Maryland, USA: Central Statistical Agency and ICF International.</a:t>
            </a:r>
          </a:p>
          <a:p>
            <a:r>
              <a:rPr lang="en-US" sz="800" dirty="0"/>
              <a:t>Coovadia HM, Rollins NC, Bland RM, Little K, </a:t>
            </a:r>
            <a:r>
              <a:rPr lang="en-US" sz="800" dirty="0" err="1"/>
              <a:t>Coutsoudis</a:t>
            </a:r>
            <a:r>
              <a:rPr lang="en-US" sz="800" dirty="0"/>
              <a:t> A, </a:t>
            </a:r>
            <a:r>
              <a:rPr lang="en-US" sz="800" dirty="0" err="1"/>
              <a:t>Bennish</a:t>
            </a:r>
            <a:r>
              <a:rPr lang="en-US" sz="800" dirty="0"/>
              <a:t> ML. Mother-to-child transmission of HIV-1 infection during exclusive breastfeeding in the first 6 months of life: an intervention cohort study. Lancet. 2009;369(9567):1107-16. </a:t>
            </a:r>
            <a:r>
              <a:rPr lang="en-US" sz="800" dirty="0" err="1"/>
              <a:t>Epub</a:t>
            </a:r>
            <a:r>
              <a:rPr lang="en-US" sz="800" dirty="0"/>
              <a:t> 2010/04/03.</a:t>
            </a:r>
          </a:p>
          <a:p>
            <a:r>
              <a:rPr lang="en-US" sz="800" dirty="0"/>
              <a:t>Creek TL, Sherman GG, </a:t>
            </a:r>
            <a:r>
              <a:rPr lang="en-US" sz="800" dirty="0" err="1"/>
              <a:t>Nkengasong</a:t>
            </a:r>
            <a:r>
              <a:rPr lang="en-US" sz="800" dirty="0"/>
              <a:t> J, Lu L, </a:t>
            </a:r>
            <a:r>
              <a:rPr lang="en-US" sz="800" dirty="0" err="1"/>
              <a:t>Finkbeiner</a:t>
            </a:r>
            <a:r>
              <a:rPr lang="en-US" sz="800" dirty="0"/>
              <a:t> T, Fowler MG, et al.</a:t>
            </a:r>
          </a:p>
          <a:p>
            <a:r>
              <a:rPr lang="en-US" sz="800" dirty="0"/>
              <a:t>Infant human immunodeficiency virus diagnosis in resource-limited settings:</a:t>
            </a:r>
          </a:p>
          <a:p>
            <a:r>
              <a:rPr lang="en-US" sz="800" dirty="0"/>
              <a:t>issues, technologies, and country experiences. Am J </a:t>
            </a:r>
            <a:r>
              <a:rPr lang="en-US" sz="800" dirty="0" err="1"/>
              <a:t>Obstet</a:t>
            </a:r>
            <a:r>
              <a:rPr lang="en-US" sz="800" dirty="0"/>
              <a:t> Gynecol. 2007;</a:t>
            </a:r>
          </a:p>
          <a:p>
            <a:r>
              <a:rPr lang="en-US" sz="800" dirty="0"/>
              <a:t>197(3	</a:t>
            </a:r>
            <a:r>
              <a:rPr lang="en-US" sz="800" dirty="0" err="1"/>
              <a:t>Suppl</a:t>
            </a:r>
            <a:r>
              <a:rPr lang="en-US" sz="800" dirty="0"/>
              <a:t>):S64–71.</a:t>
            </a:r>
          </a:p>
          <a:p>
            <a:r>
              <a:rPr lang="en-US" sz="800" dirty="0" err="1"/>
              <a:t>Cournil</a:t>
            </a:r>
            <a:r>
              <a:rPr lang="en-US" sz="800" dirty="0"/>
              <a:t> A, De </a:t>
            </a:r>
            <a:r>
              <a:rPr lang="en-US" sz="800" dirty="0" err="1"/>
              <a:t>Vincenzi</a:t>
            </a:r>
            <a:r>
              <a:rPr lang="en-US" sz="800" dirty="0"/>
              <a:t> I, Gaillard P, et al.; </a:t>
            </a:r>
            <a:r>
              <a:rPr lang="en-US" sz="800" dirty="0" err="1"/>
              <a:t>Kesho</a:t>
            </a:r>
            <a:r>
              <a:rPr lang="en-US" sz="800" dirty="0"/>
              <a:t> Bora Study Group. Relationship between mortality and feeding modality among children born to HIV-infected mothers in a research setting: the </a:t>
            </a:r>
            <a:r>
              <a:rPr lang="en-US" sz="800" dirty="0" err="1"/>
              <a:t>Kesho</a:t>
            </a:r>
            <a:r>
              <a:rPr lang="en-US" sz="800" dirty="0"/>
              <a:t> Bora study. AIDS. (2013); 27:1621–1630.</a:t>
            </a:r>
          </a:p>
          <a:p>
            <a:r>
              <a:rPr lang="en-US" sz="800" dirty="0"/>
              <a:t>Coovadia HM, Rollins NC, Bland RM, et al. Mother-to-child transmission of HIV-1 infection during exclusive breastfeeding in the first 6 months of life: an intervention cohort study. Lancet. 2007;369:1107–1116.</a:t>
            </a:r>
          </a:p>
          <a:p>
            <a:r>
              <a:rPr lang="en-US" sz="800" dirty="0"/>
              <a:t>C. Diaz, C. Hanson, E. R. Cooper, J. S. Read, J. </a:t>
            </a:r>
            <a:r>
              <a:rPr lang="en-US" sz="800" dirty="0" err="1"/>
              <a:t>Watson,H</a:t>
            </a:r>
            <a:r>
              <a:rPr lang="en-US" sz="800" dirty="0"/>
              <a:t>. A. Mendez, J. Pitt, K. Rich, V. </a:t>
            </a:r>
            <a:r>
              <a:rPr lang="en-US" sz="800" dirty="0" err="1"/>
              <a:t>Smeriglio</a:t>
            </a:r>
            <a:r>
              <a:rPr lang="en-US" sz="800" dirty="0"/>
              <a:t> and J. F. Lew, “Disease Progression in a Cohort of Infants with Vertically Acquired HIV Infection Observed from Birth: The Women and Infants Transmission Study (WITS),” Journal of Acquired Immune Deficiency Syndromes and Human </a:t>
            </a:r>
            <a:r>
              <a:rPr lang="en-US" sz="800" dirty="0" err="1"/>
              <a:t>Retrovirology</a:t>
            </a:r>
            <a:r>
              <a:rPr lang="en-US" sz="800" dirty="0"/>
              <a:t>, Vol. 18, No. 3, 1998, pp. 221-228. doi:10.1097/00042560-199807010-00004</a:t>
            </a:r>
          </a:p>
          <a:p>
            <a:r>
              <a:rPr lang="en-US" sz="800" dirty="0"/>
              <a:t>Creek TL, Sherman GG, </a:t>
            </a:r>
            <a:r>
              <a:rPr lang="en-US" sz="800" dirty="0" err="1"/>
              <a:t>Nkengasong</a:t>
            </a:r>
            <a:r>
              <a:rPr lang="en-US" sz="800" dirty="0"/>
              <a:t> J, Lu L, </a:t>
            </a:r>
            <a:r>
              <a:rPr lang="en-US" sz="800" dirty="0" err="1"/>
              <a:t>Finkbeiner</a:t>
            </a:r>
            <a:r>
              <a:rPr lang="en-US" sz="800" dirty="0"/>
              <a:t> T, Fowler MG, et </a:t>
            </a:r>
            <a:r>
              <a:rPr lang="en-US" sz="800" dirty="0" err="1"/>
              <a:t>al.Infant</a:t>
            </a:r>
            <a:r>
              <a:rPr lang="en-US" sz="800" dirty="0"/>
              <a:t> human immunodeficiency virus diagnosis in resource-limited settings: issues, technologies, and country experiences. Am J </a:t>
            </a:r>
            <a:r>
              <a:rPr lang="en-US" sz="800" dirty="0" err="1"/>
              <a:t>Obstet</a:t>
            </a:r>
            <a:r>
              <a:rPr lang="en-US" sz="800" dirty="0"/>
              <a:t> Gynecol. 2007; 197(3 </a:t>
            </a:r>
            <a:r>
              <a:rPr lang="en-US" sz="800" dirty="0" err="1"/>
              <a:t>Suppl</a:t>
            </a:r>
            <a:r>
              <a:rPr lang="en-US" sz="800" dirty="0"/>
              <a:t>):S64–71</a:t>
            </a:r>
            <a:r>
              <a:rPr lang="en-US" sz="800" dirty="0" smtClean="0"/>
              <a:t>.</a:t>
            </a:r>
            <a:endParaRPr lang="en-US" sz="800" dirty="0"/>
          </a:p>
        </p:txBody>
      </p:sp>
    </p:spTree>
    <p:extLst>
      <p:ext uri="{BB962C8B-B14F-4D97-AF65-F5344CB8AC3E}">
        <p14:creationId xmlns:p14="http://schemas.microsoft.com/office/powerpoint/2010/main" val="36860429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857CBE-3853-81F4-65D5-6754D734768F}"/>
              </a:ext>
            </a:extLst>
          </p:cNvPr>
          <p:cNvSpPr>
            <a:spLocks noGrp="1"/>
          </p:cNvSpPr>
          <p:nvPr>
            <p:ph type="title"/>
          </p:nvPr>
        </p:nvSpPr>
        <p:spPr>
          <a:xfrm>
            <a:off x="838200" y="281296"/>
            <a:ext cx="10515600" cy="783230"/>
          </a:xfrm>
        </p:spPr>
        <p:txBody>
          <a:bodyPr/>
          <a:lstStyle/>
          <a:p>
            <a:r>
              <a:rPr lang="en-US" dirty="0"/>
              <a:t>Acknowledgements</a:t>
            </a:r>
            <a:endParaRPr lang="aa-ET" dirty="0"/>
          </a:p>
        </p:txBody>
      </p:sp>
      <p:sp>
        <p:nvSpPr>
          <p:cNvPr id="3" name="Content Placeholder 2">
            <a:extLst>
              <a:ext uri="{FF2B5EF4-FFF2-40B4-BE49-F238E27FC236}">
                <a16:creationId xmlns:a16="http://schemas.microsoft.com/office/drawing/2014/main" xmlns="" id="{68D8769A-1D59-2867-EFC1-2170FEAC08D8}"/>
              </a:ext>
            </a:extLst>
          </p:cNvPr>
          <p:cNvSpPr>
            <a:spLocks noGrp="1"/>
          </p:cNvSpPr>
          <p:nvPr>
            <p:ph idx="1"/>
          </p:nvPr>
        </p:nvSpPr>
        <p:spPr>
          <a:xfrm>
            <a:off x="218363" y="1064526"/>
            <a:ext cx="11859905" cy="4490113"/>
          </a:xfrm>
        </p:spPr>
        <p:txBody>
          <a:bodyPr/>
          <a:lstStyle/>
          <a:p>
            <a:pPr marL="0" indent="0" algn="just">
              <a:buNone/>
            </a:pPr>
            <a:r>
              <a:rPr lang="en-US" dirty="0"/>
              <a:t>I would like to express my sincere gratitude to the following individuals and organizations for their invaluable contribution and support throughout the completion of this </a:t>
            </a:r>
            <a:r>
              <a:rPr lang="en-US" dirty="0" smtClean="0"/>
              <a:t>study.</a:t>
            </a:r>
          </a:p>
          <a:p>
            <a:pPr marL="0" indent="0" algn="just">
              <a:buNone/>
            </a:pPr>
            <a:r>
              <a:rPr lang="en-US" dirty="0" smtClean="0"/>
              <a:t>1. Professor </a:t>
            </a:r>
            <a:r>
              <a:rPr lang="en-US" dirty="0"/>
              <a:t>Simon Karanja </a:t>
            </a:r>
          </a:p>
          <a:p>
            <a:pPr marL="0" indent="0" algn="just">
              <a:buNone/>
            </a:pPr>
            <a:r>
              <a:rPr lang="en-US" dirty="0" smtClean="0"/>
              <a:t>         Jomo </a:t>
            </a:r>
            <a:r>
              <a:rPr lang="en-US" dirty="0"/>
              <a:t>Kenyatta University of Agriculture &amp; Technology</a:t>
            </a:r>
          </a:p>
          <a:p>
            <a:pPr marL="0" indent="0" algn="just">
              <a:buNone/>
            </a:pPr>
            <a:r>
              <a:rPr lang="en-US" dirty="0" smtClean="0"/>
              <a:t>2. Late </a:t>
            </a:r>
            <a:r>
              <a:rPr lang="en-US" dirty="0"/>
              <a:t>Dr. Peter Wanzala </a:t>
            </a:r>
          </a:p>
          <a:p>
            <a:pPr marL="0" indent="0" algn="just">
              <a:buNone/>
            </a:pPr>
            <a:r>
              <a:rPr lang="en-US" dirty="0" smtClean="0"/>
              <a:t>    Institute </a:t>
            </a:r>
            <a:r>
              <a:rPr lang="en-US" dirty="0"/>
              <a:t>of Tropical Medicine and Infectious Diseases (ITROMID</a:t>
            </a:r>
            <a:r>
              <a:rPr lang="en-US" dirty="0" smtClean="0"/>
              <a:t>)</a:t>
            </a:r>
          </a:p>
          <a:p>
            <a:pPr marL="0" indent="0" algn="just">
              <a:buNone/>
            </a:pPr>
            <a:r>
              <a:rPr lang="en-US" dirty="0" smtClean="0"/>
              <a:t>3.Kemri Graduate School</a:t>
            </a:r>
          </a:p>
          <a:p>
            <a:endParaRPr lang="aa-ET" dirty="0"/>
          </a:p>
        </p:txBody>
      </p:sp>
    </p:spTree>
    <p:extLst>
      <p:ext uri="{BB962C8B-B14F-4D97-AF65-F5344CB8AC3E}">
        <p14:creationId xmlns:p14="http://schemas.microsoft.com/office/powerpoint/2010/main" val="7570108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3735</TotalTime>
  <Words>3802</Words>
  <Application>Microsoft Office PowerPoint</Application>
  <PresentationFormat>Widescreen</PresentationFormat>
  <Paragraphs>401</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Segoe UI</vt:lpstr>
      <vt:lpstr>Times New Roman</vt:lpstr>
      <vt:lpstr>Office Theme</vt:lpstr>
      <vt:lpstr>MODELLING FACTORS ASSOCIATED WITH HIV-FREE SURVIVAL AMONG EXPOSED INFANTS IN HOMA BAY COUNTY</vt:lpstr>
      <vt:lpstr>Background</vt:lpstr>
      <vt:lpstr>Problem Statement</vt:lpstr>
      <vt:lpstr>Justification</vt:lpstr>
      <vt:lpstr>Specific Objectives</vt:lpstr>
      <vt:lpstr>Conclusion</vt:lpstr>
      <vt:lpstr>Methodology</vt:lpstr>
      <vt:lpstr>Sample size determination </vt:lpstr>
      <vt:lpstr>Data Analysis </vt:lpstr>
      <vt:lpstr>Data Analysis Cont’d</vt:lpstr>
      <vt:lpstr>TABLE 4.1 Association of Various Potential Risk Factors to HIV Antigen Positivity(ꭕ2)</vt:lpstr>
      <vt:lpstr>PowerPoint Presentation</vt:lpstr>
      <vt:lpstr>Table 4.2 : FACTORS ASSOCIATED WITH HIV ANTIGEN POSITIVITY BY BIVARIATE LOGISTIC REGRESSION</vt:lpstr>
      <vt:lpstr>PowerPoint Presentation</vt:lpstr>
      <vt:lpstr>Table 4.3 :Factors Associated With HIV Antigen Positivity by Multivariate Logistic Regression</vt:lpstr>
      <vt:lpstr>PowerPoint Presentation</vt:lpstr>
      <vt:lpstr>Table 4.4 : Factors Associated With HIV Antigen Positivity by Bivariate Cox PH Model</vt:lpstr>
      <vt:lpstr>Table 4.5 :Factors Associated with HIV Antigen Positivity by multivariate Cox PH Model</vt:lpstr>
      <vt:lpstr>PowerPoint Presentation</vt:lpstr>
      <vt:lpstr>Discussion </vt:lpstr>
      <vt:lpstr>Conclusion </vt:lpstr>
      <vt:lpstr>Recommendation </vt:lpstr>
      <vt:lpstr>References</vt:lpstr>
      <vt:lpstr>Acknowledgements</vt:lpstr>
    </vt:vector>
  </TitlesOfParts>
  <Company>rg-adguard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Charles Syengo</dc:creator>
  <cp:lastModifiedBy>Augustine Gatimu</cp:lastModifiedBy>
  <cp:revision>117</cp:revision>
  <dcterms:created xsi:type="dcterms:W3CDTF">2017-07-20T02:49:31Z</dcterms:created>
  <dcterms:modified xsi:type="dcterms:W3CDTF">2024-03-23T19:17:30Z</dcterms:modified>
</cp:coreProperties>
</file>