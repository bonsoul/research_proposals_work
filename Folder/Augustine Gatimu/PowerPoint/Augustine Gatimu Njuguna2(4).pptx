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omments/modernComment_115_6C031D9B.xml" ContentType="application/vnd.ms-powerpoint.comments+xml"/>
  <Override PartName="/ppt/comments/modernComment_121_CE2A2F68.xml" ContentType="application/vnd.ms-powerpoint.comments+xml"/>
  <Override PartName="/ppt/comments/modernComment_122_DA7EA83E.xml" ContentType="application/vnd.ms-powerpoint.comments+xml"/>
  <Override PartName="/ppt/comments/modernComment_117_C5FDA93A.xml" ContentType="application/vnd.ms-powerpoint.comments+xml"/>
  <Override PartName="/ppt/comments/modernComment_119_6FDB64D1.xml" ContentType="application/vnd.ms-powerpoint.comments+xml"/>
  <Override PartName="/ppt/comments/modernComment_131_B9408812.xml" ContentType="application/vnd.ms-powerpoint.comments+xml"/>
  <Override PartName="/ppt/comments/modernComment_137_E3E548D7.xml" ContentType="application/vnd.ms-powerpoint.comments+xml"/>
  <Override PartName="/ppt/comments/modernComment_11B_C81DCF66.xml" ContentType="application/vnd.ms-powerpoint.comments+xml"/>
  <Override PartName="/ppt/comments/modernComment_129_CA821EDA.xml" ContentType="application/vnd.ms-powerpoint.comments+xml"/>
  <Override PartName="/ppt/comments/modernComment_13C_FC7498CC.xml" ContentType="application/vnd.ms-powerpoint.comments+xml"/>
  <Override PartName="/ppt/comments/modernComment_13D_BBDDFB3D.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2" r:id="rId1"/>
  </p:sldMasterIdLst>
  <p:notesMasterIdLst>
    <p:notesMasterId r:id="rId25"/>
  </p:notesMasterIdLst>
  <p:handoutMasterIdLst>
    <p:handoutMasterId r:id="rId26"/>
  </p:handoutMasterIdLst>
  <p:sldIdLst>
    <p:sldId id="276" r:id="rId2"/>
    <p:sldId id="277" r:id="rId3"/>
    <p:sldId id="289" r:id="rId4"/>
    <p:sldId id="290" r:id="rId5"/>
    <p:sldId id="279" r:id="rId6"/>
    <p:sldId id="309" r:id="rId7"/>
    <p:sldId id="281" r:id="rId8"/>
    <p:sldId id="291" r:id="rId9"/>
    <p:sldId id="305" r:id="rId10"/>
    <p:sldId id="306" r:id="rId11"/>
    <p:sldId id="282" r:id="rId12"/>
    <p:sldId id="311" r:id="rId13"/>
    <p:sldId id="300" r:id="rId14"/>
    <p:sldId id="283" r:id="rId15"/>
    <p:sldId id="303" r:id="rId16"/>
    <p:sldId id="297" r:id="rId17"/>
    <p:sldId id="312" r:id="rId18"/>
    <p:sldId id="313" r:id="rId19"/>
    <p:sldId id="314" r:id="rId20"/>
    <p:sldId id="315" r:id="rId21"/>
    <p:sldId id="316" r:id="rId22"/>
    <p:sldId id="317" r:id="rId23"/>
    <p:sldId id="29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49579C-0691-1153-9AB4-93204F3704F1}" name="Simon Karanja" initials="SK" userId="25644544eb650bb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D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91" autoAdjust="0"/>
  </p:normalViewPr>
  <p:slideViewPr>
    <p:cSldViewPr snapToGrid="0">
      <p:cViewPr varScale="1">
        <p:scale>
          <a:sx n="66" d="100"/>
          <a:sy n="66" d="100"/>
        </p:scale>
        <p:origin x="900" y="72"/>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64" d="100"/>
          <a:sy n="64" d="100"/>
        </p:scale>
        <p:origin x="3180" y="1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1B_C81DCF66.xml><?xml version="1.0" encoding="utf-8"?>
<p188:cmLst xmlns:a="http://schemas.openxmlformats.org/drawingml/2006/main" xmlns:r="http://schemas.openxmlformats.org/officeDocument/2006/relationships" xmlns:p188="http://schemas.microsoft.com/office/powerpoint/2018/8/main">
  <p188:cm id="{137F67B6-2731-4168-96F4-C82540374027}" authorId="{B449579C-0691-1153-9AB4-93204F3704F1}" created="2024-03-25T13:29:47.641">
    <ac:txMkLst xmlns:ac="http://schemas.microsoft.com/office/drawing/2013/main/command">
      <pc:docMk xmlns:pc="http://schemas.microsoft.com/office/powerpoint/2013/main/command"/>
      <pc:sldMk xmlns:pc="http://schemas.microsoft.com/office/powerpoint/2013/main/command" cId="3357396838" sldId="283"/>
      <ac:spMk id="5" creationId="{00000000-0000-0000-0000-000000000000}"/>
      <ac:txMk cp="0" len="955">
        <ac:context len="1002" hash="92640163"/>
      </ac:txMk>
    </ac:txMkLst>
    <p188:pos x="5886635" y="278296"/>
    <p188:txBody>
      <a:bodyPr/>
      <a:lstStyle/>
      <a:p>
        <a:r>
          <a:rPr lang="en-US"/>
          <a:t>Very congested</a:t>
        </a:r>
      </a:p>
    </p188:txBody>
  </p188:cm>
</p188:cmLst>
</file>

<file path=ppt/comments/modernComment_13C_FC7498CC.xml><?xml version="1.0" encoding="utf-8"?>
<p188:cmLst xmlns:a="http://schemas.openxmlformats.org/drawingml/2006/main" xmlns:r="http://schemas.openxmlformats.org/officeDocument/2006/relationships" xmlns:p188="http://schemas.microsoft.com/office/powerpoint/2018/8/main">
  <p188:cm id="{EE68CF79-7B74-4124-A2DA-664880E2BAB9}" authorId="{B449579C-0691-1153-9AB4-93204F3704F1}" created="2024-03-25T13:31:14.137">
    <ac:txMkLst xmlns:ac="http://schemas.microsoft.com/office/drawing/2013/main/command">
      <pc:docMk xmlns:pc="http://schemas.microsoft.com/office/powerpoint/2013/main/command"/>
      <pc:sldMk xmlns:pc="http://schemas.microsoft.com/office/powerpoint/2013/main/command" cId="4235499724" sldId="316"/>
      <ac:spMk id="2" creationId="{00000000-0000-0000-0000-000000000000}"/>
      <ac:txMk cp="0" len="10">
        <ac:context len="12" hash="1503505834"/>
      </ac:txMk>
    </ac:txMkLst>
    <p188:pos x="6725478" y="454201"/>
    <p188:txBody>
      <a:bodyPr/>
      <a:lstStyle/>
      <a:p>
        <a:r>
          <a:rPr lang="en-US"/>
          <a:t>Conclusions should be based on the specific objectives</a:t>
        </a:r>
      </a:p>
    </p188:txBody>
  </p188:cm>
</p188:cmLst>
</file>

<file path=ppt/comments/modernComment_13D_BBDDFB3D.xml><?xml version="1.0" encoding="utf-8"?>
<p188:cmLst xmlns:a="http://schemas.openxmlformats.org/drawingml/2006/main" xmlns:r="http://schemas.openxmlformats.org/officeDocument/2006/relationships" xmlns:p188="http://schemas.microsoft.com/office/powerpoint/2018/8/main">
  <p188:cm id="{253CCD77-04B8-4FF8-8F98-B9C54450DA17}" authorId="{B449579C-0691-1153-9AB4-93204F3704F1}" created="2024-03-25T13:31:42.885">
    <ac:txMkLst xmlns:ac="http://schemas.microsoft.com/office/drawing/2013/main/command">
      <pc:docMk xmlns:pc="http://schemas.microsoft.com/office/powerpoint/2013/main/command"/>
      <pc:sldMk xmlns:pc="http://schemas.microsoft.com/office/powerpoint/2013/main/command" cId="3151887165" sldId="317"/>
      <ac:spMk id="3" creationId="{00000000-0000-0000-0000-000000000000}"/>
      <ac:txMk cp="0" len="2079">
        <ac:context len="2081" hash="808575991"/>
      </ac:txMk>
    </ac:txMkLst>
    <p188:pos x="11501354" y="281856"/>
    <p188:txBody>
      <a:bodyPr/>
      <a:lstStyle/>
      <a:p>
        <a:r>
          <a:rPr lang="en-US"/>
          <a:t>Should be based on the conclusions. Follow each through</a:t>
        </a:r>
      </a:p>
    </p188:txBody>
  </p188:cm>
</p188:cmLst>
</file>

<file path=ppt/comments/modernComment_115_6C031D9B.xml><?xml version="1.0" encoding="utf-8"?>
<p188:cmLst xmlns:a="http://schemas.openxmlformats.org/drawingml/2006/main" xmlns:r="http://schemas.openxmlformats.org/officeDocument/2006/relationships" xmlns:p188="http://schemas.microsoft.com/office/powerpoint/2018/8/main">
  <p188:cm id="{4D126E8A-CC11-4B0A-A454-423AC9BAC3D7}" authorId="{B449579C-0691-1153-9AB4-93204F3704F1}" created="2024-03-25T13:21:33.286">
    <ac:txMkLst xmlns:ac="http://schemas.microsoft.com/office/drawing/2013/main/command">
      <pc:docMk xmlns:pc="http://schemas.microsoft.com/office/powerpoint/2013/main/command"/>
      <pc:sldMk xmlns:pc="http://schemas.microsoft.com/office/powerpoint/2013/main/command" cId="1812143515" sldId="277"/>
      <ac:spMk id="2" creationId="{00000000-0000-0000-0000-000000000000}"/>
      <ac:txMk cp="0" len="10">
        <ac:context len="11" hash="3225458733"/>
      </ac:txMk>
    </ac:txMkLst>
    <p188:pos x="3437902" y="447261"/>
    <p188:txBody>
      <a:bodyPr/>
      <a:lstStyle/>
      <a:p>
        <a:r>
          <a:rPr lang="en-US"/>
          <a:t>Reduce the congestion in this slide. Use the rule of 6x6</a:t>
        </a:r>
      </a:p>
    </p188:txBody>
  </p188:cm>
</p188:cmLst>
</file>

<file path=ppt/comments/modernComment_117_C5FDA93A.xml><?xml version="1.0" encoding="utf-8"?>
<p188:cmLst xmlns:a="http://schemas.openxmlformats.org/drawingml/2006/main" xmlns:r="http://schemas.openxmlformats.org/officeDocument/2006/relationships" xmlns:p188="http://schemas.microsoft.com/office/powerpoint/2018/8/main">
  <p188:cm id="{96BEDEEA-6B0B-4B40-8F61-D9A561A8FE53}" authorId="{B449579C-0691-1153-9AB4-93204F3704F1}" created="2024-03-25T13:25:10.422">
    <ac:txMkLst xmlns:ac="http://schemas.microsoft.com/office/drawing/2013/main/command">
      <pc:docMk xmlns:pc="http://schemas.microsoft.com/office/powerpoint/2013/main/command"/>
      <pc:sldMk xmlns:pc="http://schemas.microsoft.com/office/powerpoint/2013/main/command" cId="3321735482" sldId="279"/>
      <ac:spMk id="2" creationId="{00000000-0000-0000-0000-000000000000}"/>
      <ac:txMk cp="0" len="19">
        <ac:context len="20" hash="2000064033"/>
      </ac:txMk>
    </ac:txMkLst>
    <p188:pos x="5184913" y="297284"/>
    <p188:txBody>
      <a:bodyPr/>
      <a:lstStyle/>
      <a:p>
        <a:r>
          <a:rPr lang="en-US"/>
          <a:t>Where is the broad objective????</a:t>
        </a:r>
      </a:p>
    </p188:txBody>
  </p188:cm>
</p188:cmLst>
</file>

<file path=ppt/comments/modernComment_119_6FDB64D1.xml><?xml version="1.0" encoding="utf-8"?>
<p188:cmLst xmlns:a="http://schemas.openxmlformats.org/drawingml/2006/main" xmlns:r="http://schemas.openxmlformats.org/officeDocument/2006/relationships" xmlns:p188="http://schemas.microsoft.com/office/powerpoint/2018/8/main">
  <p188:cm id="{E058841C-E555-4510-8E69-060A452348A7}" authorId="{B449579C-0691-1153-9AB4-93204F3704F1}" created="2024-03-25T13:26:08.770">
    <ac:txMkLst xmlns:ac="http://schemas.microsoft.com/office/drawing/2013/main/command">
      <pc:docMk xmlns:pc="http://schemas.microsoft.com/office/powerpoint/2013/main/command"/>
      <pc:sldMk xmlns:pc="http://schemas.microsoft.com/office/powerpoint/2013/main/command" cId="1876649169" sldId="281"/>
      <ac:spMk id="4" creationId="{89B2F015-72B5-562E-CDFA-E5DD85832F5E}"/>
      <ac:txMk cp="0" len="21">
        <ac:context len="22" hash="3549298038"/>
      </ac:txMk>
    </ac:txMkLst>
    <p188:pos x="6308035" y="351100"/>
    <p188:txBody>
      <a:bodyPr/>
      <a:lstStyle/>
      <a:p>
        <a:r>
          <a:rPr lang="en-US"/>
          <a:t>Not methodlogy</a:t>
        </a:r>
      </a:p>
    </p188:txBody>
  </p188:cm>
  <p188:cm id="{F352FEA0-46BE-42A7-9450-B8BA5242F997}" authorId="{B449579C-0691-1153-9AB4-93204F3704F1}" created="2024-03-25T13:27:09.975">
    <ac:txMkLst xmlns:ac="http://schemas.microsoft.com/office/drawing/2013/main/command">
      <pc:docMk xmlns:pc="http://schemas.microsoft.com/office/powerpoint/2013/main/command"/>
      <pc:sldMk xmlns:pc="http://schemas.microsoft.com/office/powerpoint/2013/main/command" cId="1876649169" sldId="281"/>
      <ac:spMk id="5" creationId="{ED3E5C90-D77B-50CB-115C-853AF3D6A30A}"/>
      <ac:txMk cp="24" len="12">
        <ac:context len="577" hash="1992646026"/>
      </ac:txMk>
    </ac:txMkLst>
    <p188:pos x="6241180" y="282301"/>
    <p188:txBody>
      <a:bodyPr/>
      <a:lstStyle/>
      <a:p>
        <a:r>
          <a:rPr lang="en-US"/>
          <a:t>Was it prospective or retrospective. That’s is what you should indicate</a:t>
        </a:r>
      </a:p>
    </p188:txBody>
  </p188:cm>
</p188:cmLst>
</file>

<file path=ppt/comments/modernComment_121_CE2A2F68.xml><?xml version="1.0" encoding="utf-8"?>
<p188:cmLst xmlns:a="http://schemas.openxmlformats.org/drawingml/2006/main" xmlns:r="http://schemas.openxmlformats.org/officeDocument/2006/relationships" xmlns:p188="http://schemas.microsoft.com/office/powerpoint/2018/8/main">
  <p188:cm id="{5FAE10B7-6728-45EA-9E9B-AD288CA3C2AA}" authorId="{B449579C-0691-1153-9AB4-93204F3704F1}" created="2024-03-25T13:24:26.743">
    <pc:sldMkLst xmlns:pc="http://schemas.microsoft.com/office/powerpoint/2013/main/command">
      <pc:docMk/>
      <pc:sldMk cId="3458871144" sldId="289"/>
    </pc:sldMkLst>
    <p188:txBody>
      <a:bodyPr/>
      <a:lstStyle/>
      <a:p>
        <a:r>
          <a:rPr lang="en-US"/>
          <a:t>The statement of the problem should constitute the following areas:
1. The burden of HIV among infants (Prevalence, incidence)
2. The DALYS
3. Mortality
4. Economic losses
5. Gap in data for planning
6. Gap in knowledge
7. Gap in management</a:t>
        </a:r>
      </a:p>
    </p188:txBody>
  </p188:cm>
</p188:cmLst>
</file>

<file path=ppt/comments/modernComment_122_DA7EA83E.xml><?xml version="1.0" encoding="utf-8"?>
<p188:cmLst xmlns:a="http://schemas.openxmlformats.org/drawingml/2006/main" xmlns:r="http://schemas.openxmlformats.org/officeDocument/2006/relationships" xmlns:p188="http://schemas.microsoft.com/office/powerpoint/2018/8/main">
  <p188:cm id="{970E2F08-99D7-40DF-88ED-3D0E0F892535}" authorId="{B449579C-0691-1153-9AB4-93204F3704F1}" created="2024-03-25T13:24:52.990">
    <ac:txMkLst xmlns:ac="http://schemas.microsoft.com/office/drawing/2013/main/command">
      <pc:docMk xmlns:pc="http://schemas.microsoft.com/office/powerpoint/2013/main/command"/>
      <pc:sldMk xmlns:pc="http://schemas.microsoft.com/office/powerpoint/2013/main/command" cId="3665733694" sldId="290"/>
      <ac:spMk id="2" creationId="{4046D82E-F129-3EEB-655A-8AFAEF2A9044}"/>
      <ac:txMk cp="0" len="13">
        <ac:context len="14" hash="2058906121"/>
      </ac:txMk>
    </ac:txMkLst>
    <p188:pos x="3485322" y="331221"/>
    <p188:txBody>
      <a:bodyPr/>
      <a:lstStyle/>
      <a:p>
        <a:r>
          <a:rPr lang="en-US"/>
          <a:t>Decongest slide</a:t>
        </a:r>
      </a:p>
    </p188:txBody>
  </p188:cm>
</p188:cmLst>
</file>

<file path=ppt/comments/modernComment_129_CA821EDA.xml><?xml version="1.0" encoding="utf-8"?>
<p188:cmLst xmlns:a="http://schemas.openxmlformats.org/drawingml/2006/main" xmlns:r="http://schemas.openxmlformats.org/officeDocument/2006/relationships" xmlns:p188="http://schemas.microsoft.com/office/powerpoint/2018/8/main">
  <p188:cm id="{016AB826-A413-444D-8D2E-44458536EC74}" authorId="{B449579C-0691-1153-9AB4-93204F3704F1}" created="2024-03-25T13:30:07.264">
    <ac:txMkLst xmlns:ac="http://schemas.microsoft.com/office/drawing/2013/main/command">
      <pc:docMk xmlns:pc="http://schemas.microsoft.com/office/powerpoint/2013/main/command"/>
      <pc:sldMk xmlns:pc="http://schemas.microsoft.com/office/powerpoint/2013/main/command" cId="3397525210" sldId="297"/>
      <ac:spMk id="3" creationId="{00000000-0000-0000-0000-000000000000}"/>
      <ac:txMk cp="0" len="1166">
        <ac:context len="1167" hash="645491527"/>
      </ac:txMk>
    </ac:txMkLst>
    <p188:pos x="11935858" y="277999"/>
    <p188:txBody>
      <a:bodyPr/>
      <a:lstStyle/>
      <a:p>
        <a:r>
          <a:rPr lang="en-US"/>
          <a:t>Too much write-up</a:t>
        </a:r>
      </a:p>
    </p188:txBody>
  </p188:cm>
</p188:cmLst>
</file>

<file path=ppt/comments/modernComment_131_B9408812.xml><?xml version="1.0" encoding="utf-8"?>
<p188:cmLst xmlns:a="http://schemas.openxmlformats.org/drawingml/2006/main" xmlns:r="http://schemas.openxmlformats.org/officeDocument/2006/relationships" xmlns:p188="http://schemas.microsoft.com/office/powerpoint/2018/8/main">
  <p188:cm id="{2805E63B-5749-4EC4-90E3-E19D9FCFAD35}" authorId="{B449579C-0691-1153-9AB4-93204F3704F1}" created="2024-03-25T13:28:29.776">
    <ac:txMkLst xmlns:ac="http://schemas.microsoft.com/office/drawing/2013/main/command">
      <pc:docMk xmlns:pc="http://schemas.microsoft.com/office/powerpoint/2013/main/command"/>
      <pc:sldMk xmlns:pc="http://schemas.microsoft.com/office/powerpoint/2013/main/command" cId="3108014098" sldId="305"/>
      <ac:spMk id="2" creationId="{00000000-0000-0000-0000-000000000000}"/>
      <ac:txMk cp="0" len="14">
        <ac:context len="15" hash="913555275"/>
      </ac:txMk>
    </ac:txMkLst>
    <p188:pos x="3609685" y="293987"/>
    <p188:txBody>
      <a:bodyPr/>
      <a:lstStyle/>
      <a:p>
        <a:r>
          <a:rPr lang="en-US"/>
          <a:t>Before this, you need to indicate how data was collected. What tools were used?
What was  the inclusion and exclusion criteria?</a:t>
        </a:r>
      </a:p>
    </p188:txBody>
  </p188:cm>
</p188:cmLst>
</file>

<file path=ppt/comments/modernComment_137_E3E548D7.xml><?xml version="1.0" encoding="utf-8"?>
<p188:cmLst xmlns:a="http://schemas.openxmlformats.org/drawingml/2006/main" xmlns:r="http://schemas.openxmlformats.org/officeDocument/2006/relationships" xmlns:p188="http://schemas.microsoft.com/office/powerpoint/2018/8/main">
  <p188:cm id="{A34710B9-3DEC-4DB6-9F34-0A78B361756E}" authorId="{B449579C-0691-1153-9AB4-93204F3704F1}" created="2024-03-25T13:29:21.904">
    <ac:txMkLst xmlns:ac="http://schemas.microsoft.com/office/drawing/2013/main/command">
      <pc:docMk xmlns:pc="http://schemas.microsoft.com/office/powerpoint/2013/main/command"/>
      <pc:sldMk xmlns:pc="http://schemas.microsoft.com/office/powerpoint/2013/main/command" cId="3823454423" sldId="311"/>
      <ac:spMk id="6" creationId="{00000000-0000-0000-0000-000000000000}"/>
      <ac:txMk cp="0" len="1134">
        <ac:context len="1135" hash="697121483"/>
      </ac:txMk>
    </ac:txMkLst>
    <p188:pos x="11739745" y="278741"/>
    <p188:txBody>
      <a:bodyPr/>
      <a:lstStyle/>
      <a:p>
        <a:r>
          <a:rPr lang="en-US"/>
          <a:t>Too congested</a:t>
        </a:r>
      </a:p>
    </p188:txBody>
  </p188:cm>
</p188:cmLst>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D3C2C1-7E06-4833-B1A1-3D3A6FD5ADE5}" type="doc">
      <dgm:prSet loTypeId="urn:microsoft.com/office/officeart/2005/8/layout/matrix1" loCatId="matrix" qsTypeId="urn:microsoft.com/office/officeart/2005/8/quickstyle/simple1" qsCatId="simple" csTypeId="urn:microsoft.com/office/officeart/2005/8/colors/accent0_3" csCatId="mainScheme" phldr="1"/>
      <dgm:spPr/>
      <dgm:t>
        <a:bodyPr/>
        <a:lstStyle/>
        <a:p>
          <a:endParaRPr lang="en-US"/>
        </a:p>
      </dgm:t>
    </dgm:pt>
    <dgm:pt modelId="{ACB47FC3-024C-4EDA-A1A2-900192E0D55B}">
      <dgm:prSet phldrT="[Text]"/>
      <dgm:spPr/>
      <dgm:t>
        <a:bodyPr/>
        <a:lstStyle/>
        <a:p>
          <a:r>
            <a:rPr lang="en-US" dirty="0"/>
            <a:t>HIV-free survival among infants born to HIV-positive mothers in Homa Bay County.</a:t>
          </a:r>
        </a:p>
      </dgm:t>
    </dgm:pt>
    <dgm:pt modelId="{36F6205A-1AFC-41DF-8BD8-B9A2FDDADB68}" type="parTrans" cxnId="{8F3A8815-1DBF-437F-A042-4C66DE801AEB}">
      <dgm:prSet/>
      <dgm:spPr/>
      <dgm:t>
        <a:bodyPr/>
        <a:lstStyle/>
        <a:p>
          <a:endParaRPr lang="en-US"/>
        </a:p>
      </dgm:t>
    </dgm:pt>
    <dgm:pt modelId="{7323D061-B8F8-4CFA-A6B8-738E547AA604}" type="sibTrans" cxnId="{8F3A8815-1DBF-437F-A042-4C66DE801AEB}">
      <dgm:prSet/>
      <dgm:spPr/>
      <dgm:t>
        <a:bodyPr/>
        <a:lstStyle/>
        <a:p>
          <a:endParaRPr lang="en-US"/>
        </a:p>
      </dgm:t>
    </dgm:pt>
    <dgm:pt modelId="{CB65E8E6-390C-4BD4-AABE-431EA44F9FD0}">
      <dgm:prSet phldrT="[Text]"/>
      <dgm:spPr/>
      <dgm:t>
        <a:bodyPr/>
        <a:lstStyle/>
        <a:p>
          <a:endParaRPr lang="en-US"/>
        </a:p>
      </dgm:t>
    </dgm:pt>
    <dgm:pt modelId="{FAF59BCD-2CA5-47FC-9011-DC65F81AEABC}" type="parTrans" cxnId="{7E924CFC-1847-42BB-AB24-99D129BB4D08}">
      <dgm:prSet/>
      <dgm:spPr/>
      <dgm:t>
        <a:bodyPr/>
        <a:lstStyle/>
        <a:p>
          <a:endParaRPr lang="en-US"/>
        </a:p>
      </dgm:t>
    </dgm:pt>
    <dgm:pt modelId="{244BBDA6-40B5-4D05-8397-4F41E70305AE}" type="sibTrans" cxnId="{7E924CFC-1847-42BB-AB24-99D129BB4D08}">
      <dgm:prSet/>
      <dgm:spPr/>
      <dgm:t>
        <a:bodyPr/>
        <a:lstStyle/>
        <a:p>
          <a:endParaRPr lang="en-US"/>
        </a:p>
      </dgm:t>
    </dgm:pt>
    <dgm:pt modelId="{CE4F19D1-3174-48CA-8569-3A8BE92E2AD8}">
      <dgm:prSet phldrT="[Text]"/>
      <dgm:spPr/>
      <dgm:t>
        <a:bodyPr/>
        <a:lstStyle/>
        <a:p>
          <a:endParaRPr lang="en-US"/>
        </a:p>
      </dgm:t>
    </dgm:pt>
    <dgm:pt modelId="{7FC45674-81A7-4047-A4D9-F7F23D63F10A}" type="parTrans" cxnId="{74ADBCD8-A159-426E-9DCC-0725661B50DD}">
      <dgm:prSet/>
      <dgm:spPr/>
      <dgm:t>
        <a:bodyPr/>
        <a:lstStyle/>
        <a:p>
          <a:endParaRPr lang="en-US"/>
        </a:p>
      </dgm:t>
    </dgm:pt>
    <dgm:pt modelId="{7DB8F9C2-8D67-4CDF-AAFE-325601801BE3}" type="sibTrans" cxnId="{74ADBCD8-A159-426E-9DCC-0725661B50DD}">
      <dgm:prSet/>
      <dgm:spPr/>
      <dgm:t>
        <a:bodyPr/>
        <a:lstStyle/>
        <a:p>
          <a:endParaRPr lang="en-US"/>
        </a:p>
      </dgm:t>
    </dgm:pt>
    <dgm:pt modelId="{7F9B7EA5-098A-42A0-BC9E-8FB3CFFDDBE6}">
      <dgm:prSet phldrT="[Text]" phldr="1"/>
      <dgm:spPr/>
      <dgm:t>
        <a:bodyPr/>
        <a:lstStyle/>
        <a:p>
          <a:endParaRPr lang="en-US"/>
        </a:p>
      </dgm:t>
    </dgm:pt>
    <dgm:pt modelId="{B749D449-2A34-4F51-9ADD-C6ACAA3A77EA}" type="parTrans" cxnId="{86012093-0129-44FC-BEEC-FAA0512F9818}">
      <dgm:prSet/>
      <dgm:spPr/>
      <dgm:t>
        <a:bodyPr/>
        <a:lstStyle/>
        <a:p>
          <a:endParaRPr lang="en-US"/>
        </a:p>
      </dgm:t>
    </dgm:pt>
    <dgm:pt modelId="{D4680203-D0A7-4C39-9FA0-FBC3B3F78389}" type="sibTrans" cxnId="{86012093-0129-44FC-BEEC-FAA0512F9818}">
      <dgm:prSet/>
      <dgm:spPr/>
      <dgm:t>
        <a:bodyPr/>
        <a:lstStyle/>
        <a:p>
          <a:endParaRPr lang="en-US"/>
        </a:p>
      </dgm:t>
    </dgm:pt>
    <dgm:pt modelId="{46C48952-F751-4675-9505-B54E8E8B531D}">
      <dgm:prSet/>
      <dgm:spPr/>
      <dgm:t>
        <a:bodyPr/>
        <a:lstStyle/>
        <a:p>
          <a:r>
            <a:rPr lang="en-US" dirty="0"/>
            <a:t>Maternal factors associated with HIV antigen positivity</a:t>
          </a:r>
        </a:p>
      </dgm:t>
    </dgm:pt>
    <dgm:pt modelId="{F785B861-4D29-4CBA-82E9-9995C22803A8}" type="parTrans" cxnId="{87A37437-4367-44EC-AC0C-AAE310482F9B}">
      <dgm:prSet/>
      <dgm:spPr/>
      <dgm:t>
        <a:bodyPr/>
        <a:lstStyle/>
        <a:p>
          <a:endParaRPr lang="en-US"/>
        </a:p>
      </dgm:t>
    </dgm:pt>
    <dgm:pt modelId="{700E9E89-B7CF-4099-BDA2-8B7E75FD646E}" type="sibTrans" cxnId="{87A37437-4367-44EC-AC0C-AAE310482F9B}">
      <dgm:prSet/>
      <dgm:spPr/>
      <dgm:t>
        <a:bodyPr/>
        <a:lstStyle/>
        <a:p>
          <a:endParaRPr lang="en-US"/>
        </a:p>
      </dgm:t>
    </dgm:pt>
    <dgm:pt modelId="{85CCB666-001E-4726-9E78-0695E730B9D8}">
      <dgm:prSet/>
      <dgm:spPr/>
      <dgm:t>
        <a:bodyPr/>
        <a:lstStyle/>
        <a:p>
          <a:r>
            <a:rPr lang="en-US" dirty="0"/>
            <a:t>Infant factors associated with HIV antigen positivity</a:t>
          </a:r>
        </a:p>
      </dgm:t>
    </dgm:pt>
    <dgm:pt modelId="{D6E3A82E-DA75-45D4-8495-62BCC4983FE6}" type="parTrans" cxnId="{37BAE4BC-67B1-4B79-99C4-1D9FCB315E0C}">
      <dgm:prSet/>
      <dgm:spPr/>
      <dgm:t>
        <a:bodyPr/>
        <a:lstStyle/>
        <a:p>
          <a:endParaRPr lang="en-US"/>
        </a:p>
      </dgm:t>
    </dgm:pt>
    <dgm:pt modelId="{7875599B-44ED-4553-A630-D9EDD5EE4334}" type="sibTrans" cxnId="{37BAE4BC-67B1-4B79-99C4-1D9FCB315E0C}">
      <dgm:prSet/>
      <dgm:spPr/>
      <dgm:t>
        <a:bodyPr/>
        <a:lstStyle/>
        <a:p>
          <a:endParaRPr lang="en-US"/>
        </a:p>
      </dgm:t>
    </dgm:pt>
    <dgm:pt modelId="{47B3806B-5DFB-4C03-BCBC-F0CCFBBBA80A}">
      <dgm:prSet/>
      <dgm:spPr/>
      <dgm:t>
        <a:bodyPr/>
        <a:lstStyle/>
        <a:p>
          <a:r>
            <a:rPr lang="en-US" dirty="0"/>
            <a:t>Geographical factors associated with HIV antigen positivity</a:t>
          </a:r>
        </a:p>
      </dgm:t>
    </dgm:pt>
    <dgm:pt modelId="{3AAC17CB-B595-4B06-B0D3-0450039626DA}" type="parTrans" cxnId="{11DDC6D7-E36E-44E4-94CD-230D1E1D5FB9}">
      <dgm:prSet/>
      <dgm:spPr/>
      <dgm:t>
        <a:bodyPr/>
        <a:lstStyle/>
        <a:p>
          <a:endParaRPr lang="en-US"/>
        </a:p>
      </dgm:t>
    </dgm:pt>
    <dgm:pt modelId="{A590C48E-C2E3-4E76-8350-13734CCCA452}" type="sibTrans" cxnId="{11DDC6D7-E36E-44E4-94CD-230D1E1D5FB9}">
      <dgm:prSet/>
      <dgm:spPr/>
      <dgm:t>
        <a:bodyPr/>
        <a:lstStyle/>
        <a:p>
          <a:endParaRPr lang="en-US"/>
        </a:p>
      </dgm:t>
    </dgm:pt>
    <dgm:pt modelId="{EF8A80C3-9CEB-4DEA-8AD5-496745C2B7AD}">
      <dgm:prSet/>
      <dgm:spPr/>
      <dgm:t>
        <a:bodyPr/>
        <a:lstStyle/>
        <a:p>
          <a:r>
            <a:rPr lang="en-GB" dirty="0"/>
            <a:t>Demographic and Social-economic factors associated with HIV antigen positivity</a:t>
          </a:r>
          <a:endParaRPr lang="en-US" dirty="0"/>
        </a:p>
      </dgm:t>
    </dgm:pt>
    <dgm:pt modelId="{472D8D33-61EC-44BE-8E01-71F6BDD8DED9}" type="parTrans" cxnId="{D7C96DA3-C202-43C8-AB92-1A860BED68B9}">
      <dgm:prSet/>
      <dgm:spPr/>
      <dgm:t>
        <a:bodyPr/>
        <a:lstStyle/>
        <a:p>
          <a:endParaRPr lang="en-US"/>
        </a:p>
      </dgm:t>
    </dgm:pt>
    <dgm:pt modelId="{ACC329AC-5B09-4268-B588-0521913D3909}" type="sibTrans" cxnId="{D7C96DA3-C202-43C8-AB92-1A860BED68B9}">
      <dgm:prSet/>
      <dgm:spPr/>
      <dgm:t>
        <a:bodyPr/>
        <a:lstStyle/>
        <a:p>
          <a:endParaRPr lang="en-US"/>
        </a:p>
      </dgm:t>
    </dgm:pt>
    <dgm:pt modelId="{93E42335-1F9A-4703-9F9A-1E5A7387DE66}">
      <dgm:prSet/>
      <dgm:spPr/>
      <dgm:t>
        <a:bodyPr/>
        <a:lstStyle/>
        <a:p>
          <a:endParaRPr lang="en-US"/>
        </a:p>
      </dgm:t>
    </dgm:pt>
    <dgm:pt modelId="{B4A68F4F-8552-4B1B-95ED-1817F3FBD0FE}" type="parTrans" cxnId="{5A8B580E-E462-4EA0-A61A-CC4A2FE3D4C5}">
      <dgm:prSet/>
      <dgm:spPr/>
      <dgm:t>
        <a:bodyPr/>
        <a:lstStyle/>
        <a:p>
          <a:endParaRPr lang="en-US"/>
        </a:p>
      </dgm:t>
    </dgm:pt>
    <dgm:pt modelId="{0CF418EB-FC6F-4BFE-B403-21C6BB5ABCBD}" type="sibTrans" cxnId="{5A8B580E-E462-4EA0-A61A-CC4A2FE3D4C5}">
      <dgm:prSet/>
      <dgm:spPr/>
      <dgm:t>
        <a:bodyPr/>
        <a:lstStyle/>
        <a:p>
          <a:endParaRPr lang="en-US"/>
        </a:p>
      </dgm:t>
    </dgm:pt>
    <dgm:pt modelId="{3DDA5123-CDBC-45F2-A959-5F9A48CA1220}">
      <dgm:prSet/>
      <dgm:spPr/>
      <dgm:t>
        <a:bodyPr/>
        <a:lstStyle/>
        <a:p>
          <a:endParaRPr lang="en-US"/>
        </a:p>
      </dgm:t>
    </dgm:pt>
    <dgm:pt modelId="{B25EC688-6CAF-4307-A056-D6A44D61930A}" type="parTrans" cxnId="{21987555-F1C8-459C-B9B7-25D76A3F0E47}">
      <dgm:prSet/>
      <dgm:spPr/>
      <dgm:t>
        <a:bodyPr/>
        <a:lstStyle/>
        <a:p>
          <a:endParaRPr lang="en-US"/>
        </a:p>
      </dgm:t>
    </dgm:pt>
    <dgm:pt modelId="{ACADB73D-36E7-431B-9320-2D954B070CF9}" type="sibTrans" cxnId="{21987555-F1C8-459C-B9B7-25D76A3F0E47}">
      <dgm:prSet/>
      <dgm:spPr/>
      <dgm:t>
        <a:bodyPr/>
        <a:lstStyle/>
        <a:p>
          <a:endParaRPr lang="en-US"/>
        </a:p>
      </dgm:t>
    </dgm:pt>
    <dgm:pt modelId="{B1B183A6-657E-4538-8CDD-778868563FD7}">
      <dgm:prSet/>
      <dgm:spPr/>
      <dgm:t>
        <a:bodyPr/>
        <a:lstStyle/>
        <a:p>
          <a:endParaRPr lang="en-US"/>
        </a:p>
      </dgm:t>
    </dgm:pt>
    <dgm:pt modelId="{6FE02A45-BBA3-4408-A31D-83B3E79773F7}" type="parTrans" cxnId="{35BD56BB-E6D0-4F95-869F-D6D2D766E1CB}">
      <dgm:prSet/>
      <dgm:spPr/>
      <dgm:t>
        <a:bodyPr/>
        <a:lstStyle/>
        <a:p>
          <a:endParaRPr lang="en-US"/>
        </a:p>
      </dgm:t>
    </dgm:pt>
    <dgm:pt modelId="{52A03244-FC30-4CED-A975-F98FDEF1D230}" type="sibTrans" cxnId="{35BD56BB-E6D0-4F95-869F-D6D2D766E1CB}">
      <dgm:prSet/>
      <dgm:spPr/>
      <dgm:t>
        <a:bodyPr/>
        <a:lstStyle/>
        <a:p>
          <a:endParaRPr lang="en-US"/>
        </a:p>
      </dgm:t>
    </dgm:pt>
    <dgm:pt modelId="{88FCDA6E-3349-4DE9-B759-3BCF7BE18DD7}" type="pres">
      <dgm:prSet presAssocID="{B4D3C2C1-7E06-4833-B1A1-3D3A6FD5ADE5}" presName="diagram" presStyleCnt="0">
        <dgm:presLayoutVars>
          <dgm:chMax val="1"/>
          <dgm:dir/>
          <dgm:animLvl val="ctr"/>
          <dgm:resizeHandles val="exact"/>
        </dgm:presLayoutVars>
      </dgm:prSet>
      <dgm:spPr/>
      <dgm:t>
        <a:bodyPr/>
        <a:lstStyle/>
        <a:p>
          <a:endParaRPr lang="en-US"/>
        </a:p>
      </dgm:t>
    </dgm:pt>
    <dgm:pt modelId="{4EE1FE77-3454-4752-9037-32E50DCE17C3}" type="pres">
      <dgm:prSet presAssocID="{B4D3C2C1-7E06-4833-B1A1-3D3A6FD5ADE5}" presName="matrix" presStyleCnt="0"/>
      <dgm:spPr/>
    </dgm:pt>
    <dgm:pt modelId="{501B4439-ED9D-48E0-8FBA-C3B848F9C89D}" type="pres">
      <dgm:prSet presAssocID="{B4D3C2C1-7E06-4833-B1A1-3D3A6FD5ADE5}" presName="tile1" presStyleLbl="node1" presStyleIdx="0" presStyleCnt="4"/>
      <dgm:spPr/>
      <dgm:t>
        <a:bodyPr/>
        <a:lstStyle/>
        <a:p>
          <a:endParaRPr lang="en-US"/>
        </a:p>
      </dgm:t>
    </dgm:pt>
    <dgm:pt modelId="{E9CD4456-4262-4E60-B8AB-F8EF280F3892}" type="pres">
      <dgm:prSet presAssocID="{B4D3C2C1-7E06-4833-B1A1-3D3A6FD5ADE5}" presName="tile1text" presStyleLbl="node1" presStyleIdx="0" presStyleCnt="4">
        <dgm:presLayoutVars>
          <dgm:chMax val="0"/>
          <dgm:chPref val="0"/>
          <dgm:bulletEnabled val="1"/>
        </dgm:presLayoutVars>
      </dgm:prSet>
      <dgm:spPr/>
      <dgm:t>
        <a:bodyPr/>
        <a:lstStyle/>
        <a:p>
          <a:endParaRPr lang="en-US"/>
        </a:p>
      </dgm:t>
    </dgm:pt>
    <dgm:pt modelId="{FB212293-E299-4800-B2A3-26A6A1E40B0A}" type="pres">
      <dgm:prSet presAssocID="{B4D3C2C1-7E06-4833-B1A1-3D3A6FD5ADE5}" presName="tile2" presStyleLbl="node1" presStyleIdx="1" presStyleCnt="4"/>
      <dgm:spPr/>
      <dgm:t>
        <a:bodyPr/>
        <a:lstStyle/>
        <a:p>
          <a:endParaRPr lang="en-US"/>
        </a:p>
      </dgm:t>
    </dgm:pt>
    <dgm:pt modelId="{BFC60607-AC45-4D69-8C1A-99952C82D89A}" type="pres">
      <dgm:prSet presAssocID="{B4D3C2C1-7E06-4833-B1A1-3D3A6FD5ADE5}" presName="tile2text" presStyleLbl="node1" presStyleIdx="1" presStyleCnt="4">
        <dgm:presLayoutVars>
          <dgm:chMax val="0"/>
          <dgm:chPref val="0"/>
          <dgm:bulletEnabled val="1"/>
        </dgm:presLayoutVars>
      </dgm:prSet>
      <dgm:spPr/>
      <dgm:t>
        <a:bodyPr/>
        <a:lstStyle/>
        <a:p>
          <a:endParaRPr lang="en-US"/>
        </a:p>
      </dgm:t>
    </dgm:pt>
    <dgm:pt modelId="{2FAAD2E3-D0F7-410C-B366-3154EC8F31DC}" type="pres">
      <dgm:prSet presAssocID="{B4D3C2C1-7E06-4833-B1A1-3D3A6FD5ADE5}" presName="tile3" presStyleLbl="node1" presStyleIdx="2" presStyleCnt="4"/>
      <dgm:spPr/>
      <dgm:t>
        <a:bodyPr/>
        <a:lstStyle/>
        <a:p>
          <a:endParaRPr lang="en-US"/>
        </a:p>
      </dgm:t>
    </dgm:pt>
    <dgm:pt modelId="{25056929-FA97-4D4C-A1A8-43A9EC57F28C}" type="pres">
      <dgm:prSet presAssocID="{B4D3C2C1-7E06-4833-B1A1-3D3A6FD5ADE5}" presName="tile3text" presStyleLbl="node1" presStyleIdx="2" presStyleCnt="4">
        <dgm:presLayoutVars>
          <dgm:chMax val="0"/>
          <dgm:chPref val="0"/>
          <dgm:bulletEnabled val="1"/>
        </dgm:presLayoutVars>
      </dgm:prSet>
      <dgm:spPr/>
      <dgm:t>
        <a:bodyPr/>
        <a:lstStyle/>
        <a:p>
          <a:endParaRPr lang="en-US"/>
        </a:p>
      </dgm:t>
    </dgm:pt>
    <dgm:pt modelId="{E18793E8-166B-4286-8678-9CB665BA3E98}" type="pres">
      <dgm:prSet presAssocID="{B4D3C2C1-7E06-4833-B1A1-3D3A6FD5ADE5}" presName="tile4" presStyleLbl="node1" presStyleIdx="3" presStyleCnt="4"/>
      <dgm:spPr/>
      <dgm:t>
        <a:bodyPr/>
        <a:lstStyle/>
        <a:p>
          <a:endParaRPr lang="en-US"/>
        </a:p>
      </dgm:t>
    </dgm:pt>
    <dgm:pt modelId="{1E888D88-240D-4A3F-8FA0-6ADCC59E7119}" type="pres">
      <dgm:prSet presAssocID="{B4D3C2C1-7E06-4833-B1A1-3D3A6FD5ADE5}" presName="tile4text" presStyleLbl="node1" presStyleIdx="3" presStyleCnt="4">
        <dgm:presLayoutVars>
          <dgm:chMax val="0"/>
          <dgm:chPref val="0"/>
          <dgm:bulletEnabled val="1"/>
        </dgm:presLayoutVars>
      </dgm:prSet>
      <dgm:spPr/>
      <dgm:t>
        <a:bodyPr/>
        <a:lstStyle/>
        <a:p>
          <a:endParaRPr lang="en-US"/>
        </a:p>
      </dgm:t>
    </dgm:pt>
    <dgm:pt modelId="{5CEB0D34-494D-4EE2-B1C1-0302FB6DB7C0}" type="pres">
      <dgm:prSet presAssocID="{B4D3C2C1-7E06-4833-B1A1-3D3A6FD5ADE5}" presName="centerTile" presStyleLbl="fgShp" presStyleIdx="0" presStyleCnt="1" custScaleX="193452" custLinFactNeighborX="-2604" custLinFactNeighborY="-847">
        <dgm:presLayoutVars>
          <dgm:chMax val="0"/>
          <dgm:chPref val="0"/>
        </dgm:presLayoutVars>
      </dgm:prSet>
      <dgm:spPr/>
      <dgm:t>
        <a:bodyPr/>
        <a:lstStyle/>
        <a:p>
          <a:endParaRPr lang="en-US"/>
        </a:p>
      </dgm:t>
    </dgm:pt>
  </dgm:ptLst>
  <dgm:cxnLst>
    <dgm:cxn modelId="{35BD56BB-E6D0-4F95-869F-D6D2D766E1CB}" srcId="{B4D3C2C1-7E06-4833-B1A1-3D3A6FD5ADE5}" destId="{B1B183A6-657E-4538-8CDD-778868563FD7}" srcOrd="1" destOrd="0" parTransId="{6FE02A45-BBA3-4408-A31D-83B3E79773F7}" sibTransId="{52A03244-FC30-4CED-A975-F98FDEF1D230}"/>
    <dgm:cxn modelId="{86012093-0129-44FC-BEEC-FAA0512F9818}" srcId="{ACB47FC3-024C-4EDA-A1A2-900192E0D55B}" destId="{7F9B7EA5-098A-42A0-BC9E-8FB3CFFDDBE6}" srcOrd="6" destOrd="0" parTransId="{B749D449-2A34-4F51-9ADD-C6ACAA3A77EA}" sibTransId="{D4680203-D0A7-4C39-9FA0-FBC3B3F78389}"/>
    <dgm:cxn modelId="{11DDC6D7-E36E-44E4-94CD-230D1E1D5FB9}" srcId="{ACB47FC3-024C-4EDA-A1A2-900192E0D55B}" destId="{47B3806B-5DFB-4C03-BCBC-F0CCFBBBA80A}" srcOrd="1" destOrd="0" parTransId="{3AAC17CB-B595-4B06-B0D3-0450039626DA}" sibTransId="{A590C48E-C2E3-4E76-8350-13734CCCA452}"/>
    <dgm:cxn modelId="{E4990A53-C6FA-4A0B-9E9A-05A1E984B59E}" type="presOf" srcId="{46C48952-F751-4675-9505-B54E8E8B531D}" destId="{E18793E8-166B-4286-8678-9CB665BA3E98}" srcOrd="0" destOrd="0" presId="urn:microsoft.com/office/officeart/2005/8/layout/matrix1"/>
    <dgm:cxn modelId="{39C38702-C405-423D-9A21-1E08BEF72797}" type="presOf" srcId="{47B3806B-5DFB-4C03-BCBC-F0CCFBBBA80A}" destId="{FB212293-E299-4800-B2A3-26A6A1E40B0A}" srcOrd="0" destOrd="0" presId="urn:microsoft.com/office/officeart/2005/8/layout/matrix1"/>
    <dgm:cxn modelId="{3DF5AB7B-F306-4CC6-938F-C1BEE54ED7F0}" type="presOf" srcId="{47B3806B-5DFB-4C03-BCBC-F0CCFBBBA80A}" destId="{BFC60607-AC45-4D69-8C1A-99952C82D89A}" srcOrd="1" destOrd="0" presId="urn:microsoft.com/office/officeart/2005/8/layout/matrix1"/>
    <dgm:cxn modelId="{5A8B580E-E462-4EA0-A61A-CC4A2FE3D4C5}" srcId="{B4D3C2C1-7E06-4833-B1A1-3D3A6FD5ADE5}" destId="{93E42335-1F9A-4703-9F9A-1E5A7387DE66}" srcOrd="3" destOrd="0" parTransId="{B4A68F4F-8552-4B1B-95ED-1817F3FBD0FE}" sibTransId="{0CF418EB-FC6F-4BFE-B403-21C6BB5ABCBD}"/>
    <dgm:cxn modelId="{D7C96DA3-C202-43C8-AB92-1A860BED68B9}" srcId="{ACB47FC3-024C-4EDA-A1A2-900192E0D55B}" destId="{EF8A80C3-9CEB-4DEA-8AD5-496745C2B7AD}" srcOrd="0" destOrd="0" parTransId="{472D8D33-61EC-44BE-8E01-71F6BDD8DED9}" sibTransId="{ACC329AC-5B09-4268-B588-0521913D3909}"/>
    <dgm:cxn modelId="{A4B1118E-7C57-4DF3-BAD0-E8DA8EC1D21A}" type="presOf" srcId="{ACB47FC3-024C-4EDA-A1A2-900192E0D55B}" destId="{5CEB0D34-494D-4EE2-B1C1-0302FB6DB7C0}" srcOrd="0" destOrd="0" presId="urn:microsoft.com/office/officeart/2005/8/layout/matrix1"/>
    <dgm:cxn modelId="{7E924CFC-1847-42BB-AB24-99D129BB4D08}" srcId="{ACB47FC3-024C-4EDA-A1A2-900192E0D55B}" destId="{CB65E8E6-390C-4BD4-AABE-431EA44F9FD0}" srcOrd="4" destOrd="0" parTransId="{FAF59BCD-2CA5-47FC-9011-DC65F81AEABC}" sibTransId="{244BBDA6-40B5-4D05-8397-4F41E70305AE}"/>
    <dgm:cxn modelId="{21987555-F1C8-459C-B9B7-25D76A3F0E47}" srcId="{B4D3C2C1-7E06-4833-B1A1-3D3A6FD5ADE5}" destId="{3DDA5123-CDBC-45F2-A959-5F9A48CA1220}" srcOrd="2" destOrd="0" parTransId="{B25EC688-6CAF-4307-A056-D6A44D61930A}" sibTransId="{ACADB73D-36E7-431B-9320-2D954B070CF9}"/>
    <dgm:cxn modelId="{029A07AB-7593-4DA2-844C-438987D1C034}" type="presOf" srcId="{B4D3C2C1-7E06-4833-B1A1-3D3A6FD5ADE5}" destId="{88FCDA6E-3349-4DE9-B759-3BCF7BE18DD7}" srcOrd="0" destOrd="0" presId="urn:microsoft.com/office/officeart/2005/8/layout/matrix1"/>
    <dgm:cxn modelId="{74ADBCD8-A159-426E-9DCC-0725661B50DD}" srcId="{ACB47FC3-024C-4EDA-A1A2-900192E0D55B}" destId="{CE4F19D1-3174-48CA-8569-3A8BE92E2AD8}" srcOrd="5" destOrd="0" parTransId="{7FC45674-81A7-4047-A4D9-F7F23D63F10A}" sibTransId="{7DB8F9C2-8D67-4CDF-AAFE-325601801BE3}"/>
    <dgm:cxn modelId="{0E898A5B-996C-4C90-AE74-9D3A6765CC42}" type="presOf" srcId="{85CCB666-001E-4726-9E78-0695E730B9D8}" destId="{2FAAD2E3-D0F7-410C-B366-3154EC8F31DC}" srcOrd="0" destOrd="0" presId="urn:microsoft.com/office/officeart/2005/8/layout/matrix1"/>
    <dgm:cxn modelId="{37BAE4BC-67B1-4B79-99C4-1D9FCB315E0C}" srcId="{ACB47FC3-024C-4EDA-A1A2-900192E0D55B}" destId="{85CCB666-001E-4726-9E78-0695E730B9D8}" srcOrd="2" destOrd="0" parTransId="{D6E3A82E-DA75-45D4-8495-62BCC4983FE6}" sibTransId="{7875599B-44ED-4553-A630-D9EDD5EE4334}"/>
    <dgm:cxn modelId="{66D3A5D3-9DA5-4017-8420-DEDBE8F04033}" type="presOf" srcId="{46C48952-F751-4675-9505-B54E8E8B531D}" destId="{1E888D88-240D-4A3F-8FA0-6ADCC59E7119}" srcOrd="1" destOrd="0" presId="urn:microsoft.com/office/officeart/2005/8/layout/matrix1"/>
    <dgm:cxn modelId="{EB577075-18BB-4D93-B782-7B81AC0B8B5A}" type="presOf" srcId="{EF8A80C3-9CEB-4DEA-8AD5-496745C2B7AD}" destId="{E9CD4456-4262-4E60-B8AB-F8EF280F3892}" srcOrd="1" destOrd="0" presId="urn:microsoft.com/office/officeart/2005/8/layout/matrix1"/>
    <dgm:cxn modelId="{4F9CB91F-51B5-4F65-963A-E72E3267FF7E}" type="presOf" srcId="{85CCB666-001E-4726-9E78-0695E730B9D8}" destId="{25056929-FA97-4D4C-A1A8-43A9EC57F28C}" srcOrd="1" destOrd="0" presId="urn:microsoft.com/office/officeart/2005/8/layout/matrix1"/>
    <dgm:cxn modelId="{87A37437-4367-44EC-AC0C-AAE310482F9B}" srcId="{ACB47FC3-024C-4EDA-A1A2-900192E0D55B}" destId="{46C48952-F751-4675-9505-B54E8E8B531D}" srcOrd="3" destOrd="0" parTransId="{F785B861-4D29-4CBA-82E9-9995C22803A8}" sibTransId="{700E9E89-B7CF-4099-BDA2-8B7E75FD646E}"/>
    <dgm:cxn modelId="{8F3A8815-1DBF-437F-A042-4C66DE801AEB}" srcId="{B4D3C2C1-7E06-4833-B1A1-3D3A6FD5ADE5}" destId="{ACB47FC3-024C-4EDA-A1A2-900192E0D55B}" srcOrd="0" destOrd="0" parTransId="{36F6205A-1AFC-41DF-8BD8-B9A2FDDADB68}" sibTransId="{7323D061-B8F8-4CFA-A6B8-738E547AA604}"/>
    <dgm:cxn modelId="{5ECE0F2B-07D7-4B81-AE55-E46E261138D6}" type="presOf" srcId="{EF8A80C3-9CEB-4DEA-8AD5-496745C2B7AD}" destId="{501B4439-ED9D-48E0-8FBA-C3B848F9C89D}" srcOrd="0" destOrd="0" presId="urn:microsoft.com/office/officeart/2005/8/layout/matrix1"/>
    <dgm:cxn modelId="{89DAE0DE-A8A5-4440-88CF-EE6927DA8C0C}" type="presParOf" srcId="{88FCDA6E-3349-4DE9-B759-3BCF7BE18DD7}" destId="{4EE1FE77-3454-4752-9037-32E50DCE17C3}" srcOrd="0" destOrd="0" presId="urn:microsoft.com/office/officeart/2005/8/layout/matrix1"/>
    <dgm:cxn modelId="{EB6F8129-8DF1-407D-AC28-E6B28464BFA6}" type="presParOf" srcId="{4EE1FE77-3454-4752-9037-32E50DCE17C3}" destId="{501B4439-ED9D-48E0-8FBA-C3B848F9C89D}" srcOrd="0" destOrd="0" presId="urn:microsoft.com/office/officeart/2005/8/layout/matrix1"/>
    <dgm:cxn modelId="{64B6F012-180B-41AE-ACD9-3AE9DB3323A4}" type="presParOf" srcId="{4EE1FE77-3454-4752-9037-32E50DCE17C3}" destId="{E9CD4456-4262-4E60-B8AB-F8EF280F3892}" srcOrd="1" destOrd="0" presId="urn:microsoft.com/office/officeart/2005/8/layout/matrix1"/>
    <dgm:cxn modelId="{8C4108E9-360C-41EA-8F1F-DC38746172EA}" type="presParOf" srcId="{4EE1FE77-3454-4752-9037-32E50DCE17C3}" destId="{FB212293-E299-4800-B2A3-26A6A1E40B0A}" srcOrd="2" destOrd="0" presId="urn:microsoft.com/office/officeart/2005/8/layout/matrix1"/>
    <dgm:cxn modelId="{22646B83-1D3D-440D-99FA-65BA2EDA6AAB}" type="presParOf" srcId="{4EE1FE77-3454-4752-9037-32E50DCE17C3}" destId="{BFC60607-AC45-4D69-8C1A-99952C82D89A}" srcOrd="3" destOrd="0" presId="urn:microsoft.com/office/officeart/2005/8/layout/matrix1"/>
    <dgm:cxn modelId="{11DE3217-DB40-4DD3-87B7-CEF907D495B3}" type="presParOf" srcId="{4EE1FE77-3454-4752-9037-32E50DCE17C3}" destId="{2FAAD2E3-D0F7-410C-B366-3154EC8F31DC}" srcOrd="4" destOrd="0" presId="urn:microsoft.com/office/officeart/2005/8/layout/matrix1"/>
    <dgm:cxn modelId="{D4AF8080-92F5-4D8A-83CD-364FEDE71F23}" type="presParOf" srcId="{4EE1FE77-3454-4752-9037-32E50DCE17C3}" destId="{25056929-FA97-4D4C-A1A8-43A9EC57F28C}" srcOrd="5" destOrd="0" presId="urn:microsoft.com/office/officeart/2005/8/layout/matrix1"/>
    <dgm:cxn modelId="{7B58AA5B-1BD4-4F4E-A026-40681BC92497}" type="presParOf" srcId="{4EE1FE77-3454-4752-9037-32E50DCE17C3}" destId="{E18793E8-166B-4286-8678-9CB665BA3E98}" srcOrd="6" destOrd="0" presId="urn:microsoft.com/office/officeart/2005/8/layout/matrix1"/>
    <dgm:cxn modelId="{57482E51-CFB8-415D-8AD9-B57130A966DB}" type="presParOf" srcId="{4EE1FE77-3454-4752-9037-32E50DCE17C3}" destId="{1E888D88-240D-4A3F-8FA0-6ADCC59E7119}" srcOrd="7" destOrd="0" presId="urn:microsoft.com/office/officeart/2005/8/layout/matrix1"/>
    <dgm:cxn modelId="{E61CE124-A956-42BA-BB3F-37027055B555}" type="presParOf" srcId="{88FCDA6E-3349-4DE9-B759-3BCF7BE18DD7}" destId="{5CEB0D34-494D-4EE2-B1C1-0302FB6DB7C0}"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B54876-A058-4135-BE9F-6267E2691918}" type="datetimeFigureOut">
              <a:rPr lang="en-US" smtClean="0"/>
              <a:t>5/12/2024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110546-525A-40B2-B390-9C1F8FEDB325}" type="slidenum">
              <a:rPr lang="en-US" smtClean="0"/>
              <a:t>‹#›</a:t>
            </a:fld>
            <a:endParaRPr lang="en-US"/>
          </a:p>
        </p:txBody>
      </p:sp>
    </p:spTree>
    <p:extLst>
      <p:ext uri="{BB962C8B-B14F-4D97-AF65-F5344CB8AC3E}">
        <p14:creationId xmlns:p14="http://schemas.microsoft.com/office/powerpoint/2010/main" val="34152359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9800D-8E94-4255-91B8-7459E41C3AA7}" type="datetimeFigureOut">
              <a:rPr lang="en-US" smtClean="0"/>
              <a:t>5/12/2024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1820B5-0D4F-4646-B36A-7C258F828BDF}" type="slidenum">
              <a:rPr lang="en-US" smtClean="0"/>
              <a:t>‹#›</a:t>
            </a:fld>
            <a:endParaRPr lang="en-US"/>
          </a:p>
        </p:txBody>
      </p:sp>
    </p:spTree>
    <p:extLst>
      <p:ext uri="{BB962C8B-B14F-4D97-AF65-F5344CB8AC3E}">
        <p14:creationId xmlns:p14="http://schemas.microsoft.com/office/powerpoint/2010/main" val="577377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507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p:txBody>
          <a:bodyPr/>
          <a:lstStyle>
            <a:lvl1pPr>
              <a:defRPr>
                <a:latin typeface="Segoe UI" panose="020B0502040204020203" pitchFamily="34"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0375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62022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6623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174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2331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DA55DA6-07E5-5A44-325E-F61E53F909A4}"/>
              </a:ext>
            </a:extLst>
          </p:cNvPr>
          <p:cNvSpPr>
            <a:spLocks noGrp="1"/>
          </p:cNvSpPr>
          <p:nvPr>
            <p:ph type="title"/>
          </p:nvPr>
        </p:nvSpPr>
        <p:spPr/>
        <p:txBody>
          <a:bodyPr/>
          <a:lstStyle/>
          <a:p>
            <a:r>
              <a:rPr lang="en-US"/>
              <a:t>Click to edit Master title style</a:t>
            </a:r>
            <a:endParaRPr lang="aa-ET"/>
          </a:p>
        </p:txBody>
      </p:sp>
    </p:spTree>
    <p:extLst>
      <p:ext uri="{BB962C8B-B14F-4D97-AF65-F5344CB8AC3E}">
        <p14:creationId xmlns:p14="http://schemas.microsoft.com/office/powerpoint/2010/main" val="2354271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22325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301481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248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5216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636137"/>
            <a:ext cx="10515600" cy="10545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3"/>
          <p:cNvSpPr/>
          <p:nvPr userDrawn="1"/>
        </p:nvSpPr>
        <p:spPr>
          <a:xfrm>
            <a:off x="0" y="6451023"/>
            <a:ext cx="9115024" cy="406977"/>
          </a:xfrm>
          <a:custGeom>
            <a:avLst/>
            <a:gdLst>
              <a:gd name="connsiteX0" fmla="*/ 0 w 9115024"/>
              <a:gd name="connsiteY0" fmla="*/ 0 h 400079"/>
              <a:gd name="connsiteX1" fmla="*/ 9115024 w 9115024"/>
              <a:gd name="connsiteY1" fmla="*/ 0 h 400079"/>
              <a:gd name="connsiteX2" fmla="*/ 9115024 w 9115024"/>
              <a:gd name="connsiteY2" fmla="*/ 400079 h 400079"/>
              <a:gd name="connsiteX3" fmla="*/ 0 w 9115024"/>
              <a:gd name="connsiteY3" fmla="*/ 400079 h 400079"/>
              <a:gd name="connsiteX4" fmla="*/ 0 w 9115024"/>
              <a:gd name="connsiteY4" fmla="*/ 0 h 400079"/>
              <a:gd name="connsiteX0" fmla="*/ 0 w 9115024"/>
              <a:gd name="connsiteY0" fmla="*/ 0 h 400079"/>
              <a:gd name="connsiteX1" fmla="*/ 9115024 w 9115024"/>
              <a:gd name="connsiteY1" fmla="*/ 0 h 400079"/>
              <a:gd name="connsiteX2" fmla="*/ 8756805 w 9115024"/>
              <a:gd name="connsiteY2" fmla="*/ 390652 h 400079"/>
              <a:gd name="connsiteX3" fmla="*/ 0 w 9115024"/>
              <a:gd name="connsiteY3" fmla="*/ 400079 h 400079"/>
              <a:gd name="connsiteX4" fmla="*/ 0 w 9115024"/>
              <a:gd name="connsiteY4" fmla="*/ 0 h 400079"/>
              <a:gd name="connsiteX0" fmla="*/ 0 w 9115024"/>
              <a:gd name="connsiteY0" fmla="*/ 0 h 400079"/>
              <a:gd name="connsiteX1" fmla="*/ 9115024 w 9115024"/>
              <a:gd name="connsiteY1" fmla="*/ 0 h 400079"/>
              <a:gd name="connsiteX2" fmla="*/ 8763496 w 9115024"/>
              <a:gd name="connsiteY2" fmla="*/ 399573 h 400079"/>
              <a:gd name="connsiteX3" fmla="*/ 0 w 9115024"/>
              <a:gd name="connsiteY3" fmla="*/ 400079 h 400079"/>
              <a:gd name="connsiteX4" fmla="*/ 0 w 9115024"/>
              <a:gd name="connsiteY4" fmla="*/ 0 h 400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5024" h="400079">
                <a:moveTo>
                  <a:pt x="0" y="0"/>
                </a:moveTo>
                <a:lnTo>
                  <a:pt x="9115024" y="0"/>
                </a:lnTo>
                <a:lnTo>
                  <a:pt x="8763496" y="399573"/>
                </a:lnTo>
                <a:lnTo>
                  <a:pt x="0" y="400079"/>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397762" y="50666"/>
            <a:ext cx="726072" cy="731665"/>
          </a:xfrm>
          <a:prstGeom prst="rect">
            <a:avLst/>
          </a:prstGeom>
        </p:spPr>
      </p:pic>
      <p:sp>
        <p:nvSpPr>
          <p:cNvPr id="18" name="Rectangle 4"/>
          <p:cNvSpPr/>
          <p:nvPr userDrawn="1"/>
        </p:nvSpPr>
        <p:spPr>
          <a:xfrm>
            <a:off x="5676616" y="6451024"/>
            <a:ext cx="3429355" cy="406976"/>
          </a:xfrm>
          <a:custGeom>
            <a:avLst/>
            <a:gdLst>
              <a:gd name="connsiteX0" fmla="*/ 0 w 3076976"/>
              <a:gd name="connsiteY0" fmla="*/ 0 h 400078"/>
              <a:gd name="connsiteX1" fmla="*/ 3076976 w 3076976"/>
              <a:gd name="connsiteY1" fmla="*/ 0 h 400078"/>
              <a:gd name="connsiteX2" fmla="*/ 3076976 w 3076976"/>
              <a:gd name="connsiteY2" fmla="*/ 400078 h 400078"/>
              <a:gd name="connsiteX3" fmla="*/ 0 w 3076976"/>
              <a:gd name="connsiteY3" fmla="*/ 400078 h 400078"/>
              <a:gd name="connsiteX4" fmla="*/ 0 w 3076976"/>
              <a:gd name="connsiteY4" fmla="*/ 0 h 400078"/>
              <a:gd name="connsiteX0" fmla="*/ 352379 w 3429355"/>
              <a:gd name="connsiteY0" fmla="*/ 0 h 400078"/>
              <a:gd name="connsiteX1" fmla="*/ 3429355 w 3429355"/>
              <a:gd name="connsiteY1" fmla="*/ 0 h 400078"/>
              <a:gd name="connsiteX2" fmla="*/ 3429355 w 3429355"/>
              <a:gd name="connsiteY2" fmla="*/ 400078 h 400078"/>
              <a:gd name="connsiteX3" fmla="*/ 0 w 3429355"/>
              <a:gd name="connsiteY3" fmla="*/ 397848 h 400078"/>
              <a:gd name="connsiteX4" fmla="*/ 352379 w 3429355"/>
              <a:gd name="connsiteY4" fmla="*/ 0 h 400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355" h="400078">
                <a:moveTo>
                  <a:pt x="352379" y="0"/>
                </a:moveTo>
                <a:lnTo>
                  <a:pt x="3429355" y="0"/>
                </a:lnTo>
                <a:lnTo>
                  <a:pt x="3429355" y="400078"/>
                </a:lnTo>
                <a:lnTo>
                  <a:pt x="0" y="397848"/>
                </a:lnTo>
                <a:lnTo>
                  <a:pt x="352379" y="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9" name="Rectangle 4"/>
          <p:cNvSpPr/>
          <p:nvPr userDrawn="1"/>
        </p:nvSpPr>
        <p:spPr>
          <a:xfrm>
            <a:off x="8762644" y="6451022"/>
            <a:ext cx="3429355" cy="406978"/>
          </a:xfrm>
          <a:custGeom>
            <a:avLst/>
            <a:gdLst>
              <a:gd name="connsiteX0" fmla="*/ 0 w 3076976"/>
              <a:gd name="connsiteY0" fmla="*/ 0 h 400078"/>
              <a:gd name="connsiteX1" fmla="*/ 3076976 w 3076976"/>
              <a:gd name="connsiteY1" fmla="*/ 0 h 400078"/>
              <a:gd name="connsiteX2" fmla="*/ 3076976 w 3076976"/>
              <a:gd name="connsiteY2" fmla="*/ 400078 h 400078"/>
              <a:gd name="connsiteX3" fmla="*/ 0 w 3076976"/>
              <a:gd name="connsiteY3" fmla="*/ 400078 h 400078"/>
              <a:gd name="connsiteX4" fmla="*/ 0 w 3076976"/>
              <a:gd name="connsiteY4" fmla="*/ 0 h 400078"/>
              <a:gd name="connsiteX0" fmla="*/ 352379 w 3429355"/>
              <a:gd name="connsiteY0" fmla="*/ 0 h 400078"/>
              <a:gd name="connsiteX1" fmla="*/ 3429355 w 3429355"/>
              <a:gd name="connsiteY1" fmla="*/ 0 h 400078"/>
              <a:gd name="connsiteX2" fmla="*/ 3429355 w 3429355"/>
              <a:gd name="connsiteY2" fmla="*/ 400078 h 400078"/>
              <a:gd name="connsiteX3" fmla="*/ 0 w 3429355"/>
              <a:gd name="connsiteY3" fmla="*/ 397848 h 400078"/>
              <a:gd name="connsiteX4" fmla="*/ 352379 w 3429355"/>
              <a:gd name="connsiteY4" fmla="*/ 0 h 400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355" h="400078">
                <a:moveTo>
                  <a:pt x="352379" y="0"/>
                </a:moveTo>
                <a:lnTo>
                  <a:pt x="3429355" y="0"/>
                </a:lnTo>
                <a:lnTo>
                  <a:pt x="3429355" y="400078"/>
                </a:lnTo>
                <a:lnTo>
                  <a:pt x="0" y="397848"/>
                </a:lnTo>
                <a:lnTo>
                  <a:pt x="352379"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kern="1200" dirty="0">
                <a:solidFill>
                  <a:schemeClr val="bg1"/>
                </a:solidFill>
                <a:latin typeface="Times New Roman" panose="02020603050405020304" pitchFamily="18" charset="0"/>
                <a:ea typeface="+mn-ea"/>
                <a:cs typeface="Times New Roman" panose="02020603050405020304" pitchFamily="18" charset="0"/>
              </a:rPr>
              <a:t>SEMINAR</a:t>
            </a:r>
            <a:r>
              <a:rPr lang="en-US" i="1" dirty="0"/>
              <a:t> </a:t>
            </a:r>
            <a:r>
              <a:rPr lang="en-US" sz="1400" i="1" kern="1200" dirty="0">
                <a:solidFill>
                  <a:schemeClr val="bg1"/>
                </a:solidFill>
                <a:latin typeface="Times New Roman" panose="02020603050405020304" pitchFamily="18" charset="0"/>
                <a:ea typeface="+mn-ea"/>
                <a:cs typeface="Times New Roman" panose="02020603050405020304" pitchFamily="18" charset="0"/>
              </a:rPr>
              <a:t>PRESENTATION</a:t>
            </a:r>
            <a:r>
              <a:rPr lang="en-US" dirty="0"/>
              <a:t> </a:t>
            </a:r>
          </a:p>
        </p:txBody>
      </p:sp>
      <p:sp>
        <p:nvSpPr>
          <p:cNvPr id="10" name="TextBox 9"/>
          <p:cNvSpPr txBox="1"/>
          <p:nvPr userDrawn="1"/>
        </p:nvSpPr>
        <p:spPr>
          <a:xfrm>
            <a:off x="263410" y="6500622"/>
            <a:ext cx="4200541" cy="307777"/>
          </a:xfrm>
          <a:prstGeom prst="rect">
            <a:avLst/>
          </a:prstGeom>
          <a:noFill/>
        </p:spPr>
        <p:txBody>
          <a:bodyPr wrap="square" rtlCol="0">
            <a:spAutoFit/>
          </a:bodyPr>
          <a:lstStyle/>
          <a:p>
            <a:r>
              <a:rPr lang="en-US" sz="1400" i="1" dirty="0">
                <a:solidFill>
                  <a:schemeClr val="bg1"/>
                </a:solidFill>
                <a:latin typeface="Times New Roman" panose="02020603050405020304" pitchFamily="18" charset="0"/>
                <a:cs typeface="Times New Roman" panose="02020603050405020304" pitchFamily="18" charset="0"/>
              </a:rPr>
              <a:t>KEMRI GRADUATE SCHOOL</a:t>
            </a:r>
          </a:p>
        </p:txBody>
      </p:sp>
      <p:sp>
        <p:nvSpPr>
          <p:cNvPr id="23" name="Rectangle 22"/>
          <p:cNvSpPr/>
          <p:nvPr userDrawn="1"/>
        </p:nvSpPr>
        <p:spPr>
          <a:xfrm>
            <a:off x="838200" y="174668"/>
            <a:ext cx="885092" cy="6649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userDrawn="1"/>
        </p:nvSpPr>
        <p:spPr>
          <a:xfrm>
            <a:off x="1767254" y="174668"/>
            <a:ext cx="885092" cy="6649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a:off x="2696308" y="174668"/>
            <a:ext cx="885092" cy="6649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3193443"/>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800" kern="1200" smtClean="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15_6C031D9B.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21_CE2A2F68.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22_DA7EA83E.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17_C5FDA93A.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19_6FDB64D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31_B940881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37_E3E548D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1B_C81DCF6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29_CA821EDA.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3C_FC7498CC.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3D_BBDDFB3D.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CD1970-76D7-210C-ABC6-9E3567BAC251}"/>
              </a:ext>
            </a:extLst>
          </p:cNvPr>
          <p:cNvSpPr>
            <a:spLocks noGrp="1"/>
          </p:cNvSpPr>
          <p:nvPr>
            <p:ph type="ctrTitle"/>
          </p:nvPr>
        </p:nvSpPr>
        <p:spPr>
          <a:xfrm>
            <a:off x="1524000" y="1122363"/>
            <a:ext cx="9144000" cy="1316037"/>
          </a:xfrm>
        </p:spPr>
        <p:txBody>
          <a:bodyPr>
            <a:noAutofit/>
          </a:bodyPr>
          <a:lstStyle/>
          <a:p>
            <a:r>
              <a:rPr lang="en-US" sz="4000" dirty="0"/>
              <a:t>MODELLING FACTORS ASSOCIATED WITH HIV-FREE SURVIVAL AMONG EXPOSED INFANTS IN HOMA BAY COUNTY</a:t>
            </a:r>
            <a:endParaRPr lang="aa-ET" sz="4000" dirty="0"/>
          </a:p>
        </p:txBody>
      </p:sp>
      <p:sp>
        <p:nvSpPr>
          <p:cNvPr id="4" name="Subtitle 3">
            <a:extLst>
              <a:ext uri="{FF2B5EF4-FFF2-40B4-BE49-F238E27FC236}">
                <a16:creationId xmlns:a16="http://schemas.microsoft.com/office/drawing/2014/main" xmlns="" id="{601CF9FD-175C-D98B-B5CC-3A58E72B73D0}"/>
              </a:ext>
            </a:extLst>
          </p:cNvPr>
          <p:cNvSpPr>
            <a:spLocks noGrp="1"/>
          </p:cNvSpPr>
          <p:nvPr>
            <p:ph type="subTitle" idx="1"/>
          </p:nvPr>
        </p:nvSpPr>
        <p:spPr>
          <a:xfrm>
            <a:off x="395785" y="2438399"/>
            <a:ext cx="11505063" cy="3812275"/>
          </a:xfrm>
        </p:spPr>
        <p:txBody>
          <a:bodyPr>
            <a:normAutofit fontScale="92500" lnSpcReduction="10000"/>
          </a:bodyPr>
          <a:lstStyle/>
          <a:p>
            <a:r>
              <a:rPr lang="en-US" b="1" dirty="0">
                <a:latin typeface="Segoe UI" panose="020B0502040204020203" pitchFamily="34" charset="0"/>
                <a:cs typeface="Segoe UI" panose="020B0502040204020203" pitchFamily="34" charset="0"/>
              </a:rPr>
              <a:t>AUGUSTINE GATIMU NJUGUNA</a:t>
            </a:r>
          </a:p>
          <a:p>
            <a:r>
              <a:rPr lang="en-US" b="1" dirty="0">
                <a:latin typeface="Segoe UI" panose="020B0502040204020203" pitchFamily="34" charset="0"/>
                <a:cs typeface="Segoe UI" panose="020B0502040204020203" pitchFamily="34" charset="0"/>
              </a:rPr>
              <a:t>TM 406-3105/2015</a:t>
            </a:r>
          </a:p>
          <a:p>
            <a:r>
              <a:rPr lang="en-US" b="1" dirty="0">
                <a:latin typeface="Segoe UI" panose="020B0502040204020203" pitchFamily="34" charset="0"/>
                <a:cs typeface="Segoe UI" panose="020B0502040204020203" pitchFamily="34" charset="0"/>
              </a:rPr>
              <a:t>Doctor of Philosophy in Epidemiology </a:t>
            </a:r>
          </a:p>
          <a:p>
            <a:r>
              <a:rPr lang="en-US" b="1" dirty="0">
                <a:latin typeface="Segoe UI" panose="020B0502040204020203" pitchFamily="34" charset="0"/>
                <a:cs typeface="Segoe UI" panose="020B0502040204020203" pitchFamily="34" charset="0"/>
              </a:rPr>
              <a:t>26/03/2024</a:t>
            </a:r>
          </a:p>
          <a:p>
            <a:r>
              <a:rPr lang="en-US" b="1" dirty="0">
                <a:latin typeface="Segoe UI" panose="020B0502040204020203" pitchFamily="34" charset="0"/>
                <a:cs typeface="Segoe UI" panose="020B0502040204020203" pitchFamily="34" charset="0"/>
              </a:rPr>
              <a:t>Seminar 2</a:t>
            </a:r>
          </a:p>
          <a:p>
            <a:r>
              <a:rPr lang="en-US" b="1" dirty="0">
                <a:latin typeface="Segoe UI" panose="020B0502040204020203" pitchFamily="34" charset="0"/>
                <a:cs typeface="Segoe UI" panose="020B0502040204020203" pitchFamily="34" charset="0"/>
              </a:rPr>
              <a:t>Professor Simon Karanja </a:t>
            </a:r>
          </a:p>
          <a:p>
            <a:r>
              <a:rPr lang="en-US" b="1" dirty="0">
                <a:latin typeface="Segoe UI" panose="020B0502040204020203" pitchFamily="34" charset="0"/>
                <a:cs typeface="Segoe UI" panose="020B0502040204020203" pitchFamily="34" charset="0"/>
              </a:rPr>
              <a:t>Jomo Kenyatta University of Agriculture &amp; Technology</a:t>
            </a:r>
          </a:p>
          <a:p>
            <a:endParaRPr lang="en-US" sz="1200" b="1"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Late Dr. Peter Wanzala </a:t>
            </a:r>
          </a:p>
          <a:p>
            <a:r>
              <a:rPr lang="en-US" b="1" dirty="0">
                <a:latin typeface="Segoe UI" panose="020B0502040204020203" pitchFamily="34" charset="0"/>
                <a:cs typeface="Segoe UI" panose="020B0502040204020203" pitchFamily="34" charset="0"/>
              </a:rPr>
              <a:t>Institute of Tropical Medicine and Infectious Diseases (ITROMID)</a:t>
            </a:r>
          </a:p>
        </p:txBody>
      </p:sp>
    </p:spTree>
    <p:extLst>
      <p:ext uri="{BB962C8B-B14F-4D97-AF65-F5344CB8AC3E}">
        <p14:creationId xmlns:p14="http://schemas.microsoft.com/office/powerpoint/2010/main" val="1856575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924" y="0"/>
            <a:ext cx="10515600" cy="1023582"/>
          </a:xfrm>
        </p:spPr>
        <p:txBody>
          <a:bodyPr/>
          <a:lstStyle/>
          <a:p>
            <a:r>
              <a:rPr lang="en-US" dirty="0"/>
              <a:t>Background</a:t>
            </a:r>
          </a:p>
        </p:txBody>
      </p:sp>
      <p:sp>
        <p:nvSpPr>
          <p:cNvPr id="3" name="Content Placeholder 2"/>
          <p:cNvSpPr>
            <a:spLocks noGrp="1"/>
          </p:cNvSpPr>
          <p:nvPr>
            <p:ph idx="1"/>
          </p:nvPr>
        </p:nvSpPr>
        <p:spPr>
          <a:xfrm>
            <a:off x="109182" y="764275"/>
            <a:ext cx="11969087" cy="5595582"/>
          </a:xfrm>
        </p:spPr>
        <p:txBody>
          <a:bodyPr>
            <a:normAutofit/>
          </a:bodyPr>
          <a:lstStyle/>
          <a:p>
            <a:pPr algn="just"/>
            <a:r>
              <a:rPr lang="en-US" dirty="0"/>
              <a:t>Human immunodeficiency virus (HIV) is an infection with a global prevalence and currently no cure or vaccine. </a:t>
            </a:r>
          </a:p>
          <a:p>
            <a:pPr algn="just"/>
            <a:r>
              <a:rPr lang="en-US" dirty="0"/>
              <a:t>Women living with HIV who become pregnant or who acquire the virus during pregnancy are at risk of both maternal and perinatal morbidity and mortality mainly if the virus is poorly controlled.</a:t>
            </a:r>
          </a:p>
          <a:p>
            <a:pPr algn="just"/>
            <a:r>
              <a:rPr lang="en-US" dirty="0"/>
              <a:t>Furthermore, there is a risk of vertical transmission to the fetus during pregnancy labour and postpartum through breastfeeding.</a:t>
            </a:r>
          </a:p>
          <a:p>
            <a:pPr algn="just"/>
            <a:r>
              <a:rPr lang="en-US" dirty="0"/>
              <a:t>Globally, the prevention of vertical HIV transmission programmes have made tremendous progress in reducing pediatric HIV infection. </a:t>
            </a:r>
          </a:p>
          <a:p>
            <a:pPr algn="just"/>
            <a:r>
              <a:rPr lang="en-US" dirty="0"/>
              <a:t>Despite the progress made, achieving the elimination of vertical HIV transmission target has been challenging for most Sub-Saharan African countries due to the high burden of HIV among reproductive-age women in these countries</a:t>
            </a:r>
          </a:p>
        </p:txBody>
      </p:sp>
    </p:spTree>
    <p:extLst>
      <p:ext uri="{BB962C8B-B14F-4D97-AF65-F5344CB8AC3E}">
        <p14:creationId xmlns:p14="http://schemas.microsoft.com/office/powerpoint/2010/main" val="1812143515"/>
      </p:ext>
    </p:extLst>
  </p:cSld>
  <p:clrMapOvr>
    <a:masterClrMapping/>
  </p:clrMapOvr>
  <p:extLst>
    <p:ext uri="{6950BFC3-D8DA-4A85-94F7-54DA5524770B}">
      <p188:commentRel xmlns:p188="http://schemas.microsoft.com/office/powerpoint/2018/8/main" xmlns=""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FC5F8F-1D8C-AD4A-2E6E-F9B69738207A}"/>
              </a:ext>
            </a:extLst>
          </p:cNvPr>
          <p:cNvSpPr>
            <a:spLocks noGrp="1"/>
          </p:cNvSpPr>
          <p:nvPr>
            <p:ph type="title"/>
          </p:nvPr>
        </p:nvSpPr>
        <p:spPr>
          <a:xfrm>
            <a:off x="838199" y="199409"/>
            <a:ext cx="10515600" cy="796877"/>
          </a:xfrm>
        </p:spPr>
        <p:txBody>
          <a:bodyPr/>
          <a:lstStyle/>
          <a:p>
            <a:r>
              <a:rPr lang="en-US" dirty="0"/>
              <a:t>Statement of the problem</a:t>
            </a:r>
            <a:endParaRPr lang="aa-ET" dirty="0"/>
          </a:p>
        </p:txBody>
      </p:sp>
      <p:sp>
        <p:nvSpPr>
          <p:cNvPr id="3" name="Content Placeholder 2">
            <a:extLst>
              <a:ext uri="{FF2B5EF4-FFF2-40B4-BE49-F238E27FC236}">
                <a16:creationId xmlns:a16="http://schemas.microsoft.com/office/drawing/2014/main" xmlns="" id="{324C976A-2408-F481-F954-4103C08F05DD}"/>
              </a:ext>
            </a:extLst>
          </p:cNvPr>
          <p:cNvSpPr>
            <a:spLocks noGrp="1"/>
          </p:cNvSpPr>
          <p:nvPr>
            <p:ph idx="1"/>
          </p:nvPr>
        </p:nvSpPr>
        <p:spPr>
          <a:xfrm>
            <a:off x="313899" y="818866"/>
            <a:ext cx="11532357" cy="5595582"/>
          </a:xfrm>
        </p:spPr>
        <p:txBody>
          <a:bodyPr>
            <a:normAutofit lnSpcReduction="10000"/>
          </a:bodyPr>
          <a:lstStyle/>
          <a:p>
            <a:pPr algn="just"/>
            <a:r>
              <a:rPr lang="en-US" dirty="0"/>
              <a:t>Despite strategies to prevent mother-to-child transmission of the human immunodeficiency virus (HIV), infected children continue to be born.</a:t>
            </a:r>
          </a:p>
          <a:p>
            <a:pPr algn="just"/>
            <a:r>
              <a:rPr lang="en-US" dirty="0"/>
              <a:t>Vertical transmission of HIV can be effectively controlled through antenatal screening, antiretroviral treatment and the services provided during and after childbirth for mother and newborn.</a:t>
            </a:r>
          </a:p>
          <a:p>
            <a:pPr algn="just"/>
            <a:r>
              <a:rPr lang="en-US" dirty="0"/>
              <a:t>World-wide rate of MTCT of HIV is still far from reaching the zero transmission target, even in countries with consolidated screening programmes and standardized protocols of HIV management during pregnancy. </a:t>
            </a:r>
          </a:p>
          <a:p>
            <a:pPr algn="just"/>
            <a:r>
              <a:rPr lang="en-US" dirty="0"/>
              <a:t>In 2022 Homa Bay County had 4510 mother baby pair Receiving PMTCT services with 8.7 percent of infants getting infected with HIV which implies that more efforts are needed in order to reduce mother to child transmission of HIV.</a:t>
            </a:r>
            <a:endParaRPr lang="aa-ET" dirty="0"/>
          </a:p>
        </p:txBody>
      </p:sp>
    </p:spTree>
    <p:extLst>
      <p:ext uri="{BB962C8B-B14F-4D97-AF65-F5344CB8AC3E}">
        <p14:creationId xmlns:p14="http://schemas.microsoft.com/office/powerpoint/2010/main" val="3458871144"/>
      </p:ext>
    </p:extLst>
  </p:cSld>
  <p:clrMapOvr>
    <a:masterClrMapping/>
  </p:clrMapOvr>
  <p:extLst>
    <p:ext uri="{6950BFC3-D8DA-4A85-94F7-54DA5524770B}">
      <p188:commentRel xmlns:p188="http://schemas.microsoft.com/office/powerpoint/2018/8/main" xmlns=""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46D82E-F129-3EEB-655A-8AFAEF2A9044}"/>
              </a:ext>
            </a:extLst>
          </p:cNvPr>
          <p:cNvSpPr>
            <a:spLocks noGrp="1"/>
          </p:cNvSpPr>
          <p:nvPr>
            <p:ph type="title"/>
          </p:nvPr>
        </p:nvSpPr>
        <p:spPr>
          <a:xfrm>
            <a:off x="838200" y="294944"/>
            <a:ext cx="10515600" cy="796878"/>
          </a:xfrm>
        </p:spPr>
        <p:txBody>
          <a:bodyPr/>
          <a:lstStyle/>
          <a:p>
            <a:r>
              <a:rPr lang="en-US" dirty="0"/>
              <a:t>Justification</a:t>
            </a:r>
            <a:endParaRPr lang="aa-ET" dirty="0"/>
          </a:p>
        </p:txBody>
      </p:sp>
      <p:sp>
        <p:nvSpPr>
          <p:cNvPr id="3" name="Content Placeholder 2">
            <a:extLst>
              <a:ext uri="{FF2B5EF4-FFF2-40B4-BE49-F238E27FC236}">
                <a16:creationId xmlns:a16="http://schemas.microsoft.com/office/drawing/2014/main" xmlns="" id="{412CA4CB-5E2C-42CC-2C31-9FCB64FD6BCB}"/>
              </a:ext>
            </a:extLst>
          </p:cNvPr>
          <p:cNvSpPr>
            <a:spLocks noGrp="1"/>
          </p:cNvSpPr>
          <p:nvPr>
            <p:ph idx="1"/>
          </p:nvPr>
        </p:nvSpPr>
        <p:spPr>
          <a:xfrm>
            <a:off x="354842" y="982639"/>
            <a:ext cx="11641540" cy="5349922"/>
          </a:xfrm>
        </p:spPr>
        <p:txBody>
          <a:bodyPr>
            <a:normAutofit fontScale="92500" lnSpcReduction="10000"/>
          </a:bodyPr>
          <a:lstStyle/>
          <a:p>
            <a:pPr algn="just"/>
            <a:r>
              <a:rPr lang="en-US" dirty="0"/>
              <a:t> Despite progress in reducing infant mortality due to HIV/AIDS, the disease continues to have a devastating impact on infants worldwide.</a:t>
            </a:r>
          </a:p>
          <a:p>
            <a:pPr algn="just"/>
            <a:r>
              <a:rPr lang="en-US" dirty="0"/>
              <a:t>Factors causing diseases are dispersed unevenly across communities and regions, and the processes that bring people and disease-causing agents into contact vary geographically.</a:t>
            </a:r>
          </a:p>
          <a:p>
            <a:pPr algn="just"/>
            <a:r>
              <a:rPr lang="en-US" dirty="0"/>
              <a:t>The environment, including physical, social, and economic factors, significantly influences people's health. Geography, particularly the use of geographic information systems, has been instrumental in understanding health-related issues.</a:t>
            </a:r>
          </a:p>
          <a:p>
            <a:pPr algn="just"/>
            <a:r>
              <a:rPr lang="en-US" dirty="0"/>
              <a:t>Advances in data collection methods, geographic visualization techniques, and modeling have helped identify spatial patterns and disease spread probability.</a:t>
            </a:r>
          </a:p>
          <a:p>
            <a:pPr algn="just"/>
            <a:r>
              <a:rPr lang="en-US" dirty="0"/>
              <a:t>This study aims to provide insight into the determinants of vertical HIV transmission, filling a critical knowledge gap in the field of epidemiology.</a:t>
            </a:r>
            <a:endParaRPr lang="aa-ET" dirty="0"/>
          </a:p>
        </p:txBody>
      </p:sp>
    </p:spTree>
    <p:extLst>
      <p:ext uri="{BB962C8B-B14F-4D97-AF65-F5344CB8AC3E}">
        <p14:creationId xmlns:p14="http://schemas.microsoft.com/office/powerpoint/2010/main" val="3665733694"/>
      </p:ext>
    </p:extLst>
  </p:cSld>
  <p:clrMapOvr>
    <a:masterClrMapping/>
  </p:clrMapOvr>
  <p:extLst>
    <p:ext uri="{6950BFC3-D8DA-4A85-94F7-54DA5524770B}">
      <p188:commentRel xmlns:p188="http://schemas.microsoft.com/office/powerpoint/2018/8/main" xmlns=""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9307"/>
            <a:ext cx="10515600" cy="736981"/>
          </a:xfrm>
        </p:spPr>
        <p:txBody>
          <a:bodyPr>
            <a:normAutofit/>
          </a:bodyPr>
          <a:lstStyle/>
          <a:p>
            <a:r>
              <a:rPr lang="en-US" dirty="0"/>
              <a:t>Specific Objectives</a:t>
            </a:r>
          </a:p>
        </p:txBody>
      </p:sp>
      <p:sp>
        <p:nvSpPr>
          <p:cNvPr id="3" name="Content Placeholder 2"/>
          <p:cNvSpPr>
            <a:spLocks noGrp="1"/>
          </p:cNvSpPr>
          <p:nvPr>
            <p:ph idx="1"/>
          </p:nvPr>
        </p:nvSpPr>
        <p:spPr>
          <a:xfrm>
            <a:off x="286603" y="996288"/>
            <a:ext cx="11627893" cy="5268034"/>
          </a:xfrm>
        </p:spPr>
        <p:txBody>
          <a:bodyPr/>
          <a:lstStyle/>
          <a:p>
            <a:pPr marL="514350" indent="-514350" algn="just">
              <a:lnSpc>
                <a:spcPct val="150000"/>
              </a:lnSpc>
              <a:buFont typeface="+mj-lt"/>
              <a:buAutoNum type="arabicPeriod"/>
            </a:pPr>
            <a:r>
              <a:rPr lang="en-US" dirty="0"/>
              <a:t>Determine survival rate of HIV exposed infants in Homa Bay County.</a:t>
            </a:r>
          </a:p>
          <a:p>
            <a:pPr marL="514350" indent="-514350" algn="just">
              <a:lnSpc>
                <a:spcPct val="150000"/>
              </a:lnSpc>
              <a:buFont typeface="+mj-lt"/>
              <a:buAutoNum type="arabicPeriod"/>
            </a:pPr>
            <a:r>
              <a:rPr lang="en-US" dirty="0"/>
              <a:t>Determine the maternal factors associated with HIV antigen positivity among exposed infants in Homa Bay County.</a:t>
            </a:r>
          </a:p>
          <a:p>
            <a:pPr marL="514350" indent="-514350" algn="just">
              <a:lnSpc>
                <a:spcPct val="150000"/>
              </a:lnSpc>
              <a:buFont typeface="+mj-lt"/>
              <a:buAutoNum type="arabicPeriod"/>
            </a:pPr>
            <a:r>
              <a:rPr lang="en-US" dirty="0"/>
              <a:t>To determine infant factors associated with HIV antigen positivity among exposed infants in Homa Bay County.</a:t>
            </a:r>
          </a:p>
          <a:p>
            <a:pPr marL="514350" indent="-514350" algn="just">
              <a:lnSpc>
                <a:spcPct val="150000"/>
              </a:lnSpc>
              <a:buFont typeface="+mj-lt"/>
              <a:buAutoNum type="arabicPeriod"/>
            </a:pPr>
            <a:r>
              <a:rPr lang="en-US" dirty="0"/>
              <a:t>To develop a model on HIV-free survival among infants born to HIV-positive mothers in Homa Bay County.</a:t>
            </a:r>
          </a:p>
          <a:p>
            <a:endParaRPr lang="en-US" dirty="0"/>
          </a:p>
        </p:txBody>
      </p:sp>
    </p:spTree>
    <p:extLst>
      <p:ext uri="{BB962C8B-B14F-4D97-AF65-F5344CB8AC3E}">
        <p14:creationId xmlns:p14="http://schemas.microsoft.com/office/powerpoint/2010/main" val="3321735482"/>
      </p:ext>
    </p:extLst>
  </p:cSld>
  <p:clrMapOvr>
    <a:masterClrMapping/>
  </p:clrMapOvr>
  <p:extLst>
    <p:ext uri="{6950BFC3-D8DA-4A85-94F7-54DA5524770B}">
      <p188:commentRel xmlns:p188="http://schemas.microsoft.com/office/powerpoint/2018/8/main" xmlns=""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23667783"/>
              </p:ext>
            </p:extLst>
          </p:nvPr>
        </p:nvGraphicFramePr>
        <p:xfrm>
          <a:off x="0" y="0"/>
          <a:ext cx="12191999" cy="67146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Left Arrow 4"/>
          <p:cNvSpPr/>
          <p:nvPr/>
        </p:nvSpPr>
        <p:spPr>
          <a:xfrm rot="19090713">
            <a:off x="8522552" y="1945932"/>
            <a:ext cx="763567" cy="561905"/>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
        <p:nvSpPr>
          <p:cNvPr id="6" name="Right Arrow 5"/>
          <p:cNvSpPr/>
          <p:nvPr/>
        </p:nvSpPr>
        <p:spPr>
          <a:xfrm rot="2677292">
            <a:off x="3027366" y="2005775"/>
            <a:ext cx="651111" cy="533233"/>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
        <p:nvSpPr>
          <p:cNvPr id="7" name="Right Arrow 6"/>
          <p:cNvSpPr/>
          <p:nvPr/>
        </p:nvSpPr>
        <p:spPr>
          <a:xfrm rot="19180860">
            <a:off x="2999813" y="4164860"/>
            <a:ext cx="675089" cy="54771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
        <p:nvSpPr>
          <p:cNvPr id="8" name="Right Arrow 7"/>
          <p:cNvSpPr/>
          <p:nvPr/>
        </p:nvSpPr>
        <p:spPr>
          <a:xfrm rot="13281546">
            <a:off x="8534941" y="4166197"/>
            <a:ext cx="682506" cy="56775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1927069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89B2F015-72B5-562E-CDFA-E5DD85832F5E}"/>
              </a:ext>
            </a:extLst>
          </p:cNvPr>
          <p:cNvSpPr>
            <a:spLocks noGrp="1"/>
          </p:cNvSpPr>
          <p:nvPr>
            <p:ph type="title"/>
          </p:nvPr>
        </p:nvSpPr>
        <p:spPr>
          <a:xfrm>
            <a:off x="838200" y="294943"/>
            <a:ext cx="10515600" cy="824173"/>
          </a:xfrm>
        </p:spPr>
        <p:txBody>
          <a:bodyPr/>
          <a:lstStyle/>
          <a:p>
            <a:r>
              <a:rPr lang="en-US" dirty="0"/>
              <a:t>Materials and methods</a:t>
            </a:r>
            <a:endParaRPr lang="aa-ET" dirty="0"/>
          </a:p>
        </p:txBody>
      </p:sp>
      <p:sp>
        <p:nvSpPr>
          <p:cNvPr id="5" name="Content Placeholder 4">
            <a:extLst>
              <a:ext uri="{FF2B5EF4-FFF2-40B4-BE49-F238E27FC236}">
                <a16:creationId xmlns:a16="http://schemas.microsoft.com/office/drawing/2014/main" xmlns="" id="{ED3E5C90-D77B-50CB-115C-853AF3D6A30A}"/>
              </a:ext>
            </a:extLst>
          </p:cNvPr>
          <p:cNvSpPr>
            <a:spLocks noGrp="1"/>
          </p:cNvSpPr>
          <p:nvPr>
            <p:ph idx="1"/>
          </p:nvPr>
        </p:nvSpPr>
        <p:spPr>
          <a:xfrm>
            <a:off x="477672" y="1119116"/>
            <a:ext cx="11273050" cy="5281684"/>
          </a:xfrm>
        </p:spPr>
        <p:txBody>
          <a:bodyPr>
            <a:normAutofit lnSpcReduction="10000"/>
          </a:bodyPr>
          <a:lstStyle/>
          <a:p>
            <a:pPr algn="just"/>
            <a:r>
              <a:rPr lang="en-US" dirty="0"/>
              <a:t>The research employed a longitudinal cohort design. </a:t>
            </a:r>
          </a:p>
          <a:p>
            <a:pPr algn="just"/>
            <a:r>
              <a:rPr lang="en-US" dirty="0"/>
              <a:t>The study was conducted among infants born of HIV positive mothers.</a:t>
            </a:r>
          </a:p>
          <a:p>
            <a:pPr marL="0" indent="0" algn="just">
              <a:buNone/>
            </a:pPr>
            <a:r>
              <a:rPr lang="en-US" b="1" dirty="0"/>
              <a:t>Study Area</a:t>
            </a:r>
          </a:p>
          <a:p>
            <a:pPr algn="just"/>
            <a:r>
              <a:rPr lang="en-US" dirty="0"/>
              <a:t>The study was carried out in Homa Bay County. </a:t>
            </a:r>
          </a:p>
          <a:p>
            <a:pPr algn="just"/>
            <a:r>
              <a:rPr lang="en-US" dirty="0"/>
              <a:t>The county covers an area of 3,183.3 sq km with a projected in 2023 of about 1,231,659 people. </a:t>
            </a:r>
          </a:p>
          <a:p>
            <a:pPr algn="just"/>
            <a:r>
              <a:rPr lang="en-US" dirty="0" err="1"/>
              <a:t>Homa</a:t>
            </a:r>
            <a:r>
              <a:rPr lang="en-US" dirty="0"/>
              <a:t>-Bay sub county, 40 (12%) were from Kabondo Kasipul sub county, 63 (19%) were from Karachuonyo sub county, 46 (14%) were from Kasipul sub county, 30 (9%) were from Mbita sub county, 23 (7%) were from Ndiwa sub county, 57 (17%) were from Rangwe sub county, and 43 (13%) were from Suba sub county. </a:t>
            </a:r>
          </a:p>
          <a:p>
            <a:pPr marL="0" indent="0">
              <a:buNone/>
            </a:pPr>
            <a:endParaRPr lang="aa-ET" dirty="0"/>
          </a:p>
        </p:txBody>
      </p:sp>
    </p:spTree>
    <p:extLst>
      <p:ext uri="{BB962C8B-B14F-4D97-AF65-F5344CB8AC3E}">
        <p14:creationId xmlns:p14="http://schemas.microsoft.com/office/powerpoint/2010/main" val="1876649169"/>
      </p:ext>
    </p:extLst>
  </p:cSld>
  <p:clrMapOvr>
    <a:masterClrMapping/>
  </p:clrMapOvr>
  <p:extLst>
    <p:ext uri="{6950BFC3-D8DA-4A85-94F7-54DA5524770B}">
      <p188:commentRel xmlns:p188="http://schemas.microsoft.com/office/powerpoint/2018/8/main" xmlns=""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04A75E17-1EC9-DFBC-98B2-6CC11A6306F3}"/>
              </a:ext>
            </a:extLst>
          </p:cNvPr>
          <p:cNvSpPr>
            <a:spLocks noGrp="1"/>
          </p:cNvSpPr>
          <p:nvPr>
            <p:ph type="title"/>
          </p:nvPr>
        </p:nvSpPr>
        <p:spPr>
          <a:xfrm>
            <a:off x="842748" y="267647"/>
            <a:ext cx="10515600" cy="633105"/>
          </a:xfrm>
        </p:spPr>
        <p:txBody>
          <a:bodyPr>
            <a:normAutofit fontScale="90000"/>
          </a:bodyPr>
          <a:lstStyle/>
          <a:p>
            <a:r>
              <a:rPr lang="en-US" dirty="0"/>
              <a:t>Sample size determination </a:t>
            </a:r>
            <a:endParaRPr lang="aa-ET" dirty="0"/>
          </a:p>
        </p:txBody>
      </p:sp>
      <p:sp>
        <p:nvSpPr>
          <p:cNvPr id="7" name="Content Placeholder 6"/>
          <p:cNvSpPr>
            <a:spLocks noGrp="1"/>
          </p:cNvSpPr>
          <p:nvPr>
            <p:ph idx="1"/>
          </p:nvPr>
        </p:nvSpPr>
        <p:spPr>
          <a:xfrm>
            <a:off x="395785" y="900752"/>
            <a:ext cx="11409527" cy="5500047"/>
          </a:xfrm>
        </p:spPr>
        <p:txBody>
          <a:bodyPr>
            <a:normAutofit/>
          </a:bodyPr>
          <a:lstStyle/>
          <a:p>
            <a:r>
              <a:rPr lang="en-US" dirty="0"/>
              <a:t>The general formula for the required number of subjects in a survival study may be expressed as</a:t>
            </a:r>
          </a:p>
          <a:p>
            <a:endParaRPr lang="en-US" dirty="0"/>
          </a:p>
          <a:p>
            <a:pPr marL="0" indent="0">
              <a:buNone/>
            </a:pPr>
            <a:endParaRPr lang="en-US" dirty="0"/>
          </a:p>
          <a:p>
            <a:pPr marL="0" indent="0">
              <a:buNone/>
            </a:pPr>
            <a:r>
              <a:rPr lang="en-US" b="1" dirty="0"/>
              <a:t>Stpower command</a:t>
            </a:r>
          </a:p>
          <a:p>
            <a:r>
              <a:rPr lang="en-US" dirty="0"/>
              <a:t>stpower cox, power(0.95) hratio(0.37) failprob(0.17) </a:t>
            </a:r>
            <a:r>
              <a:rPr lang="en-US" dirty="0" err="1"/>
              <a:t>wdprob</a:t>
            </a:r>
            <a:r>
              <a:rPr lang="en-US" dirty="0"/>
              <a:t>(0.05)</a:t>
            </a:r>
          </a:p>
          <a:p>
            <a:pPr marL="457200" marR="540385" indent="0">
              <a:lnSpc>
                <a:spcPct val="107000"/>
              </a:lnSpc>
              <a:spcAft>
                <a:spcPts val="800"/>
              </a:spcAft>
              <a:buNone/>
            </a:pPr>
            <a:r>
              <a:rPr lang="en-GB" dirty="0">
                <a:latin typeface="Times New Roman" panose="02020603050405020304" pitchFamily="18" charset="0"/>
                <a:ea typeface="Calibri" panose="020F0502020204030204" pitchFamily="34" charset="0"/>
                <a:cs typeface="Times New Roman" panose="02020603050405020304" pitchFamily="18" charset="0"/>
              </a:rPr>
              <a:t>Estimated number of events and sample size:</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R="540385" lvl="1">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E (expected number of events)  =        53</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R="540385" lvl="1">
              <a:lnSpc>
                <a:spcPct val="107000"/>
              </a:lnSpc>
              <a:spcAft>
                <a:spcPts val="800"/>
              </a:spcAft>
            </a:pPr>
            <a:r>
              <a:rPr lang="en-GB" dirty="0">
                <a:latin typeface="Times New Roman" panose="02020603050405020304" pitchFamily="18" charset="0"/>
                <a:ea typeface="Calibri" panose="020F0502020204030204" pitchFamily="34" charset="0"/>
                <a:cs typeface="Times New Roman" panose="02020603050405020304" pitchFamily="18" charset="0"/>
              </a:rPr>
              <a:t>n (sample size required)            =       326</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8" name="Picture 7"/>
          <p:cNvPicPr>
            <a:picLocks noChangeAspect="1"/>
          </p:cNvPicPr>
          <p:nvPr/>
        </p:nvPicPr>
        <p:blipFill>
          <a:blip r:embed="rId2"/>
          <a:stretch>
            <a:fillRect/>
          </a:stretch>
        </p:blipFill>
        <p:spPr>
          <a:xfrm>
            <a:off x="709684" y="1678675"/>
            <a:ext cx="11095628" cy="1282889"/>
          </a:xfrm>
          <a:prstGeom prst="rect">
            <a:avLst/>
          </a:prstGeom>
        </p:spPr>
      </p:pic>
    </p:spTree>
    <p:extLst>
      <p:ext uri="{BB962C8B-B14F-4D97-AF65-F5344CB8AC3E}">
        <p14:creationId xmlns:p14="http://schemas.microsoft.com/office/powerpoint/2010/main" val="1403303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785" y="322239"/>
            <a:ext cx="11232108" cy="687695"/>
          </a:xfrm>
        </p:spPr>
        <p:txBody>
          <a:bodyPr>
            <a:normAutofit fontScale="90000"/>
          </a:bodyPr>
          <a:lstStyle/>
          <a:p>
            <a:r>
              <a:rPr lang="en-US" dirty="0"/>
              <a:t>Data Analysis </a:t>
            </a:r>
          </a:p>
        </p:txBody>
      </p:sp>
      <p:sp>
        <p:nvSpPr>
          <p:cNvPr id="3" name="Content Placeholder 2"/>
          <p:cNvSpPr>
            <a:spLocks noGrp="1"/>
          </p:cNvSpPr>
          <p:nvPr>
            <p:ph idx="1"/>
          </p:nvPr>
        </p:nvSpPr>
        <p:spPr>
          <a:xfrm>
            <a:off x="170597" y="1351128"/>
            <a:ext cx="11682483" cy="4271750"/>
          </a:xfrm>
        </p:spPr>
        <p:txBody>
          <a:bodyPr>
            <a:normAutofit/>
          </a:bodyPr>
          <a:lstStyle/>
          <a:p>
            <a:pPr algn="just"/>
            <a:r>
              <a:rPr lang="en-US" dirty="0"/>
              <a:t>Results presented as percentages and frequencies for categorical variables, mean ± SD for discrete/continuous variables</a:t>
            </a:r>
          </a:p>
          <a:p>
            <a:pPr algn="just"/>
            <a:r>
              <a:rPr lang="en-US" dirty="0"/>
              <a:t>Chi-square test used for comparisons</a:t>
            </a:r>
          </a:p>
          <a:p>
            <a:pPr algn="just"/>
            <a:r>
              <a:rPr lang="en-US" dirty="0"/>
              <a:t>Kaplan Meier and log rank methods used to analyze impact of factors on HIV antigen positivity</a:t>
            </a:r>
          </a:p>
          <a:p>
            <a:pPr algn="just"/>
            <a:r>
              <a:rPr lang="en-US" dirty="0"/>
              <a:t>Bivariate and multivariate logistic regression analysis used to define risk associated with HIV antigen positivity</a:t>
            </a:r>
          </a:p>
          <a:p>
            <a:pPr algn="just"/>
            <a:r>
              <a:rPr lang="en-US" dirty="0"/>
              <a:t>Bivariate and multivariate Cox proportional hazards regression analysis used to determine hazard ratios associated with HIV antigen positivity</a:t>
            </a:r>
          </a:p>
        </p:txBody>
      </p:sp>
    </p:spTree>
    <p:extLst>
      <p:ext uri="{BB962C8B-B14F-4D97-AF65-F5344CB8AC3E}">
        <p14:creationId xmlns:p14="http://schemas.microsoft.com/office/powerpoint/2010/main" val="3108014098"/>
      </p:ext>
    </p:extLst>
  </p:cSld>
  <p:clrMapOvr>
    <a:masterClrMapping/>
  </p:clrMapOvr>
  <p:extLst>
    <p:ext uri="{6950BFC3-D8DA-4A85-94F7-54DA5524770B}">
      <p188:commentRel xmlns:p188="http://schemas.microsoft.com/office/powerpoint/2018/8/main" xmlns=""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5887"/>
            <a:ext cx="10515600" cy="592162"/>
          </a:xfrm>
        </p:spPr>
        <p:txBody>
          <a:bodyPr>
            <a:normAutofit fontScale="90000"/>
          </a:bodyPr>
          <a:lstStyle/>
          <a:p>
            <a:r>
              <a:rPr lang="en-US" dirty="0"/>
              <a:t>Data Analysis Cont’d</a:t>
            </a:r>
          </a:p>
        </p:txBody>
      </p:sp>
      <p:sp>
        <p:nvSpPr>
          <p:cNvPr id="3" name="Content Placeholder 2"/>
          <p:cNvSpPr>
            <a:spLocks noGrp="1"/>
          </p:cNvSpPr>
          <p:nvPr>
            <p:ph idx="1"/>
          </p:nvPr>
        </p:nvSpPr>
        <p:spPr>
          <a:xfrm>
            <a:off x="288877" y="1146413"/>
            <a:ext cx="11614245" cy="4776715"/>
          </a:xfrm>
        </p:spPr>
        <p:txBody>
          <a:bodyPr/>
          <a:lstStyle/>
          <a:p>
            <a:pPr algn="just"/>
            <a:r>
              <a:rPr lang="en-US" dirty="0"/>
              <a:t>Variables with p &lt; 0.05 in bivariate analysis included in multivariate analysis using addition method</a:t>
            </a:r>
          </a:p>
          <a:p>
            <a:pPr algn="just"/>
            <a:r>
              <a:rPr lang="en-US" dirty="0"/>
              <a:t>Multivariate analysis adjusted to identify best model</a:t>
            </a:r>
          </a:p>
          <a:p>
            <a:pPr algn="just"/>
            <a:r>
              <a:rPr lang="en-US" dirty="0"/>
              <a:t>Spatial analysis conducted using conditional autoregressive method with Moran I and Geary Indices, as well as Bayesian modeling</a:t>
            </a:r>
          </a:p>
          <a:p>
            <a:pPr algn="just"/>
            <a:r>
              <a:rPr lang="en-US" dirty="0"/>
              <a:t>Spatial scan method used to identify clustering of HIV antigen positivity, spatial autocorrelation method used to establish randomness</a:t>
            </a:r>
          </a:p>
          <a:p>
            <a:pPr algn="just"/>
            <a:r>
              <a:rPr lang="en-US" dirty="0"/>
              <a:t>Bayesian modeling employed to evaluate spatial factors associated with HIV antigen positivity in </a:t>
            </a:r>
            <a:r>
              <a:rPr lang="en-US" dirty="0" err="1"/>
              <a:t>Homa</a:t>
            </a:r>
            <a:r>
              <a:rPr lang="en-US" dirty="0"/>
              <a:t>-Bay County</a:t>
            </a:r>
          </a:p>
          <a:p>
            <a:pPr algn="just"/>
            <a:r>
              <a:rPr lang="en-US" dirty="0"/>
              <a:t>R program and STATA used for all analyses.</a:t>
            </a:r>
          </a:p>
          <a:p>
            <a:endParaRPr lang="en-US" dirty="0"/>
          </a:p>
        </p:txBody>
      </p:sp>
    </p:spTree>
    <p:extLst>
      <p:ext uri="{BB962C8B-B14F-4D97-AF65-F5344CB8AC3E}">
        <p14:creationId xmlns:p14="http://schemas.microsoft.com/office/powerpoint/2010/main" val="4031463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34" y="172114"/>
            <a:ext cx="11436824" cy="660400"/>
          </a:xfrm>
        </p:spPr>
        <p:txBody>
          <a:bodyPr>
            <a:noAutofit/>
          </a:bodyPr>
          <a:lstStyle/>
          <a:p>
            <a:pPr algn="ctr"/>
            <a:r>
              <a:rPr lang="en-US" sz="2000" dirty="0"/>
              <a:t>TABLE 4.1 Association of Various Potential Risk Factors to HIV Antigen Positivity(ꭕ2)</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617543330"/>
              </p:ext>
            </p:extLst>
          </p:nvPr>
        </p:nvGraphicFramePr>
        <p:xfrm>
          <a:off x="95534" y="736985"/>
          <a:ext cx="5923396" cy="5677472"/>
        </p:xfrm>
        <a:graphic>
          <a:graphicData uri="http://schemas.openxmlformats.org/drawingml/2006/table">
            <a:tbl>
              <a:tblPr firstRow="1" firstCol="1" bandRow="1"/>
              <a:tblGrid>
                <a:gridCol w="3247511">
                  <a:extLst>
                    <a:ext uri="{9D8B030D-6E8A-4147-A177-3AD203B41FA5}">
                      <a16:colId xmlns:a16="http://schemas.microsoft.com/office/drawing/2014/main" xmlns="" val="20000"/>
                    </a:ext>
                  </a:extLst>
                </a:gridCol>
                <a:gridCol w="1687989">
                  <a:extLst>
                    <a:ext uri="{9D8B030D-6E8A-4147-A177-3AD203B41FA5}">
                      <a16:colId xmlns:a16="http://schemas.microsoft.com/office/drawing/2014/main" xmlns="" val="20001"/>
                    </a:ext>
                  </a:extLst>
                </a:gridCol>
                <a:gridCol w="987896">
                  <a:extLst>
                    <a:ext uri="{9D8B030D-6E8A-4147-A177-3AD203B41FA5}">
                      <a16:colId xmlns:a16="http://schemas.microsoft.com/office/drawing/2014/main" xmlns="" val="20002"/>
                    </a:ext>
                  </a:extLst>
                </a:gridCol>
              </a:tblGrid>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Variable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Chi</a:t>
                      </a:r>
                      <a:r>
                        <a:rPr lang="en-US" sz="1600" baseline="30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value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p-value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xmlns="" val="10000"/>
                  </a:ext>
                </a:extLst>
              </a:tr>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sub county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5.3679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0.615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1"/>
                  </a:ext>
                </a:extLst>
              </a:tr>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marital status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0.3863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0.824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2"/>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Residence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0.2446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0.621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3"/>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Employment status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3.2106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4"/>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 attendance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51.9856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5"/>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Facility level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0.3558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0.250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6"/>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Distance to facility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1.646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0.559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7"/>
                  </a:ext>
                </a:extLst>
              </a:tr>
              <a:tr h="354842">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 status before pregnancy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64.6096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8"/>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Syphilis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0.3588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0.549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9"/>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Uti</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3.2170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0.073</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0"/>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Miscarriage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0.1012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0.402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1"/>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Abortion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0.0630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0.802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2"/>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Stillbirth</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0.0141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0.905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3"/>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Premature</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92.167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4"/>
                  </a:ext>
                </a:extLst>
              </a:tr>
              <a:tr h="354842">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Haart during pregnancy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21.3997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3974" marR="93974"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5"/>
                  </a:ext>
                </a:extLst>
              </a:tr>
            </a:tbl>
          </a:graphicData>
        </a:graphic>
      </p:graphicFrame>
      <p:graphicFrame>
        <p:nvGraphicFramePr>
          <p:cNvPr id="7" name="Content Placeholder 6"/>
          <p:cNvGraphicFramePr>
            <a:graphicFrameLocks noGrp="1"/>
          </p:cNvGraphicFramePr>
          <p:nvPr>
            <p:ph sz="half" idx="2"/>
            <p:extLst>
              <p:ext uri="{D42A27DB-BD31-4B8C-83A1-F6EECF244321}">
                <p14:modId xmlns:p14="http://schemas.microsoft.com/office/powerpoint/2010/main" val="406756863"/>
              </p:ext>
            </p:extLst>
          </p:nvPr>
        </p:nvGraphicFramePr>
        <p:xfrm>
          <a:off x="6018928" y="736979"/>
          <a:ext cx="6077537" cy="5677470"/>
        </p:xfrm>
        <a:graphic>
          <a:graphicData uri="http://schemas.openxmlformats.org/drawingml/2006/table">
            <a:tbl>
              <a:tblPr firstRow="1" firstCol="1" bandRow="1"/>
              <a:tblGrid>
                <a:gridCol w="3332019">
                  <a:extLst>
                    <a:ext uri="{9D8B030D-6E8A-4147-A177-3AD203B41FA5}">
                      <a16:colId xmlns:a16="http://schemas.microsoft.com/office/drawing/2014/main" xmlns="" val="20000"/>
                    </a:ext>
                  </a:extLst>
                </a:gridCol>
                <a:gridCol w="1731915">
                  <a:extLst>
                    <a:ext uri="{9D8B030D-6E8A-4147-A177-3AD203B41FA5}">
                      <a16:colId xmlns:a16="http://schemas.microsoft.com/office/drawing/2014/main" xmlns="" val="20001"/>
                    </a:ext>
                  </a:extLst>
                </a:gridCol>
                <a:gridCol w="1013603">
                  <a:extLst>
                    <a:ext uri="{9D8B030D-6E8A-4147-A177-3AD203B41FA5}">
                      <a16:colId xmlns:a16="http://schemas.microsoft.com/office/drawing/2014/main" xmlns="" val="20002"/>
                    </a:ext>
                  </a:extLst>
                </a:gridCol>
              </a:tblGrid>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Cd4 cell count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b="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303.0770</a:t>
                      </a:r>
                      <a:endParaRPr lang="en-US"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tc>
                  <a:txBody>
                    <a:bodyPr/>
                    <a:lstStyle/>
                    <a:p>
                      <a:pPr algn="just">
                        <a:lnSpc>
                          <a:spcPct val="150000"/>
                        </a:lnSpc>
                        <a:spcAft>
                          <a:spcPts val="0"/>
                        </a:spcAft>
                      </a:pPr>
                      <a:r>
                        <a:rPr lang="en-US" sz="1600" b="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xmlns="" val="10000"/>
                  </a:ext>
                </a:extLst>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History of STI during pregnancy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0.5634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0.453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1"/>
                  </a:ext>
                </a:extLst>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Genital wart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0.1846</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0.6667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2"/>
                  </a:ext>
                </a:extLst>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Vaginal discharge syndrome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1.1660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0.280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3"/>
                  </a:ext>
                </a:extLst>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Genital herpes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1.7772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0.182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4"/>
                  </a:ext>
                </a:extLst>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Treated during pregnancy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1.0324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0.310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5"/>
                  </a:ext>
                </a:extLst>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Malaria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0.3099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0.578</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6"/>
                  </a:ext>
                </a:extLst>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Anaemia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0.1992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0.655</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7"/>
                  </a:ext>
                </a:extLst>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Hypertension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0.1621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0.687</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8"/>
                  </a:ext>
                </a:extLst>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Partner’s HIV status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0.8193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0.664</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09"/>
                  </a:ext>
                </a:extLst>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WHO </a:t>
                      </a:r>
                      <a:r>
                        <a:rPr lang="en-US" sz="16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disease stage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184.7703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0"/>
                  </a:ext>
                </a:extLst>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 membrane. 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0.623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0.969</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1"/>
                  </a:ext>
                </a:extLst>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Sex of the baby</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1.1196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0.290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2"/>
                  </a:ext>
                </a:extLst>
              </a:tr>
              <a:tr h="378498">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Education level</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152.4252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3"/>
                  </a:ext>
                </a:extLst>
              </a:tr>
              <a:tr h="378498">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Adherence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107.5346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algn="just">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xmlns="" val="10014"/>
                  </a:ext>
                </a:extLst>
              </a:tr>
            </a:tbl>
          </a:graphicData>
        </a:graphic>
      </p:graphicFrame>
    </p:spTree>
    <p:extLst>
      <p:ext uri="{BB962C8B-B14F-4D97-AF65-F5344CB8AC3E}">
        <p14:creationId xmlns:p14="http://schemas.microsoft.com/office/powerpoint/2010/main" val="2047898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6603" y="327546"/>
            <a:ext cx="11737075" cy="6018663"/>
          </a:xfrm>
        </p:spPr>
        <p:txBody>
          <a:bodyPr>
            <a:normAutofit fontScale="85000" lnSpcReduction="20000"/>
          </a:bodyPr>
          <a:lstStyle/>
          <a:p>
            <a:r>
              <a:rPr lang="en-US" dirty="0"/>
              <a:t>As per above table there is association between ANC attendance and HIV antigen positivity, a chi-square test of independence was conducted and revealed a significant relationship (χ2 = 51.9856, p &lt; 0.001)</a:t>
            </a:r>
          </a:p>
          <a:p>
            <a:r>
              <a:rPr lang="en-US" dirty="0"/>
              <a:t>HIV status before pregnancy (negative, positive, and unknown) was also significantly related to HIV antigen positivity at the end of the follow-up period (χ2 = 64.6096, p &lt; 0.001)</a:t>
            </a:r>
          </a:p>
          <a:p>
            <a:r>
              <a:rPr lang="en-US" dirty="0"/>
              <a:t>Prematurity was found to have a significant relationship with HIV antigen positivity at the end of the follow-up period (χ2 = 9.2617, p = 0.002)</a:t>
            </a:r>
          </a:p>
          <a:p>
            <a:r>
              <a:rPr lang="en-US" dirty="0"/>
              <a:t>HAART during pregnancy was significantly related to HIV antigen positivity at the end of the follow-up period (χ2 = 21.3997, p &lt; 0.000)</a:t>
            </a:r>
          </a:p>
          <a:p>
            <a:r>
              <a:rPr lang="en-US" dirty="0"/>
              <a:t>CD4 cell count was significantly related to HIV antigen positivity at the end of the follow-up (χ2 = 303.0770, p &lt; 0.000)</a:t>
            </a:r>
          </a:p>
          <a:p>
            <a:r>
              <a:rPr lang="en-US" dirty="0"/>
              <a:t>WHO HIV disease stage showed a significant relationship with HIV antigen positivity (χ2 = 184.7703, p &lt; 0.000)</a:t>
            </a:r>
          </a:p>
          <a:p>
            <a:r>
              <a:rPr lang="en-US" dirty="0"/>
              <a:t>Education level was found to be significantly related to HIV antigen positivity (χ2 = 152.4252, p &lt; 0.000)</a:t>
            </a:r>
          </a:p>
          <a:p>
            <a:r>
              <a:rPr lang="en-US" dirty="0"/>
              <a:t>Adherence was also significantly related to HIV antigen positivity at the end of the follow-up period (χ2 = 107.5346, p &lt; 0.000)</a:t>
            </a:r>
          </a:p>
        </p:txBody>
      </p:sp>
    </p:spTree>
    <p:extLst>
      <p:ext uri="{BB962C8B-B14F-4D97-AF65-F5344CB8AC3E}">
        <p14:creationId xmlns:p14="http://schemas.microsoft.com/office/powerpoint/2010/main" val="3823454423"/>
      </p:ext>
    </p:extLst>
  </p:cSld>
  <p:clrMapOvr>
    <a:masterClrMapping/>
  </p:clrMapOvr>
  <p:extLst>
    <p:ext uri="{6950BFC3-D8DA-4A85-94F7-54DA5524770B}">
      <p188:commentRel xmlns:p188="http://schemas.microsoft.com/office/powerpoint/2018/8/main" xmlns=""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117527"/>
            <a:ext cx="11764369" cy="537570"/>
          </a:xfrm>
        </p:spPr>
        <p:txBody>
          <a:bodyPr>
            <a:normAutofit fontScale="90000"/>
          </a:bodyPr>
          <a:lstStyle/>
          <a:p>
            <a:pPr algn="ctr"/>
            <a:r>
              <a:rPr lang="en-US" sz="2000" dirty="0"/>
              <a:t>Table 4.2 : FACTORS ASSOCIATED WITH HIV ANTIGEN POSITIVITY BY BIVARIATE LOGISTIC REGRESSION</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92488343"/>
              </p:ext>
            </p:extLst>
          </p:nvPr>
        </p:nvGraphicFramePr>
        <p:xfrm>
          <a:off x="309065" y="655097"/>
          <a:ext cx="11764369" cy="5728116"/>
        </p:xfrm>
        <a:graphic>
          <a:graphicData uri="http://schemas.openxmlformats.org/drawingml/2006/table">
            <a:tbl>
              <a:tblPr firstRow="1" firstCol="1" bandRow="1">
                <a:tableStyleId>{793D81CF-94F2-401A-BA57-92F5A7B2D0C5}</a:tableStyleId>
              </a:tblPr>
              <a:tblGrid>
                <a:gridCol w="5106360">
                  <a:extLst>
                    <a:ext uri="{9D8B030D-6E8A-4147-A177-3AD203B41FA5}">
                      <a16:colId xmlns:a16="http://schemas.microsoft.com/office/drawing/2014/main" xmlns="" val="20000"/>
                    </a:ext>
                  </a:extLst>
                </a:gridCol>
                <a:gridCol w="4316704">
                  <a:extLst>
                    <a:ext uri="{9D8B030D-6E8A-4147-A177-3AD203B41FA5}">
                      <a16:colId xmlns:a16="http://schemas.microsoft.com/office/drawing/2014/main" xmlns="" val="20001"/>
                    </a:ext>
                  </a:extLst>
                </a:gridCol>
                <a:gridCol w="2341305">
                  <a:extLst>
                    <a:ext uri="{9D8B030D-6E8A-4147-A177-3AD203B41FA5}">
                      <a16:colId xmlns:a16="http://schemas.microsoft.com/office/drawing/2014/main" xmlns="" val="20002"/>
                    </a:ext>
                  </a:extLst>
                </a:gridCol>
              </a:tblGrid>
              <a:tr h="477343">
                <a:tc>
                  <a:txBody>
                    <a:bodyPr/>
                    <a:lstStyle/>
                    <a:p>
                      <a:pPr>
                        <a:lnSpc>
                          <a:spcPct val="150000"/>
                        </a:lnSpc>
                        <a:spcAft>
                          <a:spcPts val="0"/>
                        </a:spcAft>
                      </a:pPr>
                      <a:r>
                        <a:rPr lang="en-US" sz="2000" dirty="0">
                          <a:effectLst/>
                        </a:rPr>
                        <a:t>Variables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Odds Ratio (95% CI)</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P Value</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0"/>
                  </a:ext>
                </a:extLst>
              </a:tr>
              <a:tr h="477343">
                <a:tc>
                  <a:txBody>
                    <a:bodyPr/>
                    <a:lstStyle/>
                    <a:p>
                      <a:pPr>
                        <a:lnSpc>
                          <a:spcPct val="150000"/>
                        </a:lnSpc>
                        <a:spcAft>
                          <a:spcPts val="0"/>
                        </a:spcAft>
                      </a:pPr>
                      <a:r>
                        <a:rPr lang="en-US" sz="2000" dirty="0">
                          <a:effectLst/>
                        </a:rPr>
                        <a:t>Antenatal clinic attendance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0.066[0.027-0.163]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&lt;0.001*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1"/>
                  </a:ext>
                </a:extLst>
              </a:tr>
              <a:tr h="477343">
                <a:tc>
                  <a:txBody>
                    <a:bodyPr/>
                    <a:lstStyle/>
                    <a:p>
                      <a:pPr>
                        <a:lnSpc>
                          <a:spcPct val="150000"/>
                        </a:lnSpc>
                        <a:spcAft>
                          <a:spcPts val="0"/>
                        </a:spcAft>
                      </a:pPr>
                      <a:r>
                        <a:rPr lang="en-US" sz="2000" dirty="0">
                          <a:effectLst/>
                        </a:rPr>
                        <a:t>HAART During Pregnancy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0.05 [0.009 -0.285]</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2"/>
                  </a:ext>
                </a:extLst>
              </a:tr>
              <a:tr h="477343">
                <a:tc>
                  <a:txBody>
                    <a:bodyPr/>
                    <a:lstStyle/>
                    <a:p>
                      <a:pPr>
                        <a:lnSpc>
                          <a:spcPct val="150000"/>
                        </a:lnSpc>
                        <a:spcAft>
                          <a:spcPts val="0"/>
                        </a:spcAft>
                      </a:pPr>
                      <a:r>
                        <a:rPr lang="en-US" sz="2000" dirty="0">
                          <a:effectLst/>
                        </a:rPr>
                        <a:t>WHO HIV disease stage(stage III)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16.8  [3.683-76.640]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&lt;0.001*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3"/>
                  </a:ext>
                </a:extLst>
              </a:tr>
              <a:tr h="477343">
                <a:tc>
                  <a:txBody>
                    <a:bodyPr/>
                    <a:lstStyle/>
                    <a:p>
                      <a:pPr>
                        <a:lnSpc>
                          <a:spcPct val="150000"/>
                        </a:lnSpc>
                        <a:spcAft>
                          <a:spcPts val="0"/>
                        </a:spcAft>
                      </a:pPr>
                      <a:r>
                        <a:rPr lang="en-US" sz="2000" dirty="0">
                          <a:effectLst/>
                        </a:rPr>
                        <a:t>Number of ANC visits made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0.716[0.629- 0.813]</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&lt;0.001*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4"/>
                  </a:ext>
                </a:extLst>
              </a:tr>
              <a:tr h="477343">
                <a:tc>
                  <a:txBody>
                    <a:bodyPr/>
                    <a:lstStyle/>
                    <a:p>
                      <a:pPr>
                        <a:lnSpc>
                          <a:spcPct val="150000"/>
                        </a:lnSpc>
                        <a:spcAft>
                          <a:spcPts val="0"/>
                        </a:spcAft>
                      </a:pPr>
                      <a:r>
                        <a:rPr lang="en-US" sz="2000" dirty="0">
                          <a:effectLst/>
                        </a:rPr>
                        <a:t>Duration of labor in hours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0.641[0.419 -0.979]</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0.040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5"/>
                  </a:ext>
                </a:extLst>
              </a:tr>
              <a:tr h="477343">
                <a:tc>
                  <a:txBody>
                    <a:bodyPr/>
                    <a:lstStyle/>
                    <a:p>
                      <a:pPr>
                        <a:lnSpc>
                          <a:spcPct val="150000"/>
                        </a:lnSpc>
                        <a:spcAft>
                          <a:spcPts val="0"/>
                        </a:spcAft>
                      </a:pPr>
                      <a:r>
                        <a:rPr lang="en-US" sz="2000" dirty="0">
                          <a:effectLst/>
                        </a:rPr>
                        <a:t>Duration of breast feeding in</a:t>
                      </a:r>
                      <a:r>
                        <a:rPr lang="en-US" sz="2000" baseline="0" dirty="0">
                          <a:effectLst/>
                        </a:rPr>
                        <a:t> </a:t>
                      </a:r>
                      <a:r>
                        <a:rPr lang="en-US" sz="2000" dirty="0">
                          <a:effectLst/>
                        </a:rPr>
                        <a:t>months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1.446[1.262-1.657]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6"/>
                  </a:ext>
                </a:extLst>
              </a:tr>
              <a:tr h="477343">
                <a:tc>
                  <a:txBody>
                    <a:bodyPr/>
                    <a:lstStyle/>
                    <a:p>
                      <a:pPr>
                        <a:lnSpc>
                          <a:spcPct val="150000"/>
                        </a:lnSpc>
                        <a:spcAft>
                          <a:spcPts val="0"/>
                        </a:spcAft>
                      </a:pPr>
                      <a:r>
                        <a:rPr lang="en-US" sz="2000">
                          <a:effectLst/>
                        </a:rPr>
                        <a:t>Never attended school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2.162[1.120- 6.577]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7"/>
                  </a:ext>
                </a:extLst>
              </a:tr>
              <a:tr h="477343">
                <a:tc>
                  <a:txBody>
                    <a:bodyPr/>
                    <a:lstStyle/>
                    <a:p>
                      <a:pPr algn="r">
                        <a:lnSpc>
                          <a:spcPct val="150000"/>
                        </a:lnSpc>
                        <a:spcAft>
                          <a:spcPts val="0"/>
                        </a:spcAft>
                      </a:pPr>
                      <a:r>
                        <a:rPr lang="en-US" sz="2000" dirty="0">
                          <a:effectLst/>
                        </a:rPr>
                        <a:t>Adherence                                      Good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0.039442[0.008-0.189]</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8"/>
                  </a:ext>
                </a:extLst>
              </a:tr>
              <a:tr h="477343">
                <a:tc>
                  <a:txBody>
                    <a:bodyPr/>
                    <a:lstStyle/>
                    <a:p>
                      <a:pPr algn="r">
                        <a:lnSpc>
                          <a:spcPct val="150000"/>
                        </a:lnSpc>
                        <a:spcAft>
                          <a:spcPts val="0"/>
                        </a:spcAft>
                      </a:pPr>
                      <a:r>
                        <a:rPr lang="en-US" sz="2000" dirty="0">
                          <a:effectLst/>
                        </a:rPr>
                        <a:t>                         Poor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5.011[1.9534-12.852]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09"/>
                  </a:ext>
                </a:extLst>
              </a:tr>
              <a:tr h="477343">
                <a:tc>
                  <a:txBody>
                    <a:bodyPr/>
                    <a:lstStyle/>
                    <a:p>
                      <a:pPr>
                        <a:lnSpc>
                          <a:spcPct val="150000"/>
                        </a:lnSpc>
                        <a:spcAft>
                          <a:spcPts val="0"/>
                        </a:spcAft>
                      </a:pPr>
                      <a:r>
                        <a:rPr lang="en-US" sz="2000" dirty="0">
                          <a:effectLst/>
                        </a:rPr>
                        <a:t>HIV status before pregnancy(positive)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a:effectLst/>
                        </a:rPr>
                        <a:t>0.057[0.0226- 0.144]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&lt;0.001*</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10"/>
                  </a:ext>
                </a:extLst>
              </a:tr>
              <a:tr h="477343">
                <a:tc>
                  <a:txBody>
                    <a:bodyPr/>
                    <a:lstStyle/>
                    <a:p>
                      <a:pPr>
                        <a:lnSpc>
                          <a:spcPct val="150000"/>
                        </a:lnSpc>
                        <a:spcAft>
                          <a:spcPts val="0"/>
                        </a:spcAft>
                      </a:pPr>
                      <a:r>
                        <a:rPr lang="en-US" sz="2000" dirty="0">
                          <a:effectLst/>
                        </a:rPr>
                        <a:t>prematurity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5.035713[1.607-15.770]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tc>
                  <a:txBody>
                    <a:bodyPr/>
                    <a:lstStyle/>
                    <a:p>
                      <a:pPr>
                        <a:lnSpc>
                          <a:spcPct val="150000"/>
                        </a:lnSpc>
                        <a:spcAft>
                          <a:spcPts val="0"/>
                        </a:spcAft>
                      </a:pPr>
                      <a:r>
                        <a:rPr lang="en-US" sz="2000" dirty="0">
                          <a:effectLst/>
                        </a:rPr>
                        <a:t>0.006</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121399" marR="121399" marT="0" marB="0"/>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314308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36478" y="457200"/>
            <a:ext cx="5883322" cy="5957247"/>
          </a:xfrm>
        </p:spPr>
        <p:txBody>
          <a:bodyPr>
            <a:normAutofit fontScale="70000" lnSpcReduction="20000"/>
          </a:bodyPr>
          <a:lstStyle/>
          <a:p>
            <a:pPr algn="just"/>
            <a:r>
              <a:rPr lang="en-US" dirty="0"/>
              <a:t>Antenatal attendance has a statistically significant relationship with HIV antigen positivity (p &lt; 0.001).</a:t>
            </a:r>
          </a:p>
          <a:p>
            <a:pPr algn="just"/>
            <a:r>
              <a:rPr lang="en-US" dirty="0"/>
              <a:t>The odds of a child turning HIV positive decrease by 6.6% for every increase in a week of antenatal attendance (95% CI 0.027-0.163, p &lt; 0.001).</a:t>
            </a:r>
          </a:p>
          <a:p>
            <a:pPr algn="just"/>
            <a:r>
              <a:rPr lang="en-US" dirty="0"/>
              <a:t>Taking HAART during pregnancy decreases the likelihood of HIV antigen positivity by 5.5% as measured by the number of ANC visits made.</a:t>
            </a:r>
          </a:p>
          <a:p>
            <a:pPr algn="just"/>
            <a:r>
              <a:rPr lang="en-US" dirty="0"/>
              <a:t>WHO staging is significantly associated with HIV antigen positivity, with mothers in stage three being 17 times more likely to transmit HIV to their children (95% CI 3.683-76.640, p &lt; 0.001).</a:t>
            </a:r>
          </a:p>
          <a:p>
            <a:pPr algn="just"/>
            <a:r>
              <a:rPr lang="en-US" dirty="0"/>
              <a:t>The number of ANC visits made to the prenatal clinic is significantly associated with HIV infection in babies born to HIV positive mothers, with a 71.6% decrease in the likelihood of HIV antigen positivity for every week increase in attendance (95% CI [0.629-0.813], p &lt; 0.001).</a:t>
            </a:r>
          </a:p>
          <a:p>
            <a:pPr algn="just"/>
            <a:r>
              <a:rPr lang="en-US" dirty="0"/>
              <a:t>Every hour increase in the duration of labor is associated with a 64.1% likelihood of HIV antigen positivity (95% CI [0.419-0.979], p &lt; 0.040).</a:t>
            </a:r>
          </a:p>
          <a:p>
            <a:endParaRPr lang="en-US" dirty="0"/>
          </a:p>
        </p:txBody>
      </p:sp>
      <p:sp>
        <p:nvSpPr>
          <p:cNvPr id="6" name="Content Placeholder 5"/>
          <p:cNvSpPr>
            <a:spLocks noGrp="1"/>
          </p:cNvSpPr>
          <p:nvPr>
            <p:ph sz="half" idx="2"/>
          </p:nvPr>
        </p:nvSpPr>
        <p:spPr>
          <a:xfrm>
            <a:off x="6127845" y="457200"/>
            <a:ext cx="5927677" cy="5957248"/>
          </a:xfrm>
        </p:spPr>
        <p:txBody>
          <a:bodyPr>
            <a:normAutofit fontScale="70000" lnSpcReduction="20000"/>
          </a:bodyPr>
          <a:lstStyle/>
          <a:p>
            <a:pPr algn="just"/>
            <a:r>
              <a:rPr lang="en-US" dirty="0"/>
              <a:t>An increase in the duration of breastfeeding by a month is associated with 1.446 odds of HIV antigen positivity (95% CI [1.262-1.657], p &lt; &lt;0.001).</a:t>
            </a:r>
          </a:p>
          <a:p>
            <a:pPr algn="just"/>
            <a:r>
              <a:rPr lang="en-US" dirty="0"/>
              <a:t>Babies born to mothers who never attended school had odds of 2.162 for transmitting HIV to their children.</a:t>
            </a:r>
          </a:p>
          <a:p>
            <a:pPr algn="just"/>
            <a:r>
              <a:rPr lang="en-US" dirty="0"/>
              <a:t>Good adherence to medication is associated with a 4% reduction in the chances of HIV antigen positivity (95% CI [0.008-0.189], p &lt; 0.001), while poor adherence increases the likelihood by 5 times (95% CI [1.9534-12.852], p &lt; 0.001).</a:t>
            </a:r>
          </a:p>
          <a:p>
            <a:pPr algn="just"/>
            <a:r>
              <a:rPr lang="en-US" dirty="0"/>
              <a:t>Knowledge of HIV status before the perinatal period is associated with a 5.7% decrease in the likelihood of turning HIV positive by the end of the follow-up period (95% CI [0.0226-0.144], p &lt; 0.001).</a:t>
            </a:r>
          </a:p>
          <a:p>
            <a:pPr algn="just"/>
            <a:r>
              <a:rPr lang="en-US" dirty="0"/>
              <a:t>Premature infants are 5 times more likely to be infected with the HIV virus by the end.</a:t>
            </a:r>
          </a:p>
          <a:p>
            <a:pPr algn="just"/>
            <a:r>
              <a:rPr lang="en-US" dirty="0"/>
              <a:t>These findings demonstrate various significant factors associated with HIV antigen positivity and suggest potential preventive measures.</a:t>
            </a:r>
          </a:p>
          <a:p>
            <a:endParaRPr lang="en-US" dirty="0"/>
          </a:p>
        </p:txBody>
      </p:sp>
    </p:spTree>
    <p:extLst>
      <p:ext uri="{BB962C8B-B14F-4D97-AF65-F5344CB8AC3E}">
        <p14:creationId xmlns:p14="http://schemas.microsoft.com/office/powerpoint/2010/main" val="3357396838"/>
      </p:ext>
    </p:extLst>
  </p:cSld>
  <p:clrMapOvr>
    <a:masterClrMapping/>
  </p:clrMapOvr>
  <p:extLst>
    <p:ext uri="{6950BFC3-D8DA-4A85-94F7-54DA5524770B}">
      <p188:commentRel xmlns:p188="http://schemas.microsoft.com/office/powerpoint/2018/8/main" xmlns=""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7345" y="158466"/>
            <a:ext cx="10515600" cy="605810"/>
          </a:xfrm>
        </p:spPr>
        <p:txBody>
          <a:bodyPr>
            <a:normAutofit fontScale="90000"/>
          </a:bodyPr>
          <a:lstStyle/>
          <a:p>
            <a:pPr algn="ctr"/>
            <a:r>
              <a:rPr lang="en-US" sz="2000" dirty="0"/>
              <a:t>Table 4.3 :Factors Associated With HIV Antigen Positivity by Multivariate Logistic Regression</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473154149"/>
              </p:ext>
            </p:extLst>
          </p:nvPr>
        </p:nvGraphicFramePr>
        <p:xfrm>
          <a:off x="246187" y="668741"/>
          <a:ext cx="11658599" cy="5773008"/>
        </p:xfrm>
        <a:graphic>
          <a:graphicData uri="http://schemas.openxmlformats.org/drawingml/2006/table">
            <a:tbl>
              <a:tblPr firstRow="1" firstCol="1" bandRow="1">
                <a:tableStyleId>{5202B0CA-FC54-4496-8BCA-5EF66A818D29}</a:tableStyleId>
              </a:tblPr>
              <a:tblGrid>
                <a:gridCol w="5489058">
                  <a:extLst>
                    <a:ext uri="{9D8B030D-6E8A-4147-A177-3AD203B41FA5}">
                      <a16:colId xmlns:a16="http://schemas.microsoft.com/office/drawing/2014/main" xmlns="" val="20000"/>
                    </a:ext>
                  </a:extLst>
                </a:gridCol>
                <a:gridCol w="3944414">
                  <a:extLst>
                    <a:ext uri="{9D8B030D-6E8A-4147-A177-3AD203B41FA5}">
                      <a16:colId xmlns:a16="http://schemas.microsoft.com/office/drawing/2014/main" xmlns="" val="20001"/>
                    </a:ext>
                  </a:extLst>
                </a:gridCol>
                <a:gridCol w="2225127">
                  <a:extLst>
                    <a:ext uri="{9D8B030D-6E8A-4147-A177-3AD203B41FA5}">
                      <a16:colId xmlns:a16="http://schemas.microsoft.com/office/drawing/2014/main" xmlns="" val="20002"/>
                    </a:ext>
                  </a:extLst>
                </a:gridCol>
              </a:tblGrid>
              <a:tr h="481084">
                <a:tc>
                  <a:txBody>
                    <a:bodyPr/>
                    <a:lstStyle/>
                    <a:p>
                      <a:pPr>
                        <a:lnSpc>
                          <a:spcPct val="150000"/>
                        </a:lnSpc>
                        <a:spcAft>
                          <a:spcPts val="800"/>
                        </a:spcAft>
                      </a:pPr>
                      <a:r>
                        <a:rPr lang="en-GB" sz="2000" dirty="0">
                          <a:effectLst/>
                        </a:rPr>
                        <a:t>Variables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Odds Ratio (95% CI)</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P Value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0"/>
                  </a:ext>
                </a:extLst>
              </a:tr>
              <a:tr h="481084">
                <a:tc>
                  <a:txBody>
                    <a:bodyPr/>
                    <a:lstStyle/>
                    <a:p>
                      <a:pPr>
                        <a:lnSpc>
                          <a:spcPct val="150000"/>
                        </a:lnSpc>
                        <a:spcAft>
                          <a:spcPts val="800"/>
                        </a:spcAft>
                      </a:pPr>
                      <a:r>
                        <a:rPr lang="en-GB" sz="2000" dirty="0">
                          <a:effectLst/>
                        </a:rPr>
                        <a:t> Duration of labor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0.461[0.162-0.307]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0.046*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1"/>
                  </a:ext>
                </a:extLst>
              </a:tr>
              <a:tr h="481084">
                <a:tc>
                  <a:txBody>
                    <a:bodyPr/>
                    <a:lstStyle/>
                    <a:p>
                      <a:pPr>
                        <a:lnSpc>
                          <a:spcPct val="150000"/>
                        </a:lnSpc>
                        <a:spcAft>
                          <a:spcPts val="800"/>
                        </a:spcAft>
                      </a:pPr>
                      <a:r>
                        <a:rPr lang="en-GB" sz="2000" dirty="0">
                          <a:effectLst/>
                        </a:rPr>
                        <a:t>Duration of breast feeding in months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1.463[1.0344-2.068]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0.031*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2"/>
                  </a:ext>
                </a:extLst>
              </a:tr>
              <a:tr h="481084">
                <a:tc>
                  <a:txBody>
                    <a:bodyPr/>
                    <a:lstStyle/>
                    <a:p>
                      <a:pPr>
                        <a:lnSpc>
                          <a:spcPct val="150000"/>
                        </a:lnSpc>
                        <a:spcAft>
                          <a:spcPts val="800"/>
                        </a:spcAft>
                      </a:pPr>
                      <a:r>
                        <a:rPr lang="en-GB" sz="2000">
                          <a:effectLst/>
                        </a:rPr>
                        <a:t>Antenatal clinic attendance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0.007[0.00004-1.043]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0.050*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3"/>
                  </a:ext>
                </a:extLst>
              </a:tr>
              <a:tr h="481084">
                <a:tc>
                  <a:txBody>
                    <a:bodyPr/>
                    <a:lstStyle/>
                    <a:p>
                      <a:pPr>
                        <a:lnSpc>
                          <a:spcPct val="150000"/>
                        </a:lnSpc>
                        <a:spcAft>
                          <a:spcPts val="800"/>
                        </a:spcAft>
                      </a:pPr>
                      <a:r>
                        <a:rPr lang="en-GB" sz="2000" dirty="0">
                          <a:effectLst/>
                        </a:rPr>
                        <a:t>Initiation of HAART during pregnancy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0.065[0.00001-266.615]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0.50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4"/>
                  </a:ext>
                </a:extLst>
              </a:tr>
              <a:tr h="481084">
                <a:tc>
                  <a:txBody>
                    <a:bodyPr/>
                    <a:lstStyle/>
                    <a:p>
                      <a:pPr>
                        <a:lnSpc>
                          <a:spcPct val="150000"/>
                        </a:lnSpc>
                        <a:spcAft>
                          <a:spcPts val="800"/>
                        </a:spcAft>
                      </a:pPr>
                      <a:r>
                        <a:rPr lang="en-GB" sz="2000">
                          <a:effectLst/>
                        </a:rPr>
                        <a:t>Never attended school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4.52[8.799 -23214.54]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0.002*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5"/>
                  </a:ext>
                </a:extLst>
              </a:tr>
              <a:tr h="481084">
                <a:tc>
                  <a:txBody>
                    <a:bodyPr/>
                    <a:lstStyle/>
                    <a:p>
                      <a:pPr>
                        <a:lnSpc>
                          <a:spcPct val="150000"/>
                        </a:lnSpc>
                        <a:spcAft>
                          <a:spcPts val="800"/>
                        </a:spcAft>
                      </a:pPr>
                      <a:r>
                        <a:rPr lang="en-GB" sz="2000">
                          <a:effectLst/>
                        </a:rPr>
                        <a:t>Attended up to Primary school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1.821[0.0835-0.681]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0.703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6"/>
                  </a:ext>
                </a:extLst>
              </a:tr>
              <a:tr h="481084">
                <a:tc>
                  <a:txBody>
                    <a:bodyPr/>
                    <a:lstStyle/>
                    <a:p>
                      <a:pPr>
                        <a:lnSpc>
                          <a:spcPct val="150000"/>
                        </a:lnSpc>
                        <a:spcAft>
                          <a:spcPts val="800"/>
                        </a:spcAft>
                      </a:pPr>
                      <a:r>
                        <a:rPr lang="en-GB" sz="2000">
                          <a:effectLst/>
                        </a:rPr>
                        <a:t>Attended up to Secondary school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1.538[0.063-37.003]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0.791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7"/>
                  </a:ext>
                </a:extLst>
              </a:tr>
              <a:tr h="481084">
                <a:tc>
                  <a:txBody>
                    <a:bodyPr/>
                    <a:lstStyle/>
                    <a:p>
                      <a:pPr>
                        <a:lnSpc>
                          <a:spcPct val="150000"/>
                        </a:lnSpc>
                        <a:spcAft>
                          <a:spcPts val="800"/>
                        </a:spcAft>
                      </a:pPr>
                      <a:r>
                        <a:rPr lang="en-GB" sz="2000">
                          <a:effectLst/>
                        </a:rPr>
                        <a:t>Adherence to HAART during ANC        Good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0.0437[0.003-0.658]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0.024*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8"/>
                  </a:ext>
                </a:extLst>
              </a:tr>
              <a:tr h="481084">
                <a:tc>
                  <a:txBody>
                    <a:bodyPr/>
                    <a:lstStyle/>
                    <a:p>
                      <a:pPr>
                        <a:lnSpc>
                          <a:spcPct val="150000"/>
                        </a:lnSpc>
                        <a:spcAft>
                          <a:spcPts val="800"/>
                        </a:spcAft>
                      </a:pPr>
                      <a:r>
                        <a:rPr lang="en-GB" sz="2000" dirty="0">
                          <a:effectLst/>
                        </a:rPr>
                        <a:t>                                                                     Poor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10.272[1.198-88.109]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0.034*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09"/>
                  </a:ext>
                </a:extLst>
              </a:tr>
              <a:tr h="481084">
                <a:tc>
                  <a:txBody>
                    <a:bodyPr/>
                    <a:lstStyle/>
                    <a:p>
                      <a:pPr>
                        <a:lnSpc>
                          <a:spcPct val="150000"/>
                        </a:lnSpc>
                        <a:spcAft>
                          <a:spcPts val="800"/>
                        </a:spcAft>
                      </a:pPr>
                      <a:r>
                        <a:rPr lang="en-GB" sz="2000">
                          <a:effectLst/>
                        </a:rPr>
                        <a:t>No of ANC visits made during pregnancy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1.150[0.599-2.205]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0.674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10"/>
                  </a:ext>
                </a:extLst>
              </a:tr>
              <a:tr h="481084">
                <a:tc>
                  <a:txBody>
                    <a:bodyPr/>
                    <a:lstStyle/>
                    <a:p>
                      <a:pPr>
                        <a:lnSpc>
                          <a:spcPct val="150000"/>
                        </a:lnSpc>
                        <a:spcAft>
                          <a:spcPts val="800"/>
                        </a:spcAft>
                      </a:pPr>
                      <a:r>
                        <a:rPr lang="en-GB" sz="2000" dirty="0">
                          <a:effectLst/>
                        </a:rPr>
                        <a:t>premature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a:effectLst/>
                        </a:rPr>
                        <a:t>9.386[0.896-98.283]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tc>
                  <a:txBody>
                    <a:bodyPr/>
                    <a:lstStyle/>
                    <a:p>
                      <a:pPr>
                        <a:lnSpc>
                          <a:spcPct val="150000"/>
                        </a:lnSpc>
                        <a:spcAft>
                          <a:spcPts val="800"/>
                        </a:spcAft>
                      </a:pPr>
                      <a:r>
                        <a:rPr lang="en-GB" sz="2000" dirty="0">
                          <a:effectLst/>
                        </a:rPr>
                        <a:t>0.062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0385" marR="60385" marT="0" marB="0"/>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3494382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125" y="696036"/>
            <a:ext cx="11928144" cy="5390865"/>
          </a:xfrm>
        </p:spPr>
        <p:txBody>
          <a:bodyPr>
            <a:noAutofit/>
          </a:bodyPr>
          <a:lstStyle/>
          <a:p>
            <a:pPr algn="just">
              <a:lnSpc>
                <a:spcPct val="100000"/>
              </a:lnSpc>
            </a:pPr>
            <a:r>
              <a:rPr lang="en-US" sz="2000" dirty="0"/>
              <a:t>Duration of breastfeeding in months reduces likelihood of turning HIV positive by 46.1% for every one-hour increase in duration of labor (95% CI [0.162-0.307], p=0.046), controlling for other variables</a:t>
            </a:r>
          </a:p>
          <a:p>
            <a:pPr algn="just">
              <a:lnSpc>
                <a:spcPct val="100000"/>
              </a:lnSpc>
            </a:pPr>
            <a:r>
              <a:rPr lang="en-US" sz="2000" dirty="0"/>
              <a:t>Duration of breastfeeding in months is associated with vertical HIV infection, with odds of 1.463 of being HIV positive for every one-unit increase (months) (95% CI [1.0344-2.068], p=0.031), controlling for other variables</a:t>
            </a:r>
          </a:p>
          <a:p>
            <a:pPr algn="just">
              <a:lnSpc>
                <a:spcPct val="100000"/>
              </a:lnSpc>
            </a:pPr>
            <a:r>
              <a:rPr lang="en-US" sz="2000" dirty="0"/>
              <a:t>Week of antenatal clinic attendance decreases chances of vertical HIV infection by 0.7% for every week attended (95% CI [0.00004-1.043], p=0.050), adjusting for other variables</a:t>
            </a:r>
          </a:p>
          <a:p>
            <a:pPr algn="just">
              <a:lnSpc>
                <a:spcPct val="100000"/>
              </a:lnSpc>
            </a:pPr>
            <a:r>
              <a:rPr lang="en-US" sz="2000" dirty="0"/>
              <a:t>Mothers who never attended school have odds of 4.5 of infants contracting HIV (95% CI [8.799-23214.54], p=0.002), controlling for other variables</a:t>
            </a:r>
          </a:p>
          <a:p>
            <a:pPr algn="just">
              <a:lnSpc>
                <a:spcPct val="100000"/>
              </a:lnSpc>
            </a:pPr>
            <a:r>
              <a:rPr lang="en-US" sz="2000" dirty="0"/>
              <a:t>Adherence to HAART during ANC reduces likelihood of transmitting HIV by 4.5% (95% CI [0.003-0.658], p=0.024), controlling for other variables</a:t>
            </a:r>
          </a:p>
          <a:p>
            <a:pPr algn="just">
              <a:lnSpc>
                <a:spcPct val="100000"/>
              </a:lnSpc>
            </a:pPr>
            <a:r>
              <a:rPr lang="en-US" sz="2000" dirty="0"/>
              <a:t>Poor compliance with HAART leads to 10.3 times higher likelihood of transmitting HIV to infants</a:t>
            </a:r>
          </a:p>
          <a:p>
            <a:pPr algn="just">
              <a:lnSpc>
                <a:spcPct val="100000"/>
              </a:lnSpc>
            </a:pPr>
            <a:r>
              <a:rPr lang="en-US" sz="2000" dirty="0"/>
              <a:t>Factors not statistically significant: initiation of HAART during pregnancy, attending up to primary school, attending up to secondary school, number of ANC visits, and prematurity</a:t>
            </a:r>
          </a:p>
        </p:txBody>
      </p:sp>
    </p:spTree>
    <p:extLst>
      <p:ext uri="{BB962C8B-B14F-4D97-AF65-F5344CB8AC3E}">
        <p14:creationId xmlns:p14="http://schemas.microsoft.com/office/powerpoint/2010/main" val="3397525210"/>
      </p:ext>
    </p:extLst>
  </p:cSld>
  <p:clrMapOvr>
    <a:masterClrMapping/>
  </p:clrMapOvr>
  <p:extLst>
    <p:ext uri="{6950BFC3-D8DA-4A85-94F7-54DA5524770B}">
      <p188:commentRel xmlns:p188="http://schemas.microsoft.com/office/powerpoint/2018/8/main" xmlns=""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199" y="136479"/>
            <a:ext cx="10515600" cy="559558"/>
          </a:xfrm>
        </p:spPr>
        <p:txBody>
          <a:bodyPr>
            <a:normAutofit/>
          </a:bodyPr>
          <a:lstStyle/>
          <a:p>
            <a:r>
              <a:rPr lang="en-US" sz="2000" dirty="0"/>
              <a:t>Table 4.4 : Factors Associated With HIV Antigen Positivity by Bivariate Cox PH Model</a:t>
            </a: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869442448"/>
              </p:ext>
            </p:extLst>
          </p:nvPr>
        </p:nvGraphicFramePr>
        <p:xfrm>
          <a:off x="432179" y="559559"/>
          <a:ext cx="11327641" cy="5718154"/>
        </p:xfrm>
        <a:graphic>
          <a:graphicData uri="http://schemas.openxmlformats.org/drawingml/2006/table">
            <a:tbl>
              <a:tblPr firstRow="1" firstCol="1" bandRow="1"/>
              <a:tblGrid>
                <a:gridCol w="4412776">
                  <a:extLst>
                    <a:ext uri="{9D8B030D-6E8A-4147-A177-3AD203B41FA5}">
                      <a16:colId xmlns:a16="http://schemas.microsoft.com/office/drawing/2014/main" xmlns="" val="20000"/>
                    </a:ext>
                  </a:extLst>
                </a:gridCol>
                <a:gridCol w="5462603">
                  <a:extLst>
                    <a:ext uri="{9D8B030D-6E8A-4147-A177-3AD203B41FA5}">
                      <a16:colId xmlns:a16="http://schemas.microsoft.com/office/drawing/2014/main" xmlns="" val="20001"/>
                    </a:ext>
                  </a:extLst>
                </a:gridCol>
                <a:gridCol w="1452262">
                  <a:extLst>
                    <a:ext uri="{9D8B030D-6E8A-4147-A177-3AD203B41FA5}">
                      <a16:colId xmlns:a16="http://schemas.microsoft.com/office/drawing/2014/main" xmlns="" val="20002"/>
                    </a:ext>
                  </a:extLst>
                </a:gridCol>
              </a:tblGrid>
              <a:tr h="336362">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Covariates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HR (95% CI)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 value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36362">
                <a:tc>
                  <a:txBody>
                    <a:bodyPr/>
                    <a:lstStyle/>
                    <a:p>
                      <a:pPr>
                        <a:lnSpc>
                          <a:spcPct val="150000"/>
                        </a:lnSpc>
                        <a:spcAft>
                          <a:spcPts val="0"/>
                        </a:spcAft>
                      </a:pPr>
                      <a:r>
                        <a:rPr lang="en-US" sz="16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Employment status</a:t>
                      </a:r>
                      <a:r>
                        <a:rPr lang="en-US" sz="1600" b="1" i="1" baseline="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Self employed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0.399[0.158-1.011]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0.053</a:t>
                      </a:r>
                      <a:r>
                        <a:rPr lang="en-US" sz="140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 attendance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0.081[0.377-0.173]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Facility level                                                 </a:t>
                      </a:r>
                      <a:r>
                        <a:rPr lang="en-US" sz="16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Level</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3</a:t>
                      </a: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2.54[3.25-1.99]</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Level 4</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2.03[2.65-1.55]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Level 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3.23[3.26-3.11]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336362">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 status before pregnancy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Positive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0.024[0.003-0.186]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Unknown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0.333[0.042-2.628]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0.297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Premature pregnancy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4.114[1.422-11.899]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0.009</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HAART during pregnancy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0.107[0.025-0.452]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0.002</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r h="336362">
                <a:tc>
                  <a:txBody>
                    <a:bodyPr/>
                    <a:lstStyle/>
                    <a:p>
                      <a:pPr algn="l">
                        <a:lnSpc>
                          <a:spcPct val="150000"/>
                        </a:lnSpc>
                        <a:spcAft>
                          <a:spcPts val="0"/>
                        </a:spcAft>
                      </a:pPr>
                      <a:r>
                        <a:rPr lang="en-US" sz="16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CD4 cell count</a:t>
                      </a:r>
                      <a:r>
                        <a:rPr lang="en-US" sz="1600" b="1" i="1" baseline="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200-500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0.011[0.004-0.026]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0"/>
                  </a:ext>
                </a:extLst>
              </a:tr>
              <a:tr h="336362">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Above 500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0.183[0.053-0.639]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0.008</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1"/>
                  </a:ext>
                </a:extLst>
              </a:tr>
              <a:tr h="336362">
                <a:tc>
                  <a:txBody>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sz="1600" b="1" i="1"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WHO HIV disease stage                              </a:t>
                      </a: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Stage II</a:t>
                      </a:r>
                      <a:endParaRPr lang="en-US" sz="1400" b="0" i="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0.716[0.202-2.538]</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0.605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2"/>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Stage III</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14.003[3.499-56.042]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3"/>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Stage IV</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47.265[17.692-126.269]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4"/>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 of ANC visits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0.721[0.639-0.814]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0.000</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5"/>
                  </a:ext>
                </a:extLst>
              </a:tr>
              <a:tr h="336362">
                <a:tc>
                  <a:txBody>
                    <a:bodyPr/>
                    <a:lstStyle/>
                    <a:p>
                      <a:pPr algn="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Duration of labor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0.888[0.564-1.397]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0.608</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9447" marR="4944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6"/>
                  </a:ext>
                </a:extLst>
              </a:tr>
            </a:tbl>
          </a:graphicData>
        </a:graphic>
      </p:graphicFrame>
    </p:spTree>
    <p:extLst>
      <p:ext uri="{BB962C8B-B14F-4D97-AF65-F5344CB8AC3E}">
        <p14:creationId xmlns:p14="http://schemas.microsoft.com/office/powerpoint/2010/main" val="1793705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73" y="158262"/>
            <a:ext cx="11805314" cy="469535"/>
          </a:xfrm>
        </p:spPr>
        <p:txBody>
          <a:bodyPr>
            <a:noAutofit/>
          </a:bodyPr>
          <a:lstStyle/>
          <a:p>
            <a:r>
              <a:rPr lang="en-US" sz="2000" dirty="0"/>
              <a:t>Table 4.5 :Factors Associated with HIV Antigen Positivity by multivariate Cox PH Model</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64117662"/>
              </p:ext>
            </p:extLst>
          </p:nvPr>
        </p:nvGraphicFramePr>
        <p:xfrm>
          <a:off x="316173" y="627797"/>
          <a:ext cx="11805314" cy="5800300"/>
        </p:xfrm>
        <a:graphic>
          <a:graphicData uri="http://schemas.openxmlformats.org/drawingml/2006/table">
            <a:tbl>
              <a:tblPr firstRow="1" firstCol="1" bandRow="1"/>
              <a:tblGrid>
                <a:gridCol w="4328492">
                  <a:extLst>
                    <a:ext uri="{9D8B030D-6E8A-4147-A177-3AD203B41FA5}">
                      <a16:colId xmlns:a16="http://schemas.microsoft.com/office/drawing/2014/main" xmlns="" val="20000"/>
                    </a:ext>
                  </a:extLst>
                </a:gridCol>
                <a:gridCol w="4194495">
                  <a:extLst>
                    <a:ext uri="{9D8B030D-6E8A-4147-A177-3AD203B41FA5}">
                      <a16:colId xmlns:a16="http://schemas.microsoft.com/office/drawing/2014/main" xmlns="" val="20001"/>
                    </a:ext>
                  </a:extLst>
                </a:gridCol>
                <a:gridCol w="3282327">
                  <a:extLst>
                    <a:ext uri="{9D8B030D-6E8A-4147-A177-3AD203B41FA5}">
                      <a16:colId xmlns:a16="http://schemas.microsoft.com/office/drawing/2014/main" xmlns="" val="20002"/>
                    </a:ext>
                  </a:extLst>
                </a:gridCol>
              </a:tblGrid>
              <a:tr h="573010">
                <a:tc>
                  <a:txBody>
                    <a:bodyPr/>
                    <a:lstStyle/>
                    <a:p>
                      <a:pPr>
                        <a:lnSpc>
                          <a:spcPct val="150000"/>
                        </a:lnSpc>
                        <a:spcAft>
                          <a:spcPts val="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Covariates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HR (95% CI)</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 value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622475">
                <a:tc>
                  <a:txBody>
                    <a:bodyPr/>
                    <a:lstStyle/>
                    <a:p>
                      <a:pPr algn="l">
                        <a:lnSpc>
                          <a:spcPct val="150000"/>
                        </a:lnSpc>
                        <a:spcAft>
                          <a:spcPts val="0"/>
                        </a:spcAft>
                        <a:tabLst>
                          <a:tab pos="920750" algn="ctr"/>
                        </a:tabLst>
                      </a:pPr>
                      <a:r>
                        <a:rPr lang="en-US" sz="20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HIV status before pregnancy</a:t>
                      </a:r>
                      <a:r>
                        <a:rPr lang="en-US" sz="2000" b="1" i="1" baseline="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Positive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15.5[0.447-537.778]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0.130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573010">
                <a:tc>
                  <a:txBody>
                    <a:bodyPr/>
                    <a:lstStyle/>
                    <a:p>
                      <a:pPr algn="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Unknown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17.7[0.556-567.848]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0.104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593745">
                <a:tc>
                  <a:txBody>
                    <a:bodyPr/>
                    <a:lstStyle/>
                    <a:p>
                      <a:pPr algn="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HAART During Pregnancy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0.30[0.002-0.4710]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0.012*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573010">
                <a:tc>
                  <a:txBody>
                    <a:bodyPr/>
                    <a:lstStyle/>
                    <a:p>
                      <a:pPr algn="l">
                        <a:lnSpc>
                          <a:spcPct val="150000"/>
                        </a:lnSpc>
                        <a:spcAft>
                          <a:spcPts val="0"/>
                        </a:spcAft>
                      </a:pPr>
                      <a:r>
                        <a:rPr lang="en-US" sz="20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CD4 cell count cells mm3</a:t>
                      </a:r>
                      <a:r>
                        <a:rPr lang="en-US" sz="2000" b="1" i="1" baseline="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200-500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0.20[0.001-0.352]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0.007*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573010">
                <a:tc>
                  <a:txBody>
                    <a:bodyPr/>
                    <a:lstStyle/>
                    <a:p>
                      <a:pPr algn="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below 200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605790" algn="l"/>
                        </a:tabLs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24.3[1.993-594.65]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0.050*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573010">
                <a:tc>
                  <a:txBody>
                    <a:bodyPr/>
                    <a:lstStyle/>
                    <a:p>
                      <a:pPr algn="l">
                        <a:lnSpc>
                          <a:spcPct val="150000"/>
                        </a:lnSpc>
                        <a:spcAft>
                          <a:spcPts val="0"/>
                        </a:spcAft>
                      </a:pPr>
                      <a:r>
                        <a:rPr lang="en-US" sz="20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WHO HIV Disease Stage</a:t>
                      </a:r>
                      <a:r>
                        <a:rPr lang="en-US" sz="2000" b="1" i="1" baseline="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Stage II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2.5[0.184-34.95]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0.486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573010">
                <a:tc>
                  <a:txBody>
                    <a:bodyPr/>
                    <a:lstStyle/>
                    <a:p>
                      <a:pPr algn="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Stage III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0.04[0.0007-0.02]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&lt;0.001*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573010">
                <a:tc>
                  <a:txBody>
                    <a:bodyPr/>
                    <a:lstStyle/>
                    <a:p>
                      <a:pPr algn="l">
                        <a:lnSpc>
                          <a:spcPct val="150000"/>
                        </a:lnSpc>
                        <a:spcAft>
                          <a:spcPts val="0"/>
                        </a:spcAft>
                      </a:pPr>
                      <a:r>
                        <a:rPr lang="en-US" sz="20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Adherence</a:t>
                      </a:r>
                      <a:r>
                        <a:rPr lang="en-US" sz="2000" b="1" i="1" baseline="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aseline="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Good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3.58[0.574- 22.32]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0.172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573010">
                <a:tc>
                  <a:txBody>
                    <a:bodyPr/>
                    <a:lstStyle/>
                    <a:p>
                      <a:pPr algn="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2.49[0.757- 8.163]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0.133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2257856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6603" y="614149"/>
            <a:ext cx="11682483" cy="5923128"/>
          </a:xfrm>
        </p:spPr>
        <p:txBody>
          <a:bodyPr>
            <a:normAutofit/>
          </a:bodyPr>
          <a:lstStyle/>
          <a:p>
            <a:pPr marL="0" indent="0" algn="just">
              <a:buNone/>
            </a:pPr>
            <a:r>
              <a:rPr lang="en-US" dirty="0"/>
              <a:t>In the Adjusted model: </a:t>
            </a:r>
          </a:p>
          <a:p>
            <a:pPr algn="just"/>
            <a:r>
              <a:rPr lang="en-US" dirty="0"/>
              <a:t>Mothers who took HAART during pregnancy were 30% less likely to transmit HIV to their children compared to those who did not (HR=0.03, 95% CI: 0.002-0.4710, P=0.012)</a:t>
            </a:r>
          </a:p>
          <a:p>
            <a:pPr algn="just"/>
            <a:r>
              <a:rPr lang="en-US" dirty="0"/>
              <a:t>CD4 cell count between 200-500: 20% less likely to transmit HIV to children (95% CI: 0.001-0.352, P=0.007) compared to CD4 count above 500 cells/mm3</a:t>
            </a:r>
          </a:p>
          <a:p>
            <a:pPr algn="just"/>
            <a:r>
              <a:rPr lang="en-US" dirty="0"/>
              <a:t>CD4 cell count below 200: 24.3 times more likely to transmit HIV to children (95% CI: 1.993-594.65, P=0.050)</a:t>
            </a:r>
          </a:p>
          <a:p>
            <a:pPr algn="just"/>
            <a:r>
              <a:rPr lang="en-US" dirty="0"/>
              <a:t>WHO HIV Disease Stage III: 4% more likely to transmit HIV to offspring (95% CI: 0.0007-0.02, P=0.001) compared to Stage I</a:t>
            </a:r>
          </a:p>
          <a:p>
            <a:pPr algn="just"/>
            <a:r>
              <a:rPr lang="en-US" dirty="0"/>
              <a:t>No statistical association found for: HIV status before pregnancy, WHO HIV Disease Stage II, and Adherence</a:t>
            </a:r>
          </a:p>
        </p:txBody>
      </p:sp>
    </p:spTree>
    <p:extLst>
      <p:ext uri="{BB962C8B-B14F-4D97-AF65-F5344CB8AC3E}">
        <p14:creationId xmlns:p14="http://schemas.microsoft.com/office/powerpoint/2010/main" val="4112465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682387"/>
          </a:xfrm>
        </p:spPr>
        <p:txBody>
          <a:bodyPr>
            <a:normAutofit fontScale="90000"/>
          </a:bodyPr>
          <a:lstStyle/>
          <a:p>
            <a:pPr algn="ctr"/>
            <a:r>
              <a:rPr lang="en-US" dirty="0"/>
              <a:t>Discussion </a:t>
            </a:r>
          </a:p>
        </p:txBody>
      </p:sp>
      <p:sp>
        <p:nvSpPr>
          <p:cNvPr id="3" name="Content Placeholder 2"/>
          <p:cNvSpPr>
            <a:spLocks noGrp="1"/>
          </p:cNvSpPr>
          <p:nvPr>
            <p:ph idx="1"/>
          </p:nvPr>
        </p:nvSpPr>
        <p:spPr>
          <a:xfrm>
            <a:off x="368490" y="682388"/>
            <a:ext cx="11532358" cy="5494575"/>
          </a:xfrm>
        </p:spPr>
        <p:txBody>
          <a:bodyPr>
            <a:normAutofit lnSpcReduction="10000"/>
          </a:bodyPr>
          <a:lstStyle/>
          <a:p>
            <a:pPr algn="just"/>
            <a:r>
              <a:rPr lang="en-US" dirty="0"/>
              <a:t>The results of this study indicate several factors that are significantly associated with HIV antigen positivity in infants. </a:t>
            </a:r>
          </a:p>
          <a:p>
            <a:pPr algn="just"/>
            <a:r>
              <a:rPr lang="en-US" dirty="0"/>
              <a:t>These factors include attendance at antenatal care (ANC), HIV status before pregnancy, prematurity, use of highly active antiretroviral therapy (HAART) during pregnancy, CD4 cell count, WHO HIV disease stage, education level, and adherence. </a:t>
            </a:r>
          </a:p>
          <a:p>
            <a:pPr algn="just"/>
            <a:r>
              <a:rPr lang="en-US" dirty="0"/>
              <a:t>Bivariate and multivariate analyses support these associations, with some additional factors such as breastfeeding duration, maternal education, and HAART adherence also showing significance. </a:t>
            </a:r>
          </a:p>
          <a:p>
            <a:pPr algn="just"/>
            <a:r>
              <a:rPr lang="en-US" dirty="0"/>
              <a:t>The use of HAART during pregnancy and higher CD4 cell counts reduce the likelihood of HIV transmission, while lower CD4 counts and being in WHO HIV disease stage III increase the likelihood.</a:t>
            </a:r>
          </a:p>
          <a:p>
            <a:pPr algn="just"/>
            <a:r>
              <a:rPr lang="en-US" dirty="0"/>
              <a:t>These findings provide insight into potential measures to prevent vertical transmission of HIV in infants. (Chi et al., 2017)</a:t>
            </a:r>
          </a:p>
        </p:txBody>
      </p:sp>
    </p:spTree>
    <p:extLst>
      <p:ext uri="{BB962C8B-B14F-4D97-AF65-F5344CB8AC3E}">
        <p14:creationId xmlns:p14="http://schemas.microsoft.com/office/powerpoint/2010/main" val="2300667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1295"/>
            <a:ext cx="10515600" cy="1054551"/>
          </a:xfrm>
        </p:spPr>
        <p:txBody>
          <a:bodyPr/>
          <a:lstStyle/>
          <a:p>
            <a:pPr algn="ctr"/>
            <a:r>
              <a:rPr lang="en-US" dirty="0"/>
              <a:t>Conclusion </a:t>
            </a:r>
          </a:p>
        </p:txBody>
      </p:sp>
      <p:sp>
        <p:nvSpPr>
          <p:cNvPr id="3" name="Content Placeholder 2"/>
          <p:cNvSpPr>
            <a:spLocks noGrp="1"/>
          </p:cNvSpPr>
          <p:nvPr>
            <p:ph idx="1"/>
          </p:nvPr>
        </p:nvSpPr>
        <p:spPr>
          <a:xfrm>
            <a:off x="272955" y="1119116"/>
            <a:ext cx="11423175" cy="5186150"/>
          </a:xfrm>
        </p:spPr>
        <p:txBody>
          <a:bodyPr>
            <a:normAutofit fontScale="92500"/>
          </a:bodyPr>
          <a:lstStyle/>
          <a:p>
            <a:pPr algn="just">
              <a:lnSpc>
                <a:spcPct val="150000"/>
              </a:lnSpc>
            </a:pPr>
            <a:r>
              <a:rPr lang="en-US" dirty="0"/>
              <a:t>The results of the study indicate several significant factors associated with HIV antigen positivity and the transmission of HIV from mothers to their children. </a:t>
            </a:r>
          </a:p>
          <a:p>
            <a:pPr algn="just">
              <a:lnSpc>
                <a:spcPct val="150000"/>
              </a:lnSpc>
            </a:pPr>
            <a:r>
              <a:rPr lang="en-US" dirty="0"/>
              <a:t>These factors include antenatal clinic attendance, HIV status before pregnancy, prematurity, HAART during pregnancy, CD4 cell count, WHO HIV disease stage, education level, and adherence to medication. </a:t>
            </a:r>
          </a:p>
          <a:p>
            <a:pPr algn="just">
              <a:lnSpc>
                <a:spcPct val="150000"/>
              </a:lnSpc>
            </a:pPr>
            <a:r>
              <a:rPr lang="en-US" dirty="0"/>
              <a:t>Various preventive measures can be considered based on these findings.</a:t>
            </a:r>
          </a:p>
        </p:txBody>
      </p:sp>
    </p:spTree>
    <p:extLst>
      <p:ext uri="{BB962C8B-B14F-4D97-AF65-F5344CB8AC3E}">
        <p14:creationId xmlns:p14="http://schemas.microsoft.com/office/powerpoint/2010/main" val="4235499724"/>
      </p:ext>
    </p:extLst>
  </p:cSld>
  <p:clrMapOvr>
    <a:masterClrMapping/>
  </p:clrMapOvr>
  <p:extLst>
    <p:ext uri="{6950BFC3-D8DA-4A85-94F7-54DA5524770B}">
      <p188:commentRel xmlns:p188="http://schemas.microsoft.com/office/powerpoint/2018/8/main" xmlns=""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23"/>
            <a:ext cx="10515600" cy="674048"/>
          </a:xfrm>
        </p:spPr>
        <p:txBody>
          <a:bodyPr>
            <a:normAutofit fontScale="90000"/>
          </a:bodyPr>
          <a:lstStyle/>
          <a:p>
            <a:pPr algn="ctr"/>
            <a:r>
              <a:rPr lang="en-US" dirty="0"/>
              <a:t>Recommendation </a:t>
            </a:r>
          </a:p>
        </p:txBody>
      </p:sp>
      <p:sp>
        <p:nvSpPr>
          <p:cNvPr id="3" name="Content Placeholder 2"/>
          <p:cNvSpPr>
            <a:spLocks noGrp="1"/>
          </p:cNvSpPr>
          <p:nvPr>
            <p:ph idx="1"/>
          </p:nvPr>
        </p:nvSpPr>
        <p:spPr>
          <a:xfrm>
            <a:off x="395785" y="791570"/>
            <a:ext cx="11491415" cy="6066429"/>
          </a:xfrm>
        </p:spPr>
        <p:txBody>
          <a:bodyPr>
            <a:normAutofit fontScale="62500" lnSpcReduction="20000"/>
          </a:bodyPr>
          <a:lstStyle/>
          <a:p>
            <a:pPr algn="just"/>
            <a:r>
              <a:rPr lang="en-US" dirty="0"/>
              <a:t>Encourage and promote antenatal clinic attendance: The study showed that attending antenatal clinics regularly reduces the risk of HIV transmission. It is important to educate pregnant women about the benefits of attending these clinics and provide support to ensure their regular attendance.</a:t>
            </a:r>
          </a:p>
          <a:p>
            <a:pPr algn="just"/>
            <a:r>
              <a:rPr lang="en-US" dirty="0"/>
              <a:t>Promote HIV testing and knowledge of HIV status: The study found that knowledge of HIV status before pregnancy decreases the likelihood of HIV transmission. Therefore, it is crucial to encourage HIV testing and provide counseling services to pregnant women to ensure early identification and appropriate management.</a:t>
            </a:r>
          </a:p>
          <a:p>
            <a:pPr algn="just"/>
            <a:r>
              <a:rPr lang="en-US" dirty="0"/>
              <a:t>Enhance adherence to HAART: The study demonstrated that adherence to HAART during pregnancy significantly reduces the risk of HIV transmission. Health systems should focus on providing comprehensive support to pregnant women, including education, counseling, and monitoring of medication adherence to ensure optimal protection.</a:t>
            </a:r>
          </a:p>
          <a:p>
            <a:pPr algn="just"/>
            <a:r>
              <a:rPr lang="en-US" dirty="0"/>
              <a:t>Focus on CD4 cell count monitoring: The study showed that maintaining CD4 cell count between 200-500 cells/mm3 reduces the risk of HIV transmission. Therefore, regular monitoring of CD4 cell count is essential to identify potential risks and provide appropriate interventions.</a:t>
            </a:r>
          </a:p>
          <a:p>
            <a:pPr algn="just"/>
            <a:r>
              <a:rPr lang="en-US" dirty="0"/>
              <a:t>Address education and literacy gaps: The study found that mothers with no formal education have a higher risk of HIV transmission. Efforts should be made to improve education access and promote health literacy among women of reproductive age to reduce HIV transmission.</a:t>
            </a:r>
          </a:p>
          <a:p>
            <a:pPr algn="just"/>
            <a:r>
              <a:rPr lang="en-US" dirty="0"/>
              <a:t>Consider individualized care based on WHO HIV disease stage: The study revealed that mothers in stage III of HIV disease are more likely to transmit the virus. Healthcare providers should consider individualized care plans based on disease stage to optimize prevention strategies.</a:t>
            </a:r>
          </a:p>
          <a:p>
            <a:pPr algn="just"/>
            <a:r>
              <a:rPr lang="en-US" dirty="0"/>
              <a:t>Strengthen support for breastfeeding mothers: The study found that the duration of breastfeeding is associated with the risk of HIV transmission. Supportive measures, such as lactation counseling and guidance on safe breastfeeding practices, should be provided to HIV-positive mothers to minimize transmission risk.</a:t>
            </a:r>
          </a:p>
        </p:txBody>
      </p:sp>
    </p:spTree>
    <p:extLst>
      <p:ext uri="{BB962C8B-B14F-4D97-AF65-F5344CB8AC3E}">
        <p14:creationId xmlns:p14="http://schemas.microsoft.com/office/powerpoint/2010/main" val="3151887165"/>
      </p:ext>
    </p:extLst>
  </p:cSld>
  <p:clrMapOvr>
    <a:masterClrMapping/>
  </p:clrMapOvr>
  <p:extLst>
    <p:ext uri="{6950BFC3-D8DA-4A85-94F7-54DA5524770B}">
      <p188:commentRel xmlns:p188="http://schemas.microsoft.com/office/powerpoint/2018/8/main" xmlns=""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857CBE-3853-81F4-65D5-6754D734768F}"/>
              </a:ext>
            </a:extLst>
          </p:cNvPr>
          <p:cNvSpPr>
            <a:spLocks noGrp="1"/>
          </p:cNvSpPr>
          <p:nvPr>
            <p:ph type="title"/>
          </p:nvPr>
        </p:nvSpPr>
        <p:spPr>
          <a:xfrm>
            <a:off x="838200" y="281296"/>
            <a:ext cx="10515600" cy="783230"/>
          </a:xfrm>
        </p:spPr>
        <p:txBody>
          <a:bodyPr/>
          <a:lstStyle/>
          <a:p>
            <a:r>
              <a:rPr lang="en-US" dirty="0"/>
              <a:t>Acknowledgements</a:t>
            </a:r>
            <a:endParaRPr lang="aa-ET" dirty="0"/>
          </a:p>
        </p:txBody>
      </p:sp>
      <p:sp>
        <p:nvSpPr>
          <p:cNvPr id="3" name="Content Placeholder 2">
            <a:extLst>
              <a:ext uri="{FF2B5EF4-FFF2-40B4-BE49-F238E27FC236}">
                <a16:creationId xmlns:a16="http://schemas.microsoft.com/office/drawing/2014/main" xmlns="" id="{68D8769A-1D59-2867-EFC1-2170FEAC08D8}"/>
              </a:ext>
            </a:extLst>
          </p:cNvPr>
          <p:cNvSpPr>
            <a:spLocks noGrp="1"/>
          </p:cNvSpPr>
          <p:nvPr>
            <p:ph idx="1"/>
          </p:nvPr>
        </p:nvSpPr>
        <p:spPr>
          <a:xfrm>
            <a:off x="218363" y="1064526"/>
            <a:ext cx="11859905" cy="4490113"/>
          </a:xfrm>
        </p:spPr>
        <p:txBody>
          <a:bodyPr/>
          <a:lstStyle/>
          <a:p>
            <a:pPr marL="0" indent="0" algn="just">
              <a:buNone/>
            </a:pPr>
            <a:r>
              <a:rPr lang="en-US" dirty="0"/>
              <a:t>I would like to express my sincere gratitude to the following individuals and organizations for their invaluable contribution and support throughout the completion of this study.</a:t>
            </a:r>
          </a:p>
          <a:p>
            <a:pPr marL="0" indent="0" algn="just">
              <a:buNone/>
            </a:pPr>
            <a:r>
              <a:rPr lang="en-US" dirty="0"/>
              <a:t>1. Professor Simon Karanja </a:t>
            </a:r>
          </a:p>
          <a:p>
            <a:pPr marL="0" indent="0" algn="just">
              <a:buNone/>
            </a:pPr>
            <a:r>
              <a:rPr lang="en-US" dirty="0"/>
              <a:t>         Jomo Kenyatta University of Agriculture &amp; Technology</a:t>
            </a:r>
          </a:p>
          <a:p>
            <a:pPr marL="0" indent="0" algn="just">
              <a:buNone/>
            </a:pPr>
            <a:r>
              <a:rPr lang="en-US" dirty="0"/>
              <a:t>2. Late Dr. Peter Wanzala </a:t>
            </a:r>
          </a:p>
          <a:p>
            <a:pPr marL="0" indent="0" algn="just">
              <a:buNone/>
            </a:pPr>
            <a:r>
              <a:rPr lang="en-US" dirty="0"/>
              <a:t>    Institute of Tropical Medicine and Infectious Diseases (ITROMID)</a:t>
            </a:r>
          </a:p>
          <a:p>
            <a:pPr marL="0" indent="0" algn="just">
              <a:buNone/>
            </a:pPr>
            <a:r>
              <a:rPr lang="en-US" dirty="0"/>
              <a:t>3.Kemri Graduate School</a:t>
            </a:r>
          </a:p>
          <a:p>
            <a:endParaRPr lang="aa-ET" dirty="0"/>
          </a:p>
        </p:txBody>
      </p:sp>
    </p:spTree>
    <p:extLst>
      <p:ext uri="{BB962C8B-B14F-4D97-AF65-F5344CB8AC3E}">
        <p14:creationId xmlns:p14="http://schemas.microsoft.com/office/powerpoint/2010/main" val="757010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3768</TotalTime>
  <Words>3018</Words>
  <Application>Microsoft Office PowerPoint</Application>
  <PresentationFormat>Widescreen</PresentationFormat>
  <Paragraphs>377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Segoe UI</vt:lpstr>
      <vt:lpstr>Times New Roman</vt:lpstr>
      <vt:lpstr>Office Theme</vt:lpstr>
      <vt:lpstr>MODELLING FACTORS ASSOCIATED WITH HIV-FREE SURVIVAL AMONG EXPOSED INFANTS IN HOMA BAY COUNTY</vt:lpstr>
      <vt:lpstr>Background</vt:lpstr>
      <vt:lpstr>Statement of the problem</vt:lpstr>
      <vt:lpstr>Justification</vt:lpstr>
      <vt:lpstr>Specific Objectives</vt:lpstr>
      <vt:lpstr>Conclusion</vt:lpstr>
      <vt:lpstr>Materials and methods</vt:lpstr>
      <vt:lpstr>Sample size determination </vt:lpstr>
      <vt:lpstr>Data Analysis </vt:lpstr>
      <vt:lpstr>Data Analysis Cont’d</vt:lpstr>
      <vt:lpstr>TABLE 4.1 Association of Various Potential Risk Factors to HIV Antigen Positivity(ꭕ2)</vt:lpstr>
      <vt:lpstr>PowerPoint Presentation</vt:lpstr>
      <vt:lpstr>Table 4.2 : FACTORS ASSOCIATED WITH HIV ANTIGEN POSITIVITY BY BIVARIATE LOGISTIC REGRESSION</vt:lpstr>
      <vt:lpstr>PowerPoint Presentation</vt:lpstr>
      <vt:lpstr>Table 4.3 :Factors Associated With HIV Antigen Positivity by Multivariate Logistic Regression</vt:lpstr>
      <vt:lpstr>PowerPoint Presentation</vt:lpstr>
      <vt:lpstr>Table 4.4 : Factors Associated With HIV Antigen Positivity by Bivariate Cox PH Model</vt:lpstr>
      <vt:lpstr>Table 4.5 :Factors Associated with HIV Antigen Positivity by multivariate Cox PH Model</vt:lpstr>
      <vt:lpstr>PowerPoint Presentation</vt:lpstr>
      <vt:lpstr>Discussion </vt:lpstr>
      <vt:lpstr>Conclusion </vt:lpstr>
      <vt:lpstr>Recommendation </vt:lpstr>
      <vt:lpstr>Acknowledgements</vt:lpstr>
    </vt:vector>
  </TitlesOfParts>
  <Company>rg-adguard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Charles Syengo</dc:creator>
  <cp:lastModifiedBy>Augustine Gatimu</cp:lastModifiedBy>
  <cp:revision>118</cp:revision>
  <dcterms:created xsi:type="dcterms:W3CDTF">2017-07-20T02:49:31Z</dcterms:created>
  <dcterms:modified xsi:type="dcterms:W3CDTF">2024-05-12T03:54:19Z</dcterms:modified>
</cp:coreProperties>
</file>