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2" r:id="rId1"/>
  </p:sldMasterIdLst>
  <p:notesMasterIdLst>
    <p:notesMasterId r:id="rId28"/>
  </p:notesMasterIdLst>
  <p:handoutMasterIdLst>
    <p:handoutMasterId r:id="rId29"/>
  </p:handoutMasterIdLst>
  <p:sldIdLst>
    <p:sldId id="276" r:id="rId2"/>
    <p:sldId id="277" r:id="rId3"/>
    <p:sldId id="289" r:id="rId4"/>
    <p:sldId id="323" r:id="rId5"/>
    <p:sldId id="325" r:id="rId6"/>
    <p:sldId id="324" r:id="rId7"/>
    <p:sldId id="290" r:id="rId8"/>
    <p:sldId id="279" r:id="rId9"/>
    <p:sldId id="309" r:id="rId10"/>
    <p:sldId id="281" r:id="rId11"/>
    <p:sldId id="291" r:id="rId12"/>
    <p:sldId id="306" r:id="rId13"/>
    <p:sldId id="333" r:id="rId14"/>
    <p:sldId id="334" r:id="rId15"/>
    <p:sldId id="326" r:id="rId16"/>
    <p:sldId id="330" r:id="rId17"/>
    <p:sldId id="329" r:id="rId18"/>
    <p:sldId id="328" r:id="rId19"/>
    <p:sldId id="327" r:id="rId20"/>
    <p:sldId id="331" r:id="rId21"/>
    <p:sldId id="332" r:id="rId22"/>
    <p:sldId id="335" r:id="rId23"/>
    <p:sldId id="336" r:id="rId24"/>
    <p:sldId id="339" r:id="rId25"/>
    <p:sldId id="293" r:id="rId26"/>
    <p:sldId id="29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D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91" autoAdjust="0"/>
  </p:normalViewPr>
  <p:slideViewPr>
    <p:cSldViewPr snapToGrid="0">
      <p:cViewPr varScale="1">
        <p:scale>
          <a:sx n="70" d="100"/>
          <a:sy n="70" d="100"/>
        </p:scale>
        <p:origin x="114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80" y="1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les Syengo" userId="8ef22246-9f77-4017-8b34-5307cad57bef" providerId="ADAL" clId="{E9112573-5529-4DD1-8EF4-6A59A242FE16}"/>
    <pc:docChg chg="addSld delSld modSld">
      <pc:chgData name="Charles Syengo" userId="8ef22246-9f77-4017-8b34-5307cad57bef" providerId="ADAL" clId="{E9112573-5529-4DD1-8EF4-6A59A242FE16}" dt="2024-01-30T13:57:58.116" v="12" actId="2696"/>
      <pc:docMkLst>
        <pc:docMk/>
      </pc:docMkLst>
      <pc:sldChg chg="del">
        <pc:chgData name="Charles Syengo" userId="8ef22246-9f77-4017-8b34-5307cad57bef" providerId="ADAL" clId="{E9112573-5529-4DD1-8EF4-6A59A242FE16}" dt="2024-01-30T13:57:58.116" v="12" actId="2696"/>
        <pc:sldMkLst>
          <pc:docMk/>
          <pc:sldMk cId="975865531" sldId="284"/>
        </pc:sldMkLst>
      </pc:sldChg>
      <pc:sldChg chg="del">
        <pc:chgData name="Charles Syengo" userId="8ef22246-9f77-4017-8b34-5307cad57bef" providerId="ADAL" clId="{E9112573-5529-4DD1-8EF4-6A59A242FE16}" dt="2024-01-30T13:57:51.008" v="11" actId="2696"/>
        <pc:sldMkLst>
          <pc:docMk/>
          <pc:sldMk cId="3292869810" sldId="285"/>
        </pc:sldMkLst>
      </pc:sldChg>
      <pc:sldChg chg="modSp mod">
        <pc:chgData name="Charles Syengo" userId="8ef22246-9f77-4017-8b34-5307cad57bef" providerId="ADAL" clId="{E9112573-5529-4DD1-8EF4-6A59A242FE16}" dt="2024-01-30T13:57:34.280" v="10" actId="20577"/>
        <pc:sldMkLst>
          <pc:docMk/>
          <pc:sldMk cId="2192428631" sldId="286"/>
        </pc:sldMkLst>
        <pc:spChg chg="mod">
          <ac:chgData name="Charles Syengo" userId="8ef22246-9f77-4017-8b34-5307cad57bef" providerId="ADAL" clId="{E9112573-5529-4DD1-8EF4-6A59A242FE16}" dt="2024-01-30T13:57:34.280" v="10" actId="20577"/>
          <ac:spMkLst>
            <pc:docMk/>
            <pc:sldMk cId="2192428631" sldId="286"/>
            <ac:spMk id="2" creationId="{00000000-0000-0000-0000-000000000000}"/>
          </ac:spMkLst>
        </pc:spChg>
      </pc:sldChg>
      <pc:sldChg chg="add">
        <pc:chgData name="Charles Syengo" userId="8ef22246-9f77-4017-8b34-5307cad57bef" providerId="ADAL" clId="{E9112573-5529-4DD1-8EF4-6A59A242FE16}" dt="2024-01-30T13:57:28.258" v="0" actId="2890"/>
        <pc:sldMkLst>
          <pc:docMk/>
          <pc:sldMk cId="3397525210" sldId="297"/>
        </pc:sldMkLst>
      </pc:sldChg>
    </pc:docChg>
  </pc:docChgLst>
  <pc:docChgLst>
    <pc:chgData name="Charles Syengo" userId="8ef22246-9f77-4017-8b34-5307cad57bef" providerId="ADAL" clId="{05C89A03-9B86-4097-9A36-F15D4050D511}"/>
    <pc:docChg chg="undo custSel delSld modSld">
      <pc:chgData name="Charles Syengo" userId="8ef22246-9f77-4017-8b34-5307cad57bef" providerId="ADAL" clId="{05C89A03-9B86-4097-9A36-F15D4050D511}" dt="2023-06-05T17:15:29.021" v="166" actId="6549"/>
      <pc:docMkLst>
        <pc:docMk/>
      </pc:docMkLst>
      <pc:sldChg chg="modSp mod">
        <pc:chgData name="Charles Syengo" userId="8ef22246-9f77-4017-8b34-5307cad57bef" providerId="ADAL" clId="{05C89A03-9B86-4097-9A36-F15D4050D511}" dt="2023-06-05T17:12:58.726" v="147"/>
        <pc:sldMkLst>
          <pc:docMk/>
          <pc:sldMk cId="1856575099" sldId="276"/>
        </pc:sldMkLst>
        <pc:spChg chg="mod">
          <ac:chgData name="Charles Syengo" userId="8ef22246-9f77-4017-8b34-5307cad57bef" providerId="ADAL" clId="{05C89A03-9B86-4097-9A36-F15D4050D511}" dt="2023-06-05T17:12:30.880" v="145" actId="20577"/>
          <ac:spMkLst>
            <pc:docMk/>
            <pc:sldMk cId="1856575099" sldId="276"/>
            <ac:spMk id="2" creationId="{7BCD1970-76D7-210C-ABC6-9E3567BAC251}"/>
          </ac:spMkLst>
        </pc:spChg>
        <pc:spChg chg="mod">
          <ac:chgData name="Charles Syengo" userId="8ef22246-9f77-4017-8b34-5307cad57bef" providerId="ADAL" clId="{05C89A03-9B86-4097-9A36-F15D4050D511}" dt="2023-06-05T17:12:58.726" v="147"/>
          <ac:spMkLst>
            <pc:docMk/>
            <pc:sldMk cId="1856575099" sldId="276"/>
            <ac:spMk id="4" creationId="{601CF9FD-175C-D98B-B5CC-3A58E72B73D0}"/>
          </ac:spMkLst>
        </pc:spChg>
      </pc:sldChg>
      <pc:sldChg chg="del">
        <pc:chgData name="Charles Syengo" userId="8ef22246-9f77-4017-8b34-5307cad57bef" providerId="ADAL" clId="{05C89A03-9B86-4097-9A36-F15D4050D511}" dt="2023-06-05T17:08:24.859" v="39" actId="2696"/>
        <pc:sldMkLst>
          <pc:docMk/>
          <pc:sldMk cId="3432741405" sldId="280"/>
        </pc:sldMkLst>
      </pc:sldChg>
      <pc:sldChg chg="modSp mod">
        <pc:chgData name="Charles Syengo" userId="8ef22246-9f77-4017-8b34-5307cad57bef" providerId="ADAL" clId="{05C89A03-9B86-4097-9A36-F15D4050D511}" dt="2023-06-05T17:15:20.357" v="165" actId="20577"/>
        <pc:sldMkLst>
          <pc:docMk/>
          <pc:sldMk cId="1876649169" sldId="281"/>
        </pc:sldMkLst>
        <pc:spChg chg="mod">
          <ac:chgData name="Charles Syengo" userId="8ef22246-9f77-4017-8b34-5307cad57bef" providerId="ADAL" clId="{05C89A03-9B86-4097-9A36-F15D4050D511}" dt="2023-06-05T17:15:20.357" v="165" actId="20577"/>
          <ac:spMkLst>
            <pc:docMk/>
            <pc:sldMk cId="1876649169" sldId="281"/>
            <ac:spMk id="4" creationId="{89B2F015-72B5-562E-CDFA-E5DD85832F5E}"/>
          </ac:spMkLst>
        </pc:spChg>
      </pc:sldChg>
      <pc:sldChg chg="modSp mod">
        <pc:chgData name="Charles Syengo" userId="8ef22246-9f77-4017-8b34-5307cad57bef" providerId="ADAL" clId="{05C89A03-9B86-4097-9A36-F15D4050D511}" dt="2023-06-05T17:11:09.854" v="118" actId="20577"/>
        <pc:sldMkLst>
          <pc:docMk/>
          <pc:sldMk cId="1273757823" sldId="288"/>
        </pc:sldMkLst>
        <pc:spChg chg="mod">
          <ac:chgData name="Charles Syengo" userId="8ef22246-9f77-4017-8b34-5307cad57bef" providerId="ADAL" clId="{05C89A03-9B86-4097-9A36-F15D4050D511}" dt="2023-06-05T17:11:09.854" v="118" actId="20577"/>
          <ac:spMkLst>
            <pc:docMk/>
            <pc:sldMk cId="1273757823" sldId="288"/>
            <ac:spMk id="2" creationId="{00000000-0000-0000-0000-000000000000}"/>
          </ac:spMkLst>
        </pc:spChg>
      </pc:sldChg>
      <pc:sldChg chg="modSp mod">
        <pc:chgData name="Charles Syengo" userId="8ef22246-9f77-4017-8b34-5307cad57bef" providerId="ADAL" clId="{05C89A03-9B86-4097-9A36-F15D4050D511}" dt="2023-06-05T17:15:29.021" v="166" actId="6549"/>
        <pc:sldMkLst>
          <pc:docMk/>
          <pc:sldMk cId="1403303069" sldId="291"/>
        </pc:sldMkLst>
        <pc:spChg chg="mod">
          <ac:chgData name="Charles Syengo" userId="8ef22246-9f77-4017-8b34-5307cad57bef" providerId="ADAL" clId="{05C89A03-9B86-4097-9A36-F15D4050D511}" dt="2023-06-05T17:15:29.021" v="166" actId="6549"/>
          <ac:spMkLst>
            <pc:docMk/>
            <pc:sldMk cId="1403303069" sldId="291"/>
            <ac:spMk id="3" creationId="{04A75E17-1EC9-DFBC-98B2-6CC11A6306F3}"/>
          </ac:spMkLst>
        </pc:spChg>
      </pc:sldChg>
      <pc:sldChg chg="modSp mod">
        <pc:chgData name="Charles Syengo" userId="8ef22246-9f77-4017-8b34-5307cad57bef" providerId="ADAL" clId="{05C89A03-9B86-4097-9A36-F15D4050D511}" dt="2023-06-05T17:11:17.158" v="126" actId="20577"/>
        <pc:sldMkLst>
          <pc:docMk/>
          <pc:sldMk cId="2503615317" sldId="292"/>
        </pc:sldMkLst>
        <pc:spChg chg="mod">
          <ac:chgData name="Charles Syengo" userId="8ef22246-9f77-4017-8b34-5307cad57bef" providerId="ADAL" clId="{05C89A03-9B86-4097-9A36-F15D4050D511}" dt="2023-06-05T17:11:17.158" v="126" actId="20577"/>
          <ac:spMkLst>
            <pc:docMk/>
            <pc:sldMk cId="2503615317" sldId="292"/>
            <ac:spMk id="2" creationId="{D878D6A4-605F-E4D7-1EF7-96139AEC84CD}"/>
          </ac:spMkLst>
        </pc:spChg>
      </pc:sldChg>
      <pc:sldChg chg="modSp mod">
        <pc:chgData name="Charles Syengo" userId="8ef22246-9f77-4017-8b34-5307cad57bef" providerId="ADAL" clId="{05C89A03-9B86-4097-9A36-F15D4050D511}" dt="2023-06-05T17:10:00.692" v="107" actId="207"/>
        <pc:sldMkLst>
          <pc:docMk/>
          <pc:sldMk cId="2989680818" sldId="295"/>
        </pc:sldMkLst>
        <pc:spChg chg="mod">
          <ac:chgData name="Charles Syengo" userId="8ef22246-9f77-4017-8b34-5307cad57bef" providerId="ADAL" clId="{05C89A03-9B86-4097-9A36-F15D4050D511}" dt="2023-06-05T17:10:00.692" v="107" actId="207"/>
          <ac:spMkLst>
            <pc:docMk/>
            <pc:sldMk cId="2989680818" sldId="295"/>
            <ac:spMk id="2" creationId="{C7242C36-88AB-1EE6-8279-8F57B8808A79}"/>
          </ac:spMkLst>
        </pc:spChg>
      </pc:sldChg>
    </pc:docChg>
  </pc:docChgLst>
  <pc:docChgLst>
    <pc:chgData name="Charles Syengo" userId="8ef22246-9f77-4017-8b34-5307cad57bef" providerId="ADAL" clId="{1D201E04-192F-4C32-B105-D656FB613E00}"/>
    <pc:docChg chg="addSld delSld modSld">
      <pc:chgData name="Charles Syengo" userId="8ef22246-9f77-4017-8b34-5307cad57bef" providerId="ADAL" clId="{1D201E04-192F-4C32-B105-D656FB613E00}" dt="2023-06-27T13:43:15.699" v="21" actId="20577"/>
      <pc:docMkLst>
        <pc:docMk/>
      </pc:docMkLst>
      <pc:sldChg chg="del">
        <pc:chgData name="Charles Syengo" userId="8ef22246-9f77-4017-8b34-5307cad57bef" providerId="ADAL" clId="{1D201E04-192F-4C32-B105-D656FB613E00}" dt="2023-06-27T13:20:11.303" v="0" actId="2696"/>
        <pc:sldMkLst>
          <pc:docMk/>
          <pc:sldMk cId="2405625812" sldId="278"/>
        </pc:sldMkLst>
      </pc:sldChg>
      <pc:sldChg chg="modSp add mod">
        <pc:chgData name="Charles Syengo" userId="8ef22246-9f77-4017-8b34-5307cad57bef" providerId="ADAL" clId="{1D201E04-192F-4C32-B105-D656FB613E00}" dt="2023-06-27T13:43:15.699" v="21" actId="20577"/>
        <pc:sldMkLst>
          <pc:docMk/>
          <pc:sldMk cId="325410349" sldId="296"/>
        </pc:sldMkLst>
        <pc:spChg chg="mod">
          <ac:chgData name="Charles Syengo" userId="8ef22246-9f77-4017-8b34-5307cad57bef" providerId="ADAL" clId="{1D201E04-192F-4C32-B105-D656FB613E00}" dt="2023-06-27T13:43:15.699" v="21" actId="20577"/>
          <ac:spMkLst>
            <pc:docMk/>
            <pc:sldMk cId="325410349" sldId="296"/>
            <ac:spMk id="2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D3C2C1-7E06-4833-B1A1-3D3A6FD5ADE5}" type="doc">
      <dgm:prSet loTypeId="urn:microsoft.com/office/officeart/2005/8/layout/matrix1" loCatId="matrix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CB47FC3-024C-4EDA-A1A2-900192E0D55B}">
      <dgm:prSet phldrT="[Text]"/>
      <dgm:spPr/>
      <dgm:t>
        <a:bodyPr/>
        <a:lstStyle/>
        <a:p>
          <a:r>
            <a:rPr lang="en-US" dirty="0" smtClean="0"/>
            <a:t>HIV-free survival among infants born to HIV-positive mothers in Homa Bay County.</a:t>
          </a:r>
          <a:endParaRPr lang="en-US" dirty="0"/>
        </a:p>
      </dgm:t>
    </dgm:pt>
    <dgm:pt modelId="{36F6205A-1AFC-41DF-8BD8-B9A2FDDADB68}" type="parTrans" cxnId="{8F3A8815-1DBF-437F-A042-4C66DE801AEB}">
      <dgm:prSet/>
      <dgm:spPr/>
      <dgm:t>
        <a:bodyPr/>
        <a:lstStyle/>
        <a:p>
          <a:endParaRPr lang="en-US"/>
        </a:p>
      </dgm:t>
    </dgm:pt>
    <dgm:pt modelId="{7323D061-B8F8-4CFA-A6B8-738E547AA604}" type="sibTrans" cxnId="{8F3A8815-1DBF-437F-A042-4C66DE801AEB}">
      <dgm:prSet/>
      <dgm:spPr/>
      <dgm:t>
        <a:bodyPr/>
        <a:lstStyle/>
        <a:p>
          <a:endParaRPr lang="en-US"/>
        </a:p>
      </dgm:t>
    </dgm:pt>
    <dgm:pt modelId="{CB65E8E6-390C-4BD4-AABE-431EA44F9FD0}">
      <dgm:prSet phldrT="[Text]"/>
      <dgm:spPr/>
      <dgm:t>
        <a:bodyPr/>
        <a:lstStyle/>
        <a:p>
          <a:endParaRPr lang="en-US"/>
        </a:p>
      </dgm:t>
    </dgm:pt>
    <dgm:pt modelId="{FAF59BCD-2CA5-47FC-9011-DC65F81AEABC}" type="parTrans" cxnId="{7E924CFC-1847-42BB-AB24-99D129BB4D08}">
      <dgm:prSet/>
      <dgm:spPr/>
      <dgm:t>
        <a:bodyPr/>
        <a:lstStyle/>
        <a:p>
          <a:endParaRPr lang="en-US"/>
        </a:p>
      </dgm:t>
    </dgm:pt>
    <dgm:pt modelId="{244BBDA6-40B5-4D05-8397-4F41E70305AE}" type="sibTrans" cxnId="{7E924CFC-1847-42BB-AB24-99D129BB4D08}">
      <dgm:prSet/>
      <dgm:spPr/>
      <dgm:t>
        <a:bodyPr/>
        <a:lstStyle/>
        <a:p>
          <a:endParaRPr lang="en-US"/>
        </a:p>
      </dgm:t>
    </dgm:pt>
    <dgm:pt modelId="{CE4F19D1-3174-48CA-8569-3A8BE92E2AD8}">
      <dgm:prSet phldrT="[Text]"/>
      <dgm:spPr/>
      <dgm:t>
        <a:bodyPr/>
        <a:lstStyle/>
        <a:p>
          <a:endParaRPr lang="en-US"/>
        </a:p>
      </dgm:t>
    </dgm:pt>
    <dgm:pt modelId="{7FC45674-81A7-4047-A4D9-F7F23D63F10A}" type="parTrans" cxnId="{74ADBCD8-A159-426E-9DCC-0725661B50DD}">
      <dgm:prSet/>
      <dgm:spPr/>
      <dgm:t>
        <a:bodyPr/>
        <a:lstStyle/>
        <a:p>
          <a:endParaRPr lang="en-US"/>
        </a:p>
      </dgm:t>
    </dgm:pt>
    <dgm:pt modelId="{7DB8F9C2-8D67-4CDF-AAFE-325601801BE3}" type="sibTrans" cxnId="{74ADBCD8-A159-426E-9DCC-0725661B50DD}">
      <dgm:prSet/>
      <dgm:spPr/>
      <dgm:t>
        <a:bodyPr/>
        <a:lstStyle/>
        <a:p>
          <a:endParaRPr lang="en-US"/>
        </a:p>
      </dgm:t>
    </dgm:pt>
    <dgm:pt modelId="{7F9B7EA5-098A-42A0-BC9E-8FB3CFFDDBE6}">
      <dgm:prSet phldrT="[Text]" phldr="1"/>
      <dgm:spPr/>
      <dgm:t>
        <a:bodyPr/>
        <a:lstStyle/>
        <a:p>
          <a:endParaRPr lang="en-US"/>
        </a:p>
      </dgm:t>
    </dgm:pt>
    <dgm:pt modelId="{B749D449-2A34-4F51-9ADD-C6ACAA3A77EA}" type="parTrans" cxnId="{86012093-0129-44FC-BEEC-FAA0512F9818}">
      <dgm:prSet/>
      <dgm:spPr/>
      <dgm:t>
        <a:bodyPr/>
        <a:lstStyle/>
        <a:p>
          <a:endParaRPr lang="en-US"/>
        </a:p>
      </dgm:t>
    </dgm:pt>
    <dgm:pt modelId="{D4680203-D0A7-4C39-9FA0-FBC3B3F78389}" type="sibTrans" cxnId="{86012093-0129-44FC-BEEC-FAA0512F9818}">
      <dgm:prSet/>
      <dgm:spPr/>
      <dgm:t>
        <a:bodyPr/>
        <a:lstStyle/>
        <a:p>
          <a:endParaRPr lang="en-US"/>
        </a:p>
      </dgm:t>
    </dgm:pt>
    <dgm:pt modelId="{46C48952-F751-4675-9505-B54E8E8B531D}">
      <dgm:prSet/>
      <dgm:spPr/>
      <dgm:t>
        <a:bodyPr/>
        <a:lstStyle/>
        <a:p>
          <a:r>
            <a:rPr lang="en-US" dirty="0" smtClean="0"/>
            <a:t>Maternal factors associated with HIV antigen positivity</a:t>
          </a:r>
          <a:endParaRPr lang="en-US" dirty="0"/>
        </a:p>
      </dgm:t>
    </dgm:pt>
    <dgm:pt modelId="{F785B861-4D29-4CBA-82E9-9995C22803A8}" type="parTrans" cxnId="{87A37437-4367-44EC-AC0C-AAE310482F9B}">
      <dgm:prSet/>
      <dgm:spPr/>
      <dgm:t>
        <a:bodyPr/>
        <a:lstStyle/>
        <a:p>
          <a:endParaRPr lang="en-US"/>
        </a:p>
      </dgm:t>
    </dgm:pt>
    <dgm:pt modelId="{700E9E89-B7CF-4099-BDA2-8B7E75FD646E}" type="sibTrans" cxnId="{87A37437-4367-44EC-AC0C-AAE310482F9B}">
      <dgm:prSet/>
      <dgm:spPr/>
      <dgm:t>
        <a:bodyPr/>
        <a:lstStyle/>
        <a:p>
          <a:endParaRPr lang="en-US"/>
        </a:p>
      </dgm:t>
    </dgm:pt>
    <dgm:pt modelId="{85CCB666-001E-4726-9E78-0695E730B9D8}">
      <dgm:prSet/>
      <dgm:spPr/>
      <dgm:t>
        <a:bodyPr/>
        <a:lstStyle/>
        <a:p>
          <a:r>
            <a:rPr lang="en-US" dirty="0" smtClean="0"/>
            <a:t>Infant factors associated with HIV antigen positivity</a:t>
          </a:r>
          <a:endParaRPr lang="en-US" dirty="0"/>
        </a:p>
      </dgm:t>
    </dgm:pt>
    <dgm:pt modelId="{D6E3A82E-DA75-45D4-8495-62BCC4983FE6}" type="parTrans" cxnId="{37BAE4BC-67B1-4B79-99C4-1D9FCB315E0C}">
      <dgm:prSet/>
      <dgm:spPr/>
      <dgm:t>
        <a:bodyPr/>
        <a:lstStyle/>
        <a:p>
          <a:endParaRPr lang="en-US"/>
        </a:p>
      </dgm:t>
    </dgm:pt>
    <dgm:pt modelId="{7875599B-44ED-4553-A630-D9EDD5EE4334}" type="sibTrans" cxnId="{37BAE4BC-67B1-4B79-99C4-1D9FCB315E0C}">
      <dgm:prSet/>
      <dgm:spPr/>
      <dgm:t>
        <a:bodyPr/>
        <a:lstStyle/>
        <a:p>
          <a:endParaRPr lang="en-US"/>
        </a:p>
      </dgm:t>
    </dgm:pt>
    <dgm:pt modelId="{47B3806B-5DFB-4C03-BCBC-F0CCFBBBA80A}">
      <dgm:prSet/>
      <dgm:spPr/>
      <dgm:t>
        <a:bodyPr/>
        <a:lstStyle/>
        <a:p>
          <a:r>
            <a:rPr lang="en-US" dirty="0" smtClean="0"/>
            <a:t>Geographical factors associated with HIV antigen positivity</a:t>
          </a:r>
          <a:endParaRPr lang="en-US" dirty="0"/>
        </a:p>
      </dgm:t>
    </dgm:pt>
    <dgm:pt modelId="{3AAC17CB-B595-4B06-B0D3-0450039626DA}" type="parTrans" cxnId="{11DDC6D7-E36E-44E4-94CD-230D1E1D5FB9}">
      <dgm:prSet/>
      <dgm:spPr/>
      <dgm:t>
        <a:bodyPr/>
        <a:lstStyle/>
        <a:p>
          <a:endParaRPr lang="en-US"/>
        </a:p>
      </dgm:t>
    </dgm:pt>
    <dgm:pt modelId="{A590C48E-C2E3-4E76-8350-13734CCCA452}" type="sibTrans" cxnId="{11DDC6D7-E36E-44E4-94CD-230D1E1D5FB9}">
      <dgm:prSet/>
      <dgm:spPr/>
      <dgm:t>
        <a:bodyPr/>
        <a:lstStyle/>
        <a:p>
          <a:endParaRPr lang="en-US"/>
        </a:p>
      </dgm:t>
    </dgm:pt>
    <dgm:pt modelId="{EF8A80C3-9CEB-4DEA-8AD5-496745C2B7AD}">
      <dgm:prSet/>
      <dgm:spPr/>
      <dgm:t>
        <a:bodyPr/>
        <a:lstStyle/>
        <a:p>
          <a:r>
            <a:rPr lang="en-GB" dirty="0" smtClean="0"/>
            <a:t>Demographic and Social-economic factors associated with HIV antigen positivity</a:t>
          </a:r>
          <a:endParaRPr lang="en-US" dirty="0"/>
        </a:p>
      </dgm:t>
    </dgm:pt>
    <dgm:pt modelId="{472D8D33-61EC-44BE-8E01-71F6BDD8DED9}" type="parTrans" cxnId="{D7C96DA3-C202-43C8-AB92-1A860BED68B9}">
      <dgm:prSet/>
      <dgm:spPr/>
      <dgm:t>
        <a:bodyPr/>
        <a:lstStyle/>
        <a:p>
          <a:endParaRPr lang="en-US"/>
        </a:p>
      </dgm:t>
    </dgm:pt>
    <dgm:pt modelId="{ACC329AC-5B09-4268-B588-0521913D3909}" type="sibTrans" cxnId="{D7C96DA3-C202-43C8-AB92-1A860BED68B9}">
      <dgm:prSet/>
      <dgm:spPr/>
      <dgm:t>
        <a:bodyPr/>
        <a:lstStyle/>
        <a:p>
          <a:endParaRPr lang="en-US"/>
        </a:p>
      </dgm:t>
    </dgm:pt>
    <dgm:pt modelId="{93E42335-1F9A-4703-9F9A-1E5A7387DE66}">
      <dgm:prSet/>
      <dgm:spPr/>
      <dgm:t>
        <a:bodyPr/>
        <a:lstStyle/>
        <a:p>
          <a:endParaRPr lang="en-US"/>
        </a:p>
      </dgm:t>
    </dgm:pt>
    <dgm:pt modelId="{B4A68F4F-8552-4B1B-95ED-1817F3FBD0FE}" type="parTrans" cxnId="{5A8B580E-E462-4EA0-A61A-CC4A2FE3D4C5}">
      <dgm:prSet/>
      <dgm:spPr/>
      <dgm:t>
        <a:bodyPr/>
        <a:lstStyle/>
        <a:p>
          <a:endParaRPr lang="en-US"/>
        </a:p>
      </dgm:t>
    </dgm:pt>
    <dgm:pt modelId="{0CF418EB-FC6F-4BFE-B403-21C6BB5ABCBD}" type="sibTrans" cxnId="{5A8B580E-E462-4EA0-A61A-CC4A2FE3D4C5}">
      <dgm:prSet/>
      <dgm:spPr/>
      <dgm:t>
        <a:bodyPr/>
        <a:lstStyle/>
        <a:p>
          <a:endParaRPr lang="en-US"/>
        </a:p>
      </dgm:t>
    </dgm:pt>
    <dgm:pt modelId="{3DDA5123-CDBC-45F2-A959-5F9A48CA1220}">
      <dgm:prSet/>
      <dgm:spPr/>
      <dgm:t>
        <a:bodyPr/>
        <a:lstStyle/>
        <a:p>
          <a:endParaRPr lang="en-US"/>
        </a:p>
      </dgm:t>
    </dgm:pt>
    <dgm:pt modelId="{B25EC688-6CAF-4307-A056-D6A44D61930A}" type="parTrans" cxnId="{21987555-F1C8-459C-B9B7-25D76A3F0E47}">
      <dgm:prSet/>
      <dgm:spPr/>
      <dgm:t>
        <a:bodyPr/>
        <a:lstStyle/>
        <a:p>
          <a:endParaRPr lang="en-US"/>
        </a:p>
      </dgm:t>
    </dgm:pt>
    <dgm:pt modelId="{ACADB73D-36E7-431B-9320-2D954B070CF9}" type="sibTrans" cxnId="{21987555-F1C8-459C-B9B7-25D76A3F0E47}">
      <dgm:prSet/>
      <dgm:spPr/>
      <dgm:t>
        <a:bodyPr/>
        <a:lstStyle/>
        <a:p>
          <a:endParaRPr lang="en-US"/>
        </a:p>
      </dgm:t>
    </dgm:pt>
    <dgm:pt modelId="{B1B183A6-657E-4538-8CDD-778868563FD7}">
      <dgm:prSet/>
      <dgm:spPr/>
      <dgm:t>
        <a:bodyPr/>
        <a:lstStyle/>
        <a:p>
          <a:endParaRPr lang="en-US"/>
        </a:p>
      </dgm:t>
    </dgm:pt>
    <dgm:pt modelId="{6FE02A45-BBA3-4408-A31D-83B3E79773F7}" type="parTrans" cxnId="{35BD56BB-E6D0-4F95-869F-D6D2D766E1CB}">
      <dgm:prSet/>
      <dgm:spPr/>
      <dgm:t>
        <a:bodyPr/>
        <a:lstStyle/>
        <a:p>
          <a:endParaRPr lang="en-US"/>
        </a:p>
      </dgm:t>
    </dgm:pt>
    <dgm:pt modelId="{52A03244-FC30-4CED-A975-F98FDEF1D230}" type="sibTrans" cxnId="{35BD56BB-E6D0-4F95-869F-D6D2D766E1CB}">
      <dgm:prSet/>
      <dgm:spPr/>
      <dgm:t>
        <a:bodyPr/>
        <a:lstStyle/>
        <a:p>
          <a:endParaRPr lang="en-US"/>
        </a:p>
      </dgm:t>
    </dgm:pt>
    <dgm:pt modelId="{88FCDA6E-3349-4DE9-B759-3BCF7BE18DD7}" type="pres">
      <dgm:prSet presAssocID="{B4D3C2C1-7E06-4833-B1A1-3D3A6FD5ADE5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EE1FE77-3454-4752-9037-32E50DCE17C3}" type="pres">
      <dgm:prSet presAssocID="{B4D3C2C1-7E06-4833-B1A1-3D3A6FD5ADE5}" presName="matrix" presStyleCnt="0"/>
      <dgm:spPr/>
    </dgm:pt>
    <dgm:pt modelId="{501B4439-ED9D-48E0-8FBA-C3B848F9C89D}" type="pres">
      <dgm:prSet presAssocID="{B4D3C2C1-7E06-4833-B1A1-3D3A6FD5ADE5}" presName="tile1" presStyleLbl="node1" presStyleIdx="0" presStyleCnt="4"/>
      <dgm:spPr/>
      <dgm:t>
        <a:bodyPr/>
        <a:lstStyle/>
        <a:p>
          <a:endParaRPr lang="en-US"/>
        </a:p>
      </dgm:t>
    </dgm:pt>
    <dgm:pt modelId="{E9CD4456-4262-4E60-B8AB-F8EF280F3892}" type="pres">
      <dgm:prSet presAssocID="{B4D3C2C1-7E06-4833-B1A1-3D3A6FD5ADE5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212293-E299-4800-B2A3-26A6A1E40B0A}" type="pres">
      <dgm:prSet presAssocID="{B4D3C2C1-7E06-4833-B1A1-3D3A6FD5ADE5}" presName="tile2" presStyleLbl="node1" presStyleIdx="1" presStyleCnt="4"/>
      <dgm:spPr/>
      <dgm:t>
        <a:bodyPr/>
        <a:lstStyle/>
        <a:p>
          <a:endParaRPr lang="en-US"/>
        </a:p>
      </dgm:t>
    </dgm:pt>
    <dgm:pt modelId="{BFC60607-AC45-4D69-8C1A-99952C82D89A}" type="pres">
      <dgm:prSet presAssocID="{B4D3C2C1-7E06-4833-B1A1-3D3A6FD5ADE5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AAD2E3-D0F7-410C-B366-3154EC8F31DC}" type="pres">
      <dgm:prSet presAssocID="{B4D3C2C1-7E06-4833-B1A1-3D3A6FD5ADE5}" presName="tile3" presStyleLbl="node1" presStyleIdx="2" presStyleCnt="4"/>
      <dgm:spPr/>
      <dgm:t>
        <a:bodyPr/>
        <a:lstStyle/>
        <a:p>
          <a:endParaRPr lang="en-US"/>
        </a:p>
      </dgm:t>
    </dgm:pt>
    <dgm:pt modelId="{25056929-FA97-4D4C-A1A8-43A9EC57F28C}" type="pres">
      <dgm:prSet presAssocID="{B4D3C2C1-7E06-4833-B1A1-3D3A6FD5ADE5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8793E8-166B-4286-8678-9CB665BA3E98}" type="pres">
      <dgm:prSet presAssocID="{B4D3C2C1-7E06-4833-B1A1-3D3A6FD5ADE5}" presName="tile4" presStyleLbl="node1" presStyleIdx="3" presStyleCnt="4"/>
      <dgm:spPr/>
      <dgm:t>
        <a:bodyPr/>
        <a:lstStyle/>
        <a:p>
          <a:endParaRPr lang="en-US"/>
        </a:p>
      </dgm:t>
    </dgm:pt>
    <dgm:pt modelId="{1E888D88-240D-4A3F-8FA0-6ADCC59E7119}" type="pres">
      <dgm:prSet presAssocID="{B4D3C2C1-7E06-4833-B1A1-3D3A6FD5ADE5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EB0D34-494D-4EE2-B1C1-0302FB6DB7C0}" type="pres">
      <dgm:prSet presAssocID="{B4D3C2C1-7E06-4833-B1A1-3D3A6FD5ADE5}" presName="centerTile" presStyleLbl="fgShp" presStyleIdx="0" presStyleCnt="1" custScaleX="193452" custLinFactNeighborX="-2604" custLinFactNeighborY="-847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35BD56BB-E6D0-4F95-869F-D6D2D766E1CB}" srcId="{B4D3C2C1-7E06-4833-B1A1-3D3A6FD5ADE5}" destId="{B1B183A6-657E-4538-8CDD-778868563FD7}" srcOrd="1" destOrd="0" parTransId="{6FE02A45-BBA3-4408-A31D-83B3E79773F7}" sibTransId="{52A03244-FC30-4CED-A975-F98FDEF1D230}"/>
    <dgm:cxn modelId="{86012093-0129-44FC-BEEC-FAA0512F9818}" srcId="{ACB47FC3-024C-4EDA-A1A2-900192E0D55B}" destId="{7F9B7EA5-098A-42A0-BC9E-8FB3CFFDDBE6}" srcOrd="6" destOrd="0" parTransId="{B749D449-2A34-4F51-9ADD-C6ACAA3A77EA}" sibTransId="{D4680203-D0A7-4C39-9FA0-FBC3B3F78389}"/>
    <dgm:cxn modelId="{11DDC6D7-E36E-44E4-94CD-230D1E1D5FB9}" srcId="{ACB47FC3-024C-4EDA-A1A2-900192E0D55B}" destId="{47B3806B-5DFB-4C03-BCBC-F0CCFBBBA80A}" srcOrd="1" destOrd="0" parTransId="{3AAC17CB-B595-4B06-B0D3-0450039626DA}" sibTransId="{A590C48E-C2E3-4E76-8350-13734CCCA452}"/>
    <dgm:cxn modelId="{E4990A53-C6FA-4A0B-9E9A-05A1E984B59E}" type="presOf" srcId="{46C48952-F751-4675-9505-B54E8E8B531D}" destId="{E18793E8-166B-4286-8678-9CB665BA3E98}" srcOrd="0" destOrd="0" presId="urn:microsoft.com/office/officeart/2005/8/layout/matrix1"/>
    <dgm:cxn modelId="{39C38702-C405-423D-9A21-1E08BEF72797}" type="presOf" srcId="{47B3806B-5DFB-4C03-BCBC-F0CCFBBBA80A}" destId="{FB212293-E299-4800-B2A3-26A6A1E40B0A}" srcOrd="0" destOrd="0" presId="urn:microsoft.com/office/officeart/2005/8/layout/matrix1"/>
    <dgm:cxn modelId="{3DF5AB7B-F306-4CC6-938F-C1BEE54ED7F0}" type="presOf" srcId="{47B3806B-5DFB-4C03-BCBC-F0CCFBBBA80A}" destId="{BFC60607-AC45-4D69-8C1A-99952C82D89A}" srcOrd="1" destOrd="0" presId="urn:microsoft.com/office/officeart/2005/8/layout/matrix1"/>
    <dgm:cxn modelId="{5A8B580E-E462-4EA0-A61A-CC4A2FE3D4C5}" srcId="{B4D3C2C1-7E06-4833-B1A1-3D3A6FD5ADE5}" destId="{93E42335-1F9A-4703-9F9A-1E5A7387DE66}" srcOrd="3" destOrd="0" parTransId="{B4A68F4F-8552-4B1B-95ED-1817F3FBD0FE}" sibTransId="{0CF418EB-FC6F-4BFE-B403-21C6BB5ABCBD}"/>
    <dgm:cxn modelId="{D7C96DA3-C202-43C8-AB92-1A860BED68B9}" srcId="{ACB47FC3-024C-4EDA-A1A2-900192E0D55B}" destId="{EF8A80C3-9CEB-4DEA-8AD5-496745C2B7AD}" srcOrd="0" destOrd="0" parTransId="{472D8D33-61EC-44BE-8E01-71F6BDD8DED9}" sibTransId="{ACC329AC-5B09-4268-B588-0521913D3909}"/>
    <dgm:cxn modelId="{7E924CFC-1847-42BB-AB24-99D129BB4D08}" srcId="{ACB47FC3-024C-4EDA-A1A2-900192E0D55B}" destId="{CB65E8E6-390C-4BD4-AABE-431EA44F9FD0}" srcOrd="4" destOrd="0" parTransId="{FAF59BCD-2CA5-47FC-9011-DC65F81AEABC}" sibTransId="{244BBDA6-40B5-4D05-8397-4F41E70305AE}"/>
    <dgm:cxn modelId="{A4B1118E-7C57-4DF3-BAD0-E8DA8EC1D21A}" type="presOf" srcId="{ACB47FC3-024C-4EDA-A1A2-900192E0D55B}" destId="{5CEB0D34-494D-4EE2-B1C1-0302FB6DB7C0}" srcOrd="0" destOrd="0" presId="urn:microsoft.com/office/officeart/2005/8/layout/matrix1"/>
    <dgm:cxn modelId="{21987555-F1C8-459C-B9B7-25D76A3F0E47}" srcId="{B4D3C2C1-7E06-4833-B1A1-3D3A6FD5ADE5}" destId="{3DDA5123-CDBC-45F2-A959-5F9A48CA1220}" srcOrd="2" destOrd="0" parTransId="{B25EC688-6CAF-4307-A056-D6A44D61930A}" sibTransId="{ACADB73D-36E7-431B-9320-2D954B070CF9}"/>
    <dgm:cxn modelId="{029A07AB-7593-4DA2-844C-438987D1C034}" type="presOf" srcId="{B4D3C2C1-7E06-4833-B1A1-3D3A6FD5ADE5}" destId="{88FCDA6E-3349-4DE9-B759-3BCF7BE18DD7}" srcOrd="0" destOrd="0" presId="urn:microsoft.com/office/officeart/2005/8/layout/matrix1"/>
    <dgm:cxn modelId="{74ADBCD8-A159-426E-9DCC-0725661B50DD}" srcId="{ACB47FC3-024C-4EDA-A1A2-900192E0D55B}" destId="{CE4F19D1-3174-48CA-8569-3A8BE92E2AD8}" srcOrd="5" destOrd="0" parTransId="{7FC45674-81A7-4047-A4D9-F7F23D63F10A}" sibTransId="{7DB8F9C2-8D67-4CDF-AAFE-325601801BE3}"/>
    <dgm:cxn modelId="{0E898A5B-996C-4C90-AE74-9D3A6765CC42}" type="presOf" srcId="{85CCB666-001E-4726-9E78-0695E730B9D8}" destId="{2FAAD2E3-D0F7-410C-B366-3154EC8F31DC}" srcOrd="0" destOrd="0" presId="urn:microsoft.com/office/officeart/2005/8/layout/matrix1"/>
    <dgm:cxn modelId="{37BAE4BC-67B1-4B79-99C4-1D9FCB315E0C}" srcId="{ACB47FC3-024C-4EDA-A1A2-900192E0D55B}" destId="{85CCB666-001E-4726-9E78-0695E730B9D8}" srcOrd="2" destOrd="0" parTransId="{D6E3A82E-DA75-45D4-8495-62BCC4983FE6}" sibTransId="{7875599B-44ED-4553-A630-D9EDD5EE4334}"/>
    <dgm:cxn modelId="{66D3A5D3-9DA5-4017-8420-DEDBE8F04033}" type="presOf" srcId="{46C48952-F751-4675-9505-B54E8E8B531D}" destId="{1E888D88-240D-4A3F-8FA0-6ADCC59E7119}" srcOrd="1" destOrd="0" presId="urn:microsoft.com/office/officeart/2005/8/layout/matrix1"/>
    <dgm:cxn modelId="{EB577075-18BB-4D93-B782-7B81AC0B8B5A}" type="presOf" srcId="{EF8A80C3-9CEB-4DEA-8AD5-496745C2B7AD}" destId="{E9CD4456-4262-4E60-B8AB-F8EF280F3892}" srcOrd="1" destOrd="0" presId="urn:microsoft.com/office/officeart/2005/8/layout/matrix1"/>
    <dgm:cxn modelId="{87A37437-4367-44EC-AC0C-AAE310482F9B}" srcId="{ACB47FC3-024C-4EDA-A1A2-900192E0D55B}" destId="{46C48952-F751-4675-9505-B54E8E8B531D}" srcOrd="3" destOrd="0" parTransId="{F785B861-4D29-4CBA-82E9-9995C22803A8}" sibTransId="{700E9E89-B7CF-4099-BDA2-8B7E75FD646E}"/>
    <dgm:cxn modelId="{4F9CB91F-51B5-4F65-963A-E72E3267FF7E}" type="presOf" srcId="{85CCB666-001E-4726-9E78-0695E730B9D8}" destId="{25056929-FA97-4D4C-A1A8-43A9EC57F28C}" srcOrd="1" destOrd="0" presId="urn:microsoft.com/office/officeart/2005/8/layout/matrix1"/>
    <dgm:cxn modelId="{8F3A8815-1DBF-437F-A042-4C66DE801AEB}" srcId="{B4D3C2C1-7E06-4833-B1A1-3D3A6FD5ADE5}" destId="{ACB47FC3-024C-4EDA-A1A2-900192E0D55B}" srcOrd="0" destOrd="0" parTransId="{36F6205A-1AFC-41DF-8BD8-B9A2FDDADB68}" sibTransId="{7323D061-B8F8-4CFA-A6B8-738E547AA604}"/>
    <dgm:cxn modelId="{5ECE0F2B-07D7-4B81-AE55-E46E261138D6}" type="presOf" srcId="{EF8A80C3-9CEB-4DEA-8AD5-496745C2B7AD}" destId="{501B4439-ED9D-48E0-8FBA-C3B848F9C89D}" srcOrd="0" destOrd="0" presId="urn:microsoft.com/office/officeart/2005/8/layout/matrix1"/>
    <dgm:cxn modelId="{89DAE0DE-A8A5-4440-88CF-EE6927DA8C0C}" type="presParOf" srcId="{88FCDA6E-3349-4DE9-B759-3BCF7BE18DD7}" destId="{4EE1FE77-3454-4752-9037-32E50DCE17C3}" srcOrd="0" destOrd="0" presId="urn:microsoft.com/office/officeart/2005/8/layout/matrix1"/>
    <dgm:cxn modelId="{EB6F8129-8DF1-407D-AC28-E6B28464BFA6}" type="presParOf" srcId="{4EE1FE77-3454-4752-9037-32E50DCE17C3}" destId="{501B4439-ED9D-48E0-8FBA-C3B848F9C89D}" srcOrd="0" destOrd="0" presId="urn:microsoft.com/office/officeart/2005/8/layout/matrix1"/>
    <dgm:cxn modelId="{64B6F012-180B-41AE-ACD9-3AE9DB3323A4}" type="presParOf" srcId="{4EE1FE77-3454-4752-9037-32E50DCE17C3}" destId="{E9CD4456-4262-4E60-B8AB-F8EF280F3892}" srcOrd="1" destOrd="0" presId="urn:microsoft.com/office/officeart/2005/8/layout/matrix1"/>
    <dgm:cxn modelId="{8C4108E9-360C-41EA-8F1F-DC38746172EA}" type="presParOf" srcId="{4EE1FE77-3454-4752-9037-32E50DCE17C3}" destId="{FB212293-E299-4800-B2A3-26A6A1E40B0A}" srcOrd="2" destOrd="0" presId="urn:microsoft.com/office/officeart/2005/8/layout/matrix1"/>
    <dgm:cxn modelId="{22646B83-1D3D-440D-99FA-65BA2EDA6AAB}" type="presParOf" srcId="{4EE1FE77-3454-4752-9037-32E50DCE17C3}" destId="{BFC60607-AC45-4D69-8C1A-99952C82D89A}" srcOrd="3" destOrd="0" presId="urn:microsoft.com/office/officeart/2005/8/layout/matrix1"/>
    <dgm:cxn modelId="{11DE3217-DB40-4DD3-87B7-CEF907D495B3}" type="presParOf" srcId="{4EE1FE77-3454-4752-9037-32E50DCE17C3}" destId="{2FAAD2E3-D0F7-410C-B366-3154EC8F31DC}" srcOrd="4" destOrd="0" presId="urn:microsoft.com/office/officeart/2005/8/layout/matrix1"/>
    <dgm:cxn modelId="{D4AF8080-92F5-4D8A-83CD-364FEDE71F23}" type="presParOf" srcId="{4EE1FE77-3454-4752-9037-32E50DCE17C3}" destId="{25056929-FA97-4D4C-A1A8-43A9EC57F28C}" srcOrd="5" destOrd="0" presId="urn:microsoft.com/office/officeart/2005/8/layout/matrix1"/>
    <dgm:cxn modelId="{7B58AA5B-1BD4-4F4E-A026-40681BC92497}" type="presParOf" srcId="{4EE1FE77-3454-4752-9037-32E50DCE17C3}" destId="{E18793E8-166B-4286-8678-9CB665BA3E98}" srcOrd="6" destOrd="0" presId="urn:microsoft.com/office/officeart/2005/8/layout/matrix1"/>
    <dgm:cxn modelId="{57482E51-CFB8-415D-8AD9-B57130A966DB}" type="presParOf" srcId="{4EE1FE77-3454-4752-9037-32E50DCE17C3}" destId="{1E888D88-240D-4A3F-8FA0-6ADCC59E7119}" srcOrd="7" destOrd="0" presId="urn:microsoft.com/office/officeart/2005/8/layout/matrix1"/>
    <dgm:cxn modelId="{E61CE124-A956-42BA-BB3F-37027055B555}" type="presParOf" srcId="{88FCDA6E-3349-4DE9-B759-3BCF7BE18DD7}" destId="{5CEB0D34-494D-4EE2-B1C1-0302FB6DB7C0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1B4439-ED9D-48E0-8FBA-C3B848F9C89D}">
      <dsp:nvSpPr>
        <dsp:cNvPr id="0" name=""/>
        <dsp:cNvSpPr/>
      </dsp:nvSpPr>
      <dsp:spPr>
        <a:xfrm rot="16200000">
          <a:off x="1369324" y="-1369324"/>
          <a:ext cx="3357349" cy="6095999"/>
        </a:xfrm>
        <a:prstGeom prst="round1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Demographic and Social-economic factors associated with HIV antigen positivity</a:t>
          </a:r>
          <a:endParaRPr lang="en-US" sz="3000" kern="1200" dirty="0"/>
        </a:p>
      </dsp:txBody>
      <dsp:txXfrm rot="5400000">
        <a:off x="0" y="0"/>
        <a:ext cx="6095999" cy="2518012"/>
      </dsp:txXfrm>
    </dsp:sp>
    <dsp:sp modelId="{FB212293-E299-4800-B2A3-26A6A1E40B0A}">
      <dsp:nvSpPr>
        <dsp:cNvPr id="0" name=""/>
        <dsp:cNvSpPr/>
      </dsp:nvSpPr>
      <dsp:spPr>
        <a:xfrm>
          <a:off x="6095999" y="0"/>
          <a:ext cx="6095999" cy="3357349"/>
        </a:xfrm>
        <a:prstGeom prst="round1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Geographical factors associated with HIV antigen positivity</a:t>
          </a:r>
          <a:endParaRPr lang="en-US" sz="3000" kern="1200" dirty="0"/>
        </a:p>
      </dsp:txBody>
      <dsp:txXfrm>
        <a:off x="6095999" y="0"/>
        <a:ext cx="6095999" cy="2518012"/>
      </dsp:txXfrm>
    </dsp:sp>
    <dsp:sp modelId="{2FAAD2E3-D0F7-410C-B366-3154EC8F31DC}">
      <dsp:nvSpPr>
        <dsp:cNvPr id="0" name=""/>
        <dsp:cNvSpPr/>
      </dsp:nvSpPr>
      <dsp:spPr>
        <a:xfrm rot="10800000">
          <a:off x="0" y="3357349"/>
          <a:ext cx="6095999" cy="3357349"/>
        </a:xfrm>
        <a:prstGeom prst="round1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Infant factors associated with HIV antigen positivity</a:t>
          </a:r>
          <a:endParaRPr lang="en-US" sz="3000" kern="1200" dirty="0"/>
        </a:p>
      </dsp:txBody>
      <dsp:txXfrm rot="10800000">
        <a:off x="0" y="4196686"/>
        <a:ext cx="6095999" cy="2518012"/>
      </dsp:txXfrm>
    </dsp:sp>
    <dsp:sp modelId="{E18793E8-166B-4286-8678-9CB665BA3E98}">
      <dsp:nvSpPr>
        <dsp:cNvPr id="0" name=""/>
        <dsp:cNvSpPr/>
      </dsp:nvSpPr>
      <dsp:spPr>
        <a:xfrm rot="5400000">
          <a:off x="7465324" y="1988024"/>
          <a:ext cx="3357349" cy="6095999"/>
        </a:xfrm>
        <a:prstGeom prst="round1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Maternal factors associated with HIV antigen positivity</a:t>
          </a:r>
          <a:endParaRPr lang="en-US" sz="3000" kern="1200" dirty="0"/>
        </a:p>
      </dsp:txBody>
      <dsp:txXfrm rot="-5400000">
        <a:off x="6096000" y="4196686"/>
        <a:ext cx="6095999" cy="2518012"/>
      </dsp:txXfrm>
    </dsp:sp>
    <dsp:sp modelId="{5CEB0D34-494D-4EE2-B1C1-0302FB6DB7C0}">
      <dsp:nvSpPr>
        <dsp:cNvPr id="0" name=""/>
        <dsp:cNvSpPr/>
      </dsp:nvSpPr>
      <dsp:spPr>
        <a:xfrm>
          <a:off x="2462905" y="2503793"/>
          <a:ext cx="7075699" cy="1678674"/>
        </a:xfrm>
        <a:prstGeom prst="round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HIV-free survival among infants born to HIV-positive mothers in Homa Bay County.</a:t>
          </a:r>
          <a:endParaRPr lang="en-US" sz="3000" kern="1200" dirty="0"/>
        </a:p>
      </dsp:txBody>
      <dsp:txXfrm>
        <a:off x="2544851" y="2585739"/>
        <a:ext cx="6911807" cy="15147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B54876-A058-4135-BE9F-6267E2691918}" type="datetimeFigureOut">
              <a:rPr lang="en-US" smtClean="0"/>
              <a:t>5/13/2024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110546-525A-40B2-B390-9C1F8FEDB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2359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9800D-8E94-4255-91B8-7459E41C3AA7}" type="datetimeFigureOut">
              <a:rPr lang="en-US" smtClean="0"/>
              <a:t>5/13/2024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1820B5-0D4F-4646-B36A-7C258F828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377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507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0375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0221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6623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174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2331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FDA55DA6-07E5-5A44-325E-F61E53F90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354271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3250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81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5248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5216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36137"/>
            <a:ext cx="10515600" cy="10545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3"/>
          <p:cNvSpPr/>
          <p:nvPr userDrawn="1"/>
        </p:nvSpPr>
        <p:spPr>
          <a:xfrm>
            <a:off x="0" y="6451023"/>
            <a:ext cx="9115024" cy="406977"/>
          </a:xfrm>
          <a:custGeom>
            <a:avLst/>
            <a:gdLst>
              <a:gd name="connsiteX0" fmla="*/ 0 w 9115024"/>
              <a:gd name="connsiteY0" fmla="*/ 0 h 400079"/>
              <a:gd name="connsiteX1" fmla="*/ 9115024 w 9115024"/>
              <a:gd name="connsiteY1" fmla="*/ 0 h 400079"/>
              <a:gd name="connsiteX2" fmla="*/ 9115024 w 9115024"/>
              <a:gd name="connsiteY2" fmla="*/ 400079 h 400079"/>
              <a:gd name="connsiteX3" fmla="*/ 0 w 9115024"/>
              <a:gd name="connsiteY3" fmla="*/ 400079 h 400079"/>
              <a:gd name="connsiteX4" fmla="*/ 0 w 9115024"/>
              <a:gd name="connsiteY4" fmla="*/ 0 h 400079"/>
              <a:gd name="connsiteX0" fmla="*/ 0 w 9115024"/>
              <a:gd name="connsiteY0" fmla="*/ 0 h 400079"/>
              <a:gd name="connsiteX1" fmla="*/ 9115024 w 9115024"/>
              <a:gd name="connsiteY1" fmla="*/ 0 h 400079"/>
              <a:gd name="connsiteX2" fmla="*/ 8756805 w 9115024"/>
              <a:gd name="connsiteY2" fmla="*/ 390652 h 400079"/>
              <a:gd name="connsiteX3" fmla="*/ 0 w 9115024"/>
              <a:gd name="connsiteY3" fmla="*/ 400079 h 400079"/>
              <a:gd name="connsiteX4" fmla="*/ 0 w 9115024"/>
              <a:gd name="connsiteY4" fmla="*/ 0 h 400079"/>
              <a:gd name="connsiteX0" fmla="*/ 0 w 9115024"/>
              <a:gd name="connsiteY0" fmla="*/ 0 h 400079"/>
              <a:gd name="connsiteX1" fmla="*/ 9115024 w 9115024"/>
              <a:gd name="connsiteY1" fmla="*/ 0 h 400079"/>
              <a:gd name="connsiteX2" fmla="*/ 8763496 w 9115024"/>
              <a:gd name="connsiteY2" fmla="*/ 399573 h 400079"/>
              <a:gd name="connsiteX3" fmla="*/ 0 w 9115024"/>
              <a:gd name="connsiteY3" fmla="*/ 400079 h 400079"/>
              <a:gd name="connsiteX4" fmla="*/ 0 w 9115024"/>
              <a:gd name="connsiteY4" fmla="*/ 0 h 400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5024" h="400079">
                <a:moveTo>
                  <a:pt x="0" y="0"/>
                </a:moveTo>
                <a:lnTo>
                  <a:pt x="9115024" y="0"/>
                </a:lnTo>
                <a:lnTo>
                  <a:pt x="8763496" y="399573"/>
                </a:lnTo>
                <a:lnTo>
                  <a:pt x="0" y="400079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7762" y="50666"/>
            <a:ext cx="726072" cy="731665"/>
          </a:xfrm>
          <a:prstGeom prst="rect">
            <a:avLst/>
          </a:prstGeom>
        </p:spPr>
      </p:pic>
      <p:sp>
        <p:nvSpPr>
          <p:cNvPr id="18" name="Rectangle 4"/>
          <p:cNvSpPr/>
          <p:nvPr userDrawn="1"/>
        </p:nvSpPr>
        <p:spPr>
          <a:xfrm>
            <a:off x="5676616" y="6451024"/>
            <a:ext cx="3429355" cy="406976"/>
          </a:xfrm>
          <a:custGeom>
            <a:avLst/>
            <a:gdLst>
              <a:gd name="connsiteX0" fmla="*/ 0 w 3076976"/>
              <a:gd name="connsiteY0" fmla="*/ 0 h 400078"/>
              <a:gd name="connsiteX1" fmla="*/ 3076976 w 3076976"/>
              <a:gd name="connsiteY1" fmla="*/ 0 h 400078"/>
              <a:gd name="connsiteX2" fmla="*/ 3076976 w 3076976"/>
              <a:gd name="connsiteY2" fmla="*/ 400078 h 400078"/>
              <a:gd name="connsiteX3" fmla="*/ 0 w 3076976"/>
              <a:gd name="connsiteY3" fmla="*/ 400078 h 400078"/>
              <a:gd name="connsiteX4" fmla="*/ 0 w 3076976"/>
              <a:gd name="connsiteY4" fmla="*/ 0 h 400078"/>
              <a:gd name="connsiteX0" fmla="*/ 352379 w 3429355"/>
              <a:gd name="connsiteY0" fmla="*/ 0 h 400078"/>
              <a:gd name="connsiteX1" fmla="*/ 3429355 w 3429355"/>
              <a:gd name="connsiteY1" fmla="*/ 0 h 400078"/>
              <a:gd name="connsiteX2" fmla="*/ 3429355 w 3429355"/>
              <a:gd name="connsiteY2" fmla="*/ 400078 h 400078"/>
              <a:gd name="connsiteX3" fmla="*/ 0 w 3429355"/>
              <a:gd name="connsiteY3" fmla="*/ 397848 h 400078"/>
              <a:gd name="connsiteX4" fmla="*/ 352379 w 3429355"/>
              <a:gd name="connsiteY4" fmla="*/ 0 h 400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9355" h="400078">
                <a:moveTo>
                  <a:pt x="352379" y="0"/>
                </a:moveTo>
                <a:lnTo>
                  <a:pt x="3429355" y="0"/>
                </a:lnTo>
                <a:lnTo>
                  <a:pt x="3429355" y="400078"/>
                </a:lnTo>
                <a:lnTo>
                  <a:pt x="0" y="397848"/>
                </a:lnTo>
                <a:lnTo>
                  <a:pt x="352379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9" name="Rectangle 4"/>
          <p:cNvSpPr/>
          <p:nvPr userDrawn="1"/>
        </p:nvSpPr>
        <p:spPr>
          <a:xfrm>
            <a:off x="8762644" y="6451022"/>
            <a:ext cx="3429355" cy="406978"/>
          </a:xfrm>
          <a:custGeom>
            <a:avLst/>
            <a:gdLst>
              <a:gd name="connsiteX0" fmla="*/ 0 w 3076976"/>
              <a:gd name="connsiteY0" fmla="*/ 0 h 400078"/>
              <a:gd name="connsiteX1" fmla="*/ 3076976 w 3076976"/>
              <a:gd name="connsiteY1" fmla="*/ 0 h 400078"/>
              <a:gd name="connsiteX2" fmla="*/ 3076976 w 3076976"/>
              <a:gd name="connsiteY2" fmla="*/ 400078 h 400078"/>
              <a:gd name="connsiteX3" fmla="*/ 0 w 3076976"/>
              <a:gd name="connsiteY3" fmla="*/ 400078 h 400078"/>
              <a:gd name="connsiteX4" fmla="*/ 0 w 3076976"/>
              <a:gd name="connsiteY4" fmla="*/ 0 h 400078"/>
              <a:gd name="connsiteX0" fmla="*/ 352379 w 3429355"/>
              <a:gd name="connsiteY0" fmla="*/ 0 h 400078"/>
              <a:gd name="connsiteX1" fmla="*/ 3429355 w 3429355"/>
              <a:gd name="connsiteY1" fmla="*/ 0 h 400078"/>
              <a:gd name="connsiteX2" fmla="*/ 3429355 w 3429355"/>
              <a:gd name="connsiteY2" fmla="*/ 400078 h 400078"/>
              <a:gd name="connsiteX3" fmla="*/ 0 w 3429355"/>
              <a:gd name="connsiteY3" fmla="*/ 397848 h 400078"/>
              <a:gd name="connsiteX4" fmla="*/ 352379 w 3429355"/>
              <a:gd name="connsiteY4" fmla="*/ 0 h 400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9355" h="400078">
                <a:moveTo>
                  <a:pt x="352379" y="0"/>
                </a:moveTo>
                <a:lnTo>
                  <a:pt x="3429355" y="0"/>
                </a:lnTo>
                <a:lnTo>
                  <a:pt x="3429355" y="400078"/>
                </a:lnTo>
                <a:lnTo>
                  <a:pt x="0" y="397848"/>
                </a:lnTo>
                <a:lnTo>
                  <a:pt x="352379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SEMINAR</a:t>
            </a:r>
            <a:r>
              <a:rPr lang="en-US" i="1" dirty="0"/>
              <a:t> </a:t>
            </a:r>
            <a:r>
              <a:rPr lang="en-US" sz="1400" i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PRESENTATION</a:t>
            </a:r>
            <a:r>
              <a:rPr lang="en-US" dirty="0"/>
              <a:t>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263410" y="6500622"/>
            <a:ext cx="4200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KEMRI GRADUATE SCHOOL</a:t>
            </a:r>
          </a:p>
        </p:txBody>
      </p:sp>
      <p:sp>
        <p:nvSpPr>
          <p:cNvPr id="23" name="Rectangle 22"/>
          <p:cNvSpPr/>
          <p:nvPr userDrawn="1"/>
        </p:nvSpPr>
        <p:spPr>
          <a:xfrm>
            <a:off x="838200" y="174668"/>
            <a:ext cx="885092" cy="6649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 userDrawn="1"/>
        </p:nvSpPr>
        <p:spPr>
          <a:xfrm>
            <a:off x="1767254" y="174668"/>
            <a:ext cx="885092" cy="664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 userDrawn="1"/>
        </p:nvSpPr>
        <p:spPr>
          <a:xfrm>
            <a:off x="2696308" y="174668"/>
            <a:ext cx="885092" cy="664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193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8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CD1970-76D7-210C-ABC6-9E3567BAC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16037"/>
          </a:xfrm>
        </p:spPr>
        <p:txBody>
          <a:bodyPr>
            <a:noAutofit/>
          </a:bodyPr>
          <a:lstStyle/>
          <a:p>
            <a:r>
              <a:rPr lang="en-US" sz="4000" dirty="0"/>
              <a:t>MODELLING FACTORS ASSOCIATED WITH HIV-FREE SURVIVAL AMONG EXPOSED INFANTS IN HOMA BAY COUNTY</a:t>
            </a:r>
            <a:endParaRPr lang="aa-ET" sz="40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xmlns="" id="{601CF9FD-175C-D98B-B5CC-3A58E72B73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785" y="2438399"/>
            <a:ext cx="11505063" cy="381227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AUGUSTINE GATIMU NJUGUNA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TM </a:t>
            </a:r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406-3105/2015</a:t>
            </a: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Doctor of Philosophy in Epidemiology </a:t>
            </a:r>
            <a:endParaRPr lang="en-US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14/05/2024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Seminar 3</a:t>
            </a: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Professor Simon Karanja </a:t>
            </a:r>
            <a:endParaRPr lang="en-US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Jomo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Kenyatta University of Agriculture &amp; Technology</a:t>
            </a:r>
          </a:p>
          <a:p>
            <a:endParaRPr lang="en-US" sz="1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Late Dr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. Peter Wanzala </a:t>
            </a: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Institute of Tropical Medicine and Infectious Diseases (ITROMID)</a:t>
            </a:r>
          </a:p>
        </p:txBody>
      </p:sp>
    </p:spTree>
    <p:extLst>
      <p:ext uri="{BB962C8B-B14F-4D97-AF65-F5344CB8AC3E}">
        <p14:creationId xmlns:p14="http://schemas.microsoft.com/office/powerpoint/2010/main" val="1856575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924" y="0"/>
            <a:ext cx="10515600" cy="1023582"/>
          </a:xfrm>
        </p:spPr>
        <p:txBody>
          <a:bodyPr/>
          <a:lstStyle/>
          <a:p>
            <a:pPr algn="ctr"/>
            <a:r>
              <a:rPr lang="en-US" dirty="0"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182" y="900751"/>
            <a:ext cx="11969087" cy="5459105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 </a:t>
            </a:r>
            <a:r>
              <a:rPr lang="en-US" dirty="0" smtClean="0"/>
              <a:t>HIV infection </a:t>
            </a:r>
            <a:r>
              <a:rPr lang="en-US" dirty="0"/>
              <a:t>is a </a:t>
            </a:r>
            <a:r>
              <a:rPr lang="en-US" dirty="0" smtClean="0"/>
              <a:t>still a global problem with </a:t>
            </a:r>
            <a:r>
              <a:rPr lang="en-US" dirty="0"/>
              <a:t>no cure or </a:t>
            </a:r>
            <a:r>
              <a:rPr lang="en-US" dirty="0" smtClean="0"/>
              <a:t>vaccine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Pregnant </a:t>
            </a:r>
            <a:r>
              <a:rPr lang="en-US" dirty="0"/>
              <a:t>women with HIV face risks of maternal and perinatal </a:t>
            </a:r>
            <a:r>
              <a:rPr lang="en-US" dirty="0" smtClean="0"/>
              <a:t>morbidity and mortality.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Vertical </a:t>
            </a:r>
            <a:r>
              <a:rPr lang="en-US" dirty="0"/>
              <a:t>transmission to fetus during pregnancy, labor, and </a:t>
            </a:r>
            <a:r>
              <a:rPr lang="en-US" dirty="0" smtClean="0"/>
              <a:t>breastfeeding is still a risk to elimination of the infection.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Progress </a:t>
            </a:r>
            <a:r>
              <a:rPr lang="en-US" dirty="0"/>
              <a:t>in reducing pediatric HIV infection through prevention </a:t>
            </a:r>
            <a:r>
              <a:rPr lang="en-US" dirty="0" smtClean="0"/>
              <a:t>programs has been made.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Challenges </a:t>
            </a:r>
            <a:r>
              <a:rPr lang="en-US" dirty="0"/>
              <a:t>in eliminating vertical HIV transmission in Sub-Saharan Africa due to high HIV burden in reproductive-age women</a:t>
            </a:r>
          </a:p>
        </p:txBody>
      </p:sp>
    </p:spTree>
    <p:extLst>
      <p:ext uri="{BB962C8B-B14F-4D97-AF65-F5344CB8AC3E}">
        <p14:creationId xmlns:p14="http://schemas.microsoft.com/office/powerpoint/2010/main" val="1812143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FC5F8F-1D8C-AD4A-2E6E-F9B697382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277" y="313899"/>
            <a:ext cx="10515600" cy="50496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Problem Statement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24C976A-2408-F481-F954-4103C08F0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899" y="818866"/>
            <a:ext cx="11532357" cy="559558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Despite strategies to prevent mother-to-child transmission of the human immunodeficiency virus (HIV), infected </a:t>
            </a:r>
            <a:r>
              <a:rPr lang="en-US" dirty="0" smtClean="0"/>
              <a:t>children continue </a:t>
            </a:r>
            <a:r>
              <a:rPr lang="en-US" dirty="0"/>
              <a:t>to be </a:t>
            </a:r>
            <a:r>
              <a:rPr lang="en-US" dirty="0" smtClean="0"/>
              <a:t>born.</a:t>
            </a:r>
          </a:p>
          <a:p>
            <a:pPr algn="just"/>
            <a:r>
              <a:rPr lang="en-US" dirty="0"/>
              <a:t>Vertical transmission of HIV can be effectively controlled through antenatal screening, antiretroviral treatment and the services provided during and after childbirth for mother and </a:t>
            </a:r>
            <a:r>
              <a:rPr lang="en-US" dirty="0" smtClean="0"/>
              <a:t>newborn.</a:t>
            </a:r>
          </a:p>
          <a:p>
            <a:pPr algn="just"/>
            <a:r>
              <a:rPr lang="en-US" dirty="0" smtClean="0"/>
              <a:t>World-wide </a:t>
            </a:r>
            <a:r>
              <a:rPr lang="en-US" dirty="0"/>
              <a:t>rate of MTCT of </a:t>
            </a:r>
            <a:r>
              <a:rPr lang="en-US" dirty="0" smtClean="0"/>
              <a:t>HIV is </a:t>
            </a:r>
            <a:r>
              <a:rPr lang="en-US" dirty="0"/>
              <a:t>still far from reaching the zero transmission </a:t>
            </a:r>
            <a:r>
              <a:rPr lang="en-US" dirty="0" smtClean="0"/>
              <a:t>target, even </a:t>
            </a:r>
            <a:r>
              <a:rPr lang="en-US" dirty="0"/>
              <a:t>in countries with consolidated screening </a:t>
            </a:r>
            <a:r>
              <a:rPr lang="en-US" dirty="0" smtClean="0"/>
              <a:t>programmes </a:t>
            </a:r>
            <a:r>
              <a:rPr lang="en-US" dirty="0"/>
              <a:t>and standardized protocols of HIV </a:t>
            </a:r>
            <a:r>
              <a:rPr lang="en-US" dirty="0" smtClean="0"/>
              <a:t>management during </a:t>
            </a:r>
            <a:r>
              <a:rPr lang="en-US" dirty="0"/>
              <a:t>pregnancy. </a:t>
            </a:r>
            <a:endParaRPr lang="en-US" dirty="0" smtClean="0"/>
          </a:p>
          <a:p>
            <a:pPr algn="just"/>
            <a:r>
              <a:rPr lang="en-US" dirty="0"/>
              <a:t>In </a:t>
            </a:r>
            <a:r>
              <a:rPr lang="en-US" dirty="0" smtClean="0"/>
              <a:t>2022 Homa Bay County had 4510 mother </a:t>
            </a:r>
            <a:r>
              <a:rPr lang="en-US" dirty="0"/>
              <a:t>baby pair </a:t>
            </a:r>
            <a:r>
              <a:rPr lang="en-US" dirty="0" smtClean="0"/>
              <a:t>Receiving PMTCT services with 8.7 </a:t>
            </a:r>
            <a:r>
              <a:rPr lang="en-US" dirty="0"/>
              <a:t>percent of </a:t>
            </a:r>
            <a:r>
              <a:rPr lang="en-US" dirty="0" smtClean="0"/>
              <a:t>infants getting infected </a:t>
            </a:r>
            <a:r>
              <a:rPr lang="en-US" dirty="0"/>
              <a:t>with </a:t>
            </a:r>
            <a:r>
              <a:rPr lang="en-US" dirty="0" smtClean="0"/>
              <a:t>HIV which </a:t>
            </a:r>
            <a:r>
              <a:rPr lang="en-US" dirty="0"/>
              <a:t>implies that more efforts are needed in order to reduce mother to child transmission of HIV.</a:t>
            </a:r>
            <a:endParaRPr lang="aa-ET" dirty="0"/>
          </a:p>
        </p:txBody>
      </p:sp>
    </p:spTree>
    <p:extLst>
      <p:ext uri="{BB962C8B-B14F-4D97-AF65-F5344CB8AC3E}">
        <p14:creationId xmlns:p14="http://schemas.microsoft.com/office/powerpoint/2010/main" val="3458871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3183"/>
            <a:ext cx="10515600" cy="5921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Problem </a:t>
            </a:r>
            <a:r>
              <a:rPr lang="en-US" dirty="0" smtClean="0"/>
              <a:t>Statement 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251" y="955345"/>
            <a:ext cx="11655187" cy="537721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Despite efforts to prevent the transmission of HIV from mothers to their children, new cases of infected infants continue to emerge</a:t>
            </a:r>
            <a:r>
              <a:rPr lang="en-US" dirty="0" smtClean="0"/>
              <a:t>.</a:t>
            </a:r>
            <a:endParaRPr lang="en-US" dirty="0"/>
          </a:p>
          <a:p>
            <a:pPr algn="just"/>
            <a:r>
              <a:rPr lang="en-US" dirty="0"/>
              <a:t>Controlling vertical transmission of HIV requires effective measures such as antenatal screening, antiretroviral treatment, and comprehensive services before and after childbirth for both the mother and newborn</a:t>
            </a:r>
            <a:r>
              <a:rPr lang="en-US" dirty="0" smtClean="0"/>
              <a:t>.</a:t>
            </a:r>
            <a:endParaRPr lang="en-US" dirty="0"/>
          </a:p>
          <a:p>
            <a:pPr algn="just"/>
            <a:r>
              <a:rPr lang="en-US" dirty="0"/>
              <a:t>Globally, the rate of mother-to-child transmission (MTCT) of HIV remains high, even in countries with established screening programs and standardized protocols for managing HIV during pregnancy</a:t>
            </a:r>
            <a:r>
              <a:rPr lang="en-US" dirty="0" smtClean="0"/>
              <a:t>.</a:t>
            </a:r>
            <a:endParaRPr lang="en-US" dirty="0"/>
          </a:p>
          <a:p>
            <a:pPr algn="just"/>
            <a:r>
              <a:rPr lang="en-US" dirty="0"/>
              <a:t>In 2022, Homa Bay County in Kenya had 4510 mother-baby pairs receiving Prevention of Mother-to-Child Transmission (PMTCT) services, with 8.7% of infants becoming infected with HIV.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88295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734" y="308591"/>
            <a:ext cx="10515600" cy="4283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Problem Statement cont’d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736978"/>
            <a:ext cx="11900848" cy="5677469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A 2019 study in BMC Public Health estimated that mother-to-child transmission of HIV in Kenya resulted in around 33,000 DALYs that year, emphasizing the significant impact of vertical transmission on the country's disease </a:t>
            </a:r>
            <a:r>
              <a:rPr lang="en-US" dirty="0" smtClean="0"/>
              <a:t>burden.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Homa </a:t>
            </a:r>
            <a:r>
              <a:rPr lang="en-US" dirty="0"/>
              <a:t>Bay County, known for its high HIV prevalence rate, sees a notable number of new infections through vertical transmission, leading to a higher burden of DALYs, especially among HIV-positive </a:t>
            </a:r>
            <a:r>
              <a:rPr lang="en-US" dirty="0" smtClean="0"/>
              <a:t>children.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prevalence of HIV among pregnant women in the county is notably high at around 16%, surpassing the national average and increasing the risk of vertical transmission and subsequent </a:t>
            </a:r>
            <a:r>
              <a:rPr lang="en-US" dirty="0" smtClean="0"/>
              <a:t>DALYs.</a:t>
            </a:r>
          </a:p>
        </p:txBody>
      </p:sp>
    </p:spTree>
    <p:extLst>
      <p:ext uri="{BB962C8B-B14F-4D97-AF65-F5344CB8AC3E}">
        <p14:creationId xmlns:p14="http://schemas.microsoft.com/office/powerpoint/2010/main" val="2100043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36138"/>
            <a:ext cx="10515600" cy="45568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Problem </a:t>
            </a:r>
            <a:r>
              <a:rPr lang="en-US" dirty="0" smtClean="0"/>
              <a:t>Statement cont’d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363" y="832513"/>
            <a:ext cx="11846257" cy="560923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Infants born with HIV as a result of this transmission face a lifetime of health challenges, leading to a substantial loss of healthy life years.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This not only affects the infected children but also places a strain on healthcare resources and further exacerbates the DALYs in the region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These findings underscore the urgent need for targeted interventions to prevent mother-to-child transmission and alleviate the burden of disease associated with vertical HIV transmission in Kenya and Homa Bay County.</a:t>
            </a: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40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46D82E-F129-3EEB-655A-8AFAEF2A9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4944"/>
            <a:ext cx="10515600" cy="796878"/>
          </a:xfrm>
        </p:spPr>
        <p:txBody>
          <a:bodyPr/>
          <a:lstStyle/>
          <a:p>
            <a:r>
              <a:rPr lang="en-US" dirty="0"/>
              <a:t>Justification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12CA4CB-5E2C-42CC-2C31-9FCB64FD6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842" y="982639"/>
            <a:ext cx="11641540" cy="534992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 Despite progress in reducing infant mortality due to HIV/AIDS, the disease continues to have a devastating impact on infants </a:t>
            </a:r>
            <a:r>
              <a:rPr lang="en-US" dirty="0" smtClean="0"/>
              <a:t>worldwide.</a:t>
            </a:r>
          </a:p>
          <a:p>
            <a:pPr algn="just"/>
            <a:r>
              <a:rPr lang="en-US" dirty="0" smtClean="0"/>
              <a:t>Factors </a:t>
            </a:r>
            <a:r>
              <a:rPr lang="en-US" dirty="0"/>
              <a:t>causing diseases are dispersed unevenly across communities and regions, and the processes that bring people and disease-causing agents into contact vary geographically.</a:t>
            </a:r>
          </a:p>
          <a:p>
            <a:pPr algn="just"/>
            <a:r>
              <a:rPr lang="en-US" dirty="0" smtClean="0"/>
              <a:t>The </a:t>
            </a:r>
            <a:r>
              <a:rPr lang="en-US" dirty="0"/>
              <a:t>environment, including physical, social, and economic factors, significantly influences people's </a:t>
            </a:r>
            <a:r>
              <a:rPr lang="en-US" dirty="0" smtClean="0"/>
              <a:t>health. Geography, </a:t>
            </a:r>
            <a:r>
              <a:rPr lang="en-US" dirty="0"/>
              <a:t>particularly the use of geographic information systems, has been instrumental in understanding health-related </a:t>
            </a:r>
            <a:r>
              <a:rPr lang="en-US" dirty="0" smtClean="0"/>
              <a:t>issues.</a:t>
            </a:r>
          </a:p>
          <a:p>
            <a:pPr algn="just"/>
            <a:r>
              <a:rPr lang="en-US" dirty="0" smtClean="0"/>
              <a:t>Advances </a:t>
            </a:r>
            <a:r>
              <a:rPr lang="en-US" dirty="0"/>
              <a:t>in data collection methods, geographic visualization techniques, and modeling have helped identify spatial patterns and disease spread probability.</a:t>
            </a:r>
          </a:p>
          <a:p>
            <a:pPr algn="just"/>
            <a:r>
              <a:rPr lang="en-US" dirty="0" smtClean="0"/>
              <a:t>This </a:t>
            </a:r>
            <a:r>
              <a:rPr lang="en-US" dirty="0"/>
              <a:t>study aims to provide insight into the determinants of vertical HIV transmission, filling a critical knowledge gap in the field of epidemiology.</a:t>
            </a:r>
            <a:endParaRPr lang="aa-ET" dirty="0"/>
          </a:p>
        </p:txBody>
      </p:sp>
    </p:spTree>
    <p:extLst>
      <p:ext uri="{BB962C8B-B14F-4D97-AF65-F5344CB8AC3E}">
        <p14:creationId xmlns:p14="http://schemas.microsoft.com/office/powerpoint/2010/main" val="3665733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9307"/>
            <a:ext cx="10515600" cy="736981"/>
          </a:xfrm>
        </p:spPr>
        <p:txBody>
          <a:bodyPr>
            <a:normAutofit/>
          </a:bodyPr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364" y="996287"/>
            <a:ext cx="11818961" cy="5322625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/>
              <a:t>Broad objective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To </a:t>
            </a:r>
            <a:r>
              <a:rPr lang="en-US" dirty="0"/>
              <a:t>determine factors associated with HIV-free survival among infants born to HIV-positive mothers in Homa Bay County.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smtClean="0"/>
              <a:t>Specific </a:t>
            </a:r>
            <a:r>
              <a:rPr lang="en-US" b="1" dirty="0"/>
              <a:t>Objectives</a:t>
            </a:r>
            <a:endParaRPr lang="en-US" b="1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Determine </a:t>
            </a:r>
            <a:r>
              <a:rPr lang="en-US" dirty="0"/>
              <a:t>survival rate of HIV exposed infants in Homa Bay County.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Determine </a:t>
            </a:r>
            <a:r>
              <a:rPr lang="en-US" dirty="0"/>
              <a:t>the maternal factors associated with HIV antigen positivity among exposed infants in Homa Bay County.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To determine infant factors associated with HIV antigen positivity among exposed infants in Homa Bay County.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To determine </a:t>
            </a:r>
            <a:r>
              <a:rPr lang="en-US" dirty="0" smtClean="0"/>
              <a:t>geographical </a:t>
            </a:r>
            <a:r>
              <a:rPr lang="en-US" dirty="0"/>
              <a:t>factors associated with HIV antigen positivity among exposed infants in Homa Bay County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To </a:t>
            </a:r>
            <a:r>
              <a:rPr lang="en-US" dirty="0"/>
              <a:t>develop a model on HIV-free survival among infants born to HIV-positive mothers in Homa Bay County.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3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3667783"/>
              </p:ext>
            </p:extLst>
          </p:nvPr>
        </p:nvGraphicFramePr>
        <p:xfrm>
          <a:off x="0" y="0"/>
          <a:ext cx="12191999" cy="67146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Left Arrow 4"/>
          <p:cNvSpPr/>
          <p:nvPr/>
        </p:nvSpPr>
        <p:spPr>
          <a:xfrm rot="19090713">
            <a:off x="8522552" y="1945932"/>
            <a:ext cx="763567" cy="561905"/>
          </a:xfrm>
          <a:prstGeom prst="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 rot="2677292">
            <a:off x="3027366" y="2005775"/>
            <a:ext cx="651111" cy="533233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ight Arrow 6"/>
          <p:cNvSpPr/>
          <p:nvPr/>
        </p:nvSpPr>
        <p:spPr>
          <a:xfrm rot="19180860">
            <a:off x="2999813" y="4164860"/>
            <a:ext cx="675089" cy="547716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ight Arrow 7"/>
          <p:cNvSpPr/>
          <p:nvPr/>
        </p:nvSpPr>
        <p:spPr>
          <a:xfrm rot="13281546">
            <a:off x="8534941" y="4166197"/>
            <a:ext cx="682506" cy="56775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069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89B2F015-72B5-562E-CDFA-E5DD85832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4943"/>
            <a:ext cx="10515600" cy="824173"/>
          </a:xfrm>
        </p:spPr>
        <p:txBody>
          <a:bodyPr/>
          <a:lstStyle/>
          <a:p>
            <a:r>
              <a:rPr lang="en-US" dirty="0" smtClean="0"/>
              <a:t>Study Design </a:t>
            </a:r>
            <a:endParaRPr lang="aa-ET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ED3E5C90-D77B-50CB-115C-853AF3D6A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672" y="1119116"/>
            <a:ext cx="11273050" cy="528168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The research </a:t>
            </a:r>
            <a:r>
              <a:rPr lang="en-US" dirty="0" smtClean="0"/>
              <a:t>employed </a:t>
            </a:r>
            <a:r>
              <a:rPr lang="en-US" dirty="0"/>
              <a:t>a </a:t>
            </a:r>
            <a:r>
              <a:rPr lang="en-US" dirty="0" smtClean="0"/>
              <a:t>prospective longitudinal </a:t>
            </a:r>
            <a:r>
              <a:rPr lang="en-US" dirty="0"/>
              <a:t>cohort design.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study </a:t>
            </a:r>
            <a:r>
              <a:rPr lang="en-US" dirty="0" smtClean="0"/>
              <a:t>was </a:t>
            </a:r>
            <a:r>
              <a:rPr lang="en-US" dirty="0"/>
              <a:t>conducted among infants born of HIV positive </a:t>
            </a:r>
            <a:r>
              <a:rPr lang="en-US" dirty="0" smtClean="0"/>
              <a:t>mothers.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smtClean="0"/>
              <a:t>Study </a:t>
            </a:r>
            <a:r>
              <a:rPr lang="en-US" b="1" dirty="0"/>
              <a:t>Area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The study </a:t>
            </a:r>
            <a:r>
              <a:rPr lang="en-US" dirty="0" smtClean="0"/>
              <a:t>was carried </a:t>
            </a:r>
            <a:r>
              <a:rPr lang="en-US" dirty="0"/>
              <a:t>out in Homa Bay County.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county covers an area of 3,183.3 sq km with a </a:t>
            </a:r>
            <a:r>
              <a:rPr lang="en-US" dirty="0" smtClean="0"/>
              <a:t>projected in 2023 of </a:t>
            </a:r>
            <a:r>
              <a:rPr lang="en-US" dirty="0"/>
              <a:t>about 1,231,659 people. </a:t>
            </a:r>
            <a:endParaRPr lang="en-US" dirty="0" smtClean="0"/>
          </a:p>
          <a:p>
            <a:pPr marL="0" indent="0">
              <a:buNone/>
            </a:pPr>
            <a:endParaRPr lang="aa-ET" dirty="0"/>
          </a:p>
        </p:txBody>
      </p:sp>
    </p:spTree>
    <p:extLst>
      <p:ext uri="{BB962C8B-B14F-4D97-AF65-F5344CB8AC3E}">
        <p14:creationId xmlns:p14="http://schemas.microsoft.com/office/powerpoint/2010/main" val="1876649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04A75E17-1EC9-DFBC-98B2-6CC11A630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748" y="267647"/>
            <a:ext cx="10515600" cy="633105"/>
          </a:xfrm>
        </p:spPr>
        <p:txBody>
          <a:bodyPr>
            <a:normAutofit fontScale="90000"/>
          </a:bodyPr>
          <a:lstStyle/>
          <a:p>
            <a:r>
              <a:rPr lang="en-US" dirty="0"/>
              <a:t>Sample size determination </a:t>
            </a:r>
            <a:endParaRPr lang="aa-ET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95785" y="900752"/>
            <a:ext cx="11409527" cy="5500047"/>
          </a:xfrm>
        </p:spPr>
        <p:txBody>
          <a:bodyPr>
            <a:normAutofit/>
          </a:bodyPr>
          <a:lstStyle/>
          <a:p>
            <a:r>
              <a:rPr lang="en-US" dirty="0"/>
              <a:t>The general formula for the required number of subjects in a survival study may be expressed </a:t>
            </a:r>
            <a:r>
              <a:rPr lang="en-US" dirty="0" smtClean="0"/>
              <a:t>as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Stpower </a:t>
            </a:r>
            <a:r>
              <a:rPr lang="en-US" b="1" dirty="0"/>
              <a:t>command</a:t>
            </a:r>
          </a:p>
          <a:p>
            <a:r>
              <a:rPr lang="en-US" dirty="0"/>
              <a:t>stpower cox, power(0.95) hratio(0.37) failprob(0.17) </a:t>
            </a:r>
            <a:r>
              <a:rPr lang="en-US" dirty="0" err="1"/>
              <a:t>wdprob</a:t>
            </a:r>
            <a:r>
              <a:rPr lang="en-US" dirty="0"/>
              <a:t>(0.05</a:t>
            </a:r>
            <a:r>
              <a:rPr lang="en-US" dirty="0" smtClean="0"/>
              <a:t>)</a:t>
            </a:r>
          </a:p>
          <a:p>
            <a:pPr marL="457200" marR="540385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Estimated </a:t>
            </a:r>
            <a:r>
              <a:rPr lang="en-GB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number of events and sample size: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540385" lvl="1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 (expected number of events)  =        53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540385" lvl="1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 (sample size required)            =       326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84" y="1678675"/>
            <a:ext cx="11095628" cy="128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303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5887"/>
            <a:ext cx="10515600" cy="5921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Data </a:t>
            </a:r>
            <a:r>
              <a:rPr lang="en-US" dirty="0" smtClean="0"/>
              <a:t>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877" y="1146413"/>
            <a:ext cx="11614245" cy="4776715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Thematic </a:t>
            </a:r>
            <a:r>
              <a:rPr lang="en-US" dirty="0" smtClean="0"/>
              <a:t>analysis was used to identify</a:t>
            </a:r>
            <a:r>
              <a:rPr lang="en-US" dirty="0"/>
              <a:t>, analyze, and report patterns (themes) within the data. This method </a:t>
            </a:r>
            <a:r>
              <a:rPr lang="en-US" dirty="0" smtClean="0"/>
              <a:t>involved </a:t>
            </a:r>
            <a:r>
              <a:rPr lang="en-US" dirty="0"/>
              <a:t>coding and categorizing data to identify themes that encapsulate the meaning of the data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Spatial </a:t>
            </a:r>
            <a:r>
              <a:rPr lang="en-US" dirty="0"/>
              <a:t>analysis conducted using conditional autoregressive method with Moran I and Geary </a:t>
            </a:r>
            <a:r>
              <a:rPr lang="en-US" dirty="0" smtClean="0"/>
              <a:t>Indices</a:t>
            </a:r>
            <a:r>
              <a:rPr lang="en-US" dirty="0"/>
              <a:t>.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smtClean="0"/>
              <a:t>Spatial </a:t>
            </a:r>
            <a:r>
              <a:rPr lang="en-US" dirty="0"/>
              <a:t>scan method used to identify clustering of HIV antigen positivity, spatial autocorrelation method used to establish </a:t>
            </a:r>
            <a:r>
              <a:rPr lang="en-US" dirty="0" smtClean="0"/>
              <a:t>randomness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Bayesian </a:t>
            </a:r>
            <a:r>
              <a:rPr lang="en-US" dirty="0"/>
              <a:t>modeling employed to evaluate spatial factors associated with HIV antigen positivity in </a:t>
            </a:r>
            <a:r>
              <a:rPr lang="en-US" dirty="0" smtClean="0"/>
              <a:t>Homa-Bay </a:t>
            </a:r>
            <a:r>
              <a:rPr lang="en-US" dirty="0"/>
              <a:t>County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R program,QGIS and ARCGIS </a:t>
            </a:r>
            <a:r>
              <a:rPr lang="en-US" dirty="0"/>
              <a:t>used for all analyses.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463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377" y="363183"/>
            <a:ext cx="11382232" cy="46933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Focused Group Discussion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377" y="832514"/>
            <a:ext cx="11382232" cy="5472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Understanding </a:t>
            </a:r>
            <a:r>
              <a:rPr lang="en-US" dirty="0"/>
              <a:t>of </a:t>
            </a:r>
            <a:r>
              <a:rPr lang="en-US" dirty="0" smtClean="0"/>
              <a:t>PMTCT</a:t>
            </a:r>
            <a:endParaRPr lang="en-US" dirty="0"/>
          </a:p>
          <a:p>
            <a:r>
              <a:rPr lang="en-US" dirty="0"/>
              <a:t>  </a:t>
            </a:r>
            <a:r>
              <a:rPr lang="en-US" dirty="0" smtClean="0"/>
              <a:t>There was varied </a:t>
            </a:r>
            <a:r>
              <a:rPr lang="en-US" dirty="0"/>
              <a:t>understanding among </a:t>
            </a:r>
            <a:r>
              <a:rPr lang="en-US" dirty="0" smtClean="0"/>
              <a:t>participants.</a:t>
            </a:r>
          </a:p>
          <a:p>
            <a:r>
              <a:rPr lang="en-US" dirty="0" smtClean="0"/>
              <a:t>Especially on Importance </a:t>
            </a:r>
            <a:r>
              <a:rPr lang="en-US" dirty="0"/>
              <a:t>in preventing mother-to-child transmission of HIV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Barriers </a:t>
            </a:r>
            <a:r>
              <a:rPr lang="en-US" dirty="0"/>
              <a:t>to Accessing PMTCT Services in Homabay </a:t>
            </a:r>
            <a:r>
              <a:rPr lang="en-US" dirty="0" smtClean="0"/>
              <a:t>County</a:t>
            </a:r>
            <a:endParaRPr lang="en-US" dirty="0"/>
          </a:p>
          <a:p>
            <a:r>
              <a:rPr lang="en-US" dirty="0"/>
              <a:t>   </a:t>
            </a:r>
            <a:r>
              <a:rPr lang="en-US" dirty="0" smtClean="0"/>
              <a:t>Stigma </a:t>
            </a:r>
            <a:r>
              <a:rPr lang="en-US" dirty="0"/>
              <a:t>associated with HIV.</a:t>
            </a:r>
          </a:p>
          <a:p>
            <a:r>
              <a:rPr lang="en-US" dirty="0"/>
              <a:t>   </a:t>
            </a:r>
            <a:r>
              <a:rPr lang="en-US" dirty="0" smtClean="0"/>
              <a:t>Lack </a:t>
            </a:r>
            <a:r>
              <a:rPr lang="en-US" dirty="0"/>
              <a:t>of awareness about available </a:t>
            </a:r>
            <a:r>
              <a:rPr lang="en-US" dirty="0" smtClean="0"/>
              <a:t>services in the health facilities.</a:t>
            </a:r>
            <a:endParaRPr lang="en-US" dirty="0"/>
          </a:p>
          <a:p>
            <a:r>
              <a:rPr lang="en-US" dirty="0"/>
              <a:t>   </a:t>
            </a:r>
            <a:r>
              <a:rPr lang="en-US" dirty="0" smtClean="0"/>
              <a:t>Long </a:t>
            </a:r>
            <a:r>
              <a:rPr lang="en-US" dirty="0"/>
              <a:t>distances to healthcare facilities.</a:t>
            </a:r>
          </a:p>
          <a:p>
            <a:r>
              <a:rPr lang="en-US" dirty="0"/>
              <a:t>   </a:t>
            </a:r>
            <a:r>
              <a:rPr lang="en-US" dirty="0" smtClean="0"/>
              <a:t>Financial </a:t>
            </a:r>
            <a:r>
              <a:rPr lang="en-US" dirty="0"/>
              <a:t>constraints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290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376" y="322239"/>
            <a:ext cx="11436824" cy="5921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Focused Group Discussion </a:t>
            </a:r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376" y="914401"/>
            <a:ext cx="11436824" cy="552734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Male </a:t>
            </a:r>
            <a:r>
              <a:rPr lang="en-US" dirty="0"/>
              <a:t>Involvement in </a:t>
            </a:r>
            <a:r>
              <a:rPr lang="en-US" dirty="0" smtClean="0"/>
              <a:t>PMTCT</a:t>
            </a:r>
            <a:endParaRPr lang="en-US" dirty="0"/>
          </a:p>
          <a:p>
            <a:r>
              <a:rPr lang="en-US" dirty="0"/>
              <a:t>   </a:t>
            </a:r>
            <a:r>
              <a:rPr lang="en-US" dirty="0" smtClean="0"/>
              <a:t>Importance </a:t>
            </a:r>
            <a:r>
              <a:rPr lang="en-US" dirty="0"/>
              <a:t>of male involvement.</a:t>
            </a:r>
          </a:p>
          <a:p>
            <a:r>
              <a:rPr lang="en-US" dirty="0"/>
              <a:t>   </a:t>
            </a:r>
            <a:r>
              <a:rPr lang="en-US" dirty="0" smtClean="0"/>
              <a:t>Cultural </a:t>
            </a:r>
            <a:r>
              <a:rPr lang="en-US" dirty="0"/>
              <a:t>and social factors hindering male engagement.</a:t>
            </a:r>
          </a:p>
          <a:p>
            <a:pPr marL="0" indent="0">
              <a:buNone/>
            </a:pPr>
            <a:r>
              <a:rPr lang="en-US" dirty="0" smtClean="0"/>
              <a:t>Feeding </a:t>
            </a:r>
            <a:r>
              <a:rPr lang="en-US" dirty="0"/>
              <a:t>Practices for Infants born to HIV-positive </a:t>
            </a:r>
            <a:r>
              <a:rPr lang="en-US" dirty="0" smtClean="0"/>
              <a:t>mothers</a:t>
            </a:r>
            <a:endParaRPr lang="en-US" dirty="0"/>
          </a:p>
          <a:p>
            <a:r>
              <a:rPr lang="en-US" dirty="0"/>
              <a:t>   </a:t>
            </a:r>
            <a:r>
              <a:rPr lang="en-US" dirty="0" smtClean="0"/>
              <a:t>Emphasis </a:t>
            </a:r>
            <a:r>
              <a:rPr lang="en-US" dirty="0"/>
              <a:t>on exclusive breastfeeding and adherence to guidelines.</a:t>
            </a:r>
          </a:p>
          <a:p>
            <a:r>
              <a:rPr lang="en-US" dirty="0"/>
              <a:t>   </a:t>
            </a:r>
            <a:r>
              <a:rPr lang="en-US" dirty="0" smtClean="0"/>
              <a:t>Challenges </a:t>
            </a:r>
            <a:r>
              <a:rPr lang="en-US" dirty="0"/>
              <a:t>in promoting exclusive breastfeeding due to cultural beliefs.</a:t>
            </a:r>
          </a:p>
          <a:p>
            <a:pPr marL="0" indent="0">
              <a:buNone/>
            </a:pPr>
            <a:r>
              <a:rPr lang="en-US" dirty="0" smtClean="0"/>
              <a:t>Community </a:t>
            </a:r>
            <a:r>
              <a:rPr lang="en-US" dirty="0"/>
              <a:t>Perception of HIV-positive </a:t>
            </a:r>
            <a:r>
              <a:rPr lang="en-US" dirty="0" smtClean="0"/>
              <a:t>mothers</a:t>
            </a:r>
            <a:endParaRPr lang="en-US" dirty="0"/>
          </a:p>
          <a:p>
            <a:r>
              <a:rPr lang="en-US" dirty="0" smtClean="0"/>
              <a:t>Stigma </a:t>
            </a:r>
            <a:r>
              <a:rPr lang="en-US" dirty="0"/>
              <a:t>and discrimination towards HIV-positive individuals.</a:t>
            </a:r>
          </a:p>
          <a:p>
            <a:r>
              <a:rPr lang="en-US" dirty="0" smtClean="0"/>
              <a:t>Importance </a:t>
            </a:r>
            <a:r>
              <a:rPr lang="en-US" dirty="0"/>
              <a:t>of empathy, support, and acceptance within the community for the well-being of HIV-positive mothers and their children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551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496334"/>
          </a:xfrm>
        </p:spPr>
      </p:pic>
    </p:spTree>
    <p:extLst>
      <p:ext uri="{BB962C8B-B14F-4D97-AF65-F5344CB8AC3E}">
        <p14:creationId xmlns:p14="http://schemas.microsoft.com/office/powerpoint/2010/main" val="341625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482687"/>
          </a:xfrm>
        </p:spPr>
      </p:pic>
    </p:spTree>
    <p:extLst>
      <p:ext uri="{BB962C8B-B14F-4D97-AF65-F5344CB8AC3E}">
        <p14:creationId xmlns:p14="http://schemas.microsoft.com/office/powerpoint/2010/main" val="3567536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534"/>
            <a:ext cx="12191999" cy="6305266"/>
          </a:xfrm>
        </p:spPr>
      </p:pic>
    </p:spTree>
    <p:extLst>
      <p:ext uri="{BB962C8B-B14F-4D97-AF65-F5344CB8AC3E}">
        <p14:creationId xmlns:p14="http://schemas.microsoft.com/office/powerpoint/2010/main" val="16665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125"/>
            <a:ext cx="12191999" cy="6318914"/>
          </a:xfrm>
        </p:spPr>
      </p:pic>
    </p:spTree>
    <p:extLst>
      <p:ext uri="{BB962C8B-B14F-4D97-AF65-F5344CB8AC3E}">
        <p14:creationId xmlns:p14="http://schemas.microsoft.com/office/powerpoint/2010/main" val="2280019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323927" cy="6469039"/>
          </a:xfrm>
        </p:spPr>
      </p:pic>
    </p:spTree>
    <p:extLst>
      <p:ext uri="{BB962C8B-B14F-4D97-AF65-F5344CB8AC3E}">
        <p14:creationId xmlns:p14="http://schemas.microsoft.com/office/powerpoint/2010/main" val="2344165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505" y="600502"/>
            <a:ext cx="11914495" cy="530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017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660" y="982639"/>
            <a:ext cx="11709779" cy="491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485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76831"/>
            <a:ext cx="10515600" cy="45568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Discussion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32515"/>
            <a:ext cx="10515600" cy="5344448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The spatial autocorrelation analysis indicates a Moran's index value of 0.552661, a z-score of 17.108151, and a very small p-value. </a:t>
            </a:r>
            <a:endParaRPr lang="en-US" dirty="0" smtClean="0"/>
          </a:p>
          <a:p>
            <a:pPr algn="just"/>
            <a:r>
              <a:rPr lang="en-US" dirty="0" smtClean="0"/>
              <a:t>These </a:t>
            </a:r>
            <a:r>
              <a:rPr lang="en-US" dirty="0"/>
              <a:t>values suggest a strong positive spatial autocorrelation in the data, meaning that nearby observations are more similar to each other than would be expected by random chance. </a:t>
            </a:r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/>
              <a:t>finding is statistically significant and indicates a clustered pattern in the data, highlighting the presence of spatial dependency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The </a:t>
            </a:r>
            <a:r>
              <a:rPr lang="en-US" dirty="0"/>
              <a:t>expected index of -0.002994 and variance of 0.001055 further support the presence of non-random spatial dependency in the </a:t>
            </a:r>
            <a:r>
              <a:rPr lang="en-US" dirty="0" smtClean="0"/>
              <a:t>dataset.</a:t>
            </a:r>
          </a:p>
          <a:p>
            <a:pPr algn="just"/>
            <a:r>
              <a:rPr lang="en-US" dirty="0" smtClean="0"/>
              <a:t>Overall</a:t>
            </a:r>
            <a:r>
              <a:rPr lang="en-US" dirty="0"/>
              <a:t>, these results indicate a clustered pattern in the data, where nearby observations are more similar to each other than expected, highlighting the need for further exploration in spatial data analysis.</a:t>
            </a:r>
          </a:p>
        </p:txBody>
      </p:sp>
    </p:spTree>
    <p:extLst>
      <p:ext uri="{BB962C8B-B14F-4D97-AF65-F5344CB8AC3E}">
        <p14:creationId xmlns:p14="http://schemas.microsoft.com/office/powerpoint/2010/main" val="17918555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4943"/>
            <a:ext cx="10515600" cy="63310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Recommendations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365" y="928048"/>
            <a:ext cx="11723426" cy="543180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Based on the discussion, participants proposed several recommendations to enhance PMTCT services, increase male involvement, promote exclusive breastfeeding, and create a more supportive environment for HIV-positive mothers in the community.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These </a:t>
            </a:r>
            <a:r>
              <a:rPr lang="en-US" dirty="0"/>
              <a:t>recommendations included targeted awareness campaigns, community sensitization programs, capacity building for healthcare providers, and the involvement of community leaders in advocating for PMTCT services.</a:t>
            </a:r>
          </a:p>
        </p:txBody>
      </p:sp>
    </p:spTree>
    <p:extLst>
      <p:ext uri="{BB962C8B-B14F-4D97-AF65-F5344CB8AC3E}">
        <p14:creationId xmlns:p14="http://schemas.microsoft.com/office/powerpoint/2010/main" val="3883417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955" y="259308"/>
            <a:ext cx="11300346" cy="604595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Based on the spatial data analysis findings that vertical HIV transmission is higher in major towns, near the lake, and along major highways in Homa-Bay County, there are several recommendations that could be considered to address this issue:</a:t>
            </a:r>
          </a:p>
          <a:p>
            <a:pPr algn="just"/>
            <a:r>
              <a:rPr lang="en-US" dirty="0"/>
              <a:t>Targeted Interventions</a:t>
            </a:r>
          </a:p>
          <a:p>
            <a:pPr algn="just"/>
            <a:r>
              <a:rPr lang="en-US" dirty="0"/>
              <a:t>Community Outreach Programs</a:t>
            </a:r>
          </a:p>
          <a:p>
            <a:pPr algn="just"/>
            <a:r>
              <a:rPr lang="en-US" dirty="0"/>
              <a:t>Provision of Prenatal Care</a:t>
            </a:r>
          </a:p>
          <a:p>
            <a:pPr algn="just"/>
            <a:r>
              <a:rPr lang="en-US" dirty="0"/>
              <a:t>Capacity Building for Healthcare Providers</a:t>
            </a:r>
          </a:p>
          <a:p>
            <a:pPr algn="just"/>
            <a:r>
              <a:rPr lang="en-US" dirty="0"/>
              <a:t>Integrated Services</a:t>
            </a:r>
          </a:p>
          <a:p>
            <a:pPr algn="just"/>
            <a:r>
              <a:rPr lang="en-US" dirty="0"/>
              <a:t>Monitoring and Evaluation By implementing these recommendations, stakeholders can work towards reducing vertical HIV transmission in Homa-Bay County, particularly in areas where spatial data analysis indicates higher transmission rates.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249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0D458D-516D-22E5-A57C-9B00ABF6A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2956"/>
            <a:ext cx="10515600" cy="23201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References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AAE0594-C7AC-417B-5E8A-D4F74856D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307" y="504968"/>
            <a:ext cx="11764371" cy="5950423"/>
          </a:xfrm>
        </p:spPr>
        <p:txBody>
          <a:bodyPr>
            <a:noAutofit/>
          </a:bodyPr>
          <a:lstStyle/>
          <a:p>
            <a:r>
              <a:rPr lang="en-US" sz="800" dirty="0"/>
              <a:t>REFERENCES</a:t>
            </a:r>
          </a:p>
          <a:p>
            <a:r>
              <a:rPr lang="en-US" sz="800" dirty="0"/>
              <a:t>AVERT. An international AIDS Charity. Avert.org Worldwide HIV/AIDS epidemic statistics, 2005, http://www.avert.org/worlstatinfo.htm.</a:t>
            </a:r>
          </a:p>
          <a:p>
            <a:r>
              <a:rPr lang="en-US" sz="800" dirty="0" err="1"/>
              <a:t>Becquet</a:t>
            </a:r>
            <a:r>
              <a:rPr lang="en-US" sz="800" dirty="0"/>
              <a:t>, M. Marston, F. </a:t>
            </a:r>
            <a:r>
              <a:rPr lang="en-US" sz="800" dirty="0" err="1"/>
              <a:t>Dabis</a:t>
            </a:r>
            <a:r>
              <a:rPr lang="en-US" sz="800" dirty="0"/>
              <a:t>, L. H. Moulton, G. Gray, et al., “Children Who Acquire HIV Infection </a:t>
            </a:r>
            <a:r>
              <a:rPr lang="en-US" sz="800" dirty="0" err="1"/>
              <a:t>Perinatally</a:t>
            </a:r>
            <a:r>
              <a:rPr lang="en-US" sz="800" dirty="0"/>
              <a:t> Are at Higher Risk of Early Death than Those Acquiring HIV through Breastmilk: A Meta-Analysis,” </a:t>
            </a:r>
            <a:r>
              <a:rPr lang="en-US" sz="800" dirty="0" err="1"/>
              <a:t>PLoS</a:t>
            </a:r>
            <a:r>
              <a:rPr lang="en-US" sz="800" dirty="0"/>
              <a:t> One, Vol. 7, No. 2, 2012, p. e28510.</a:t>
            </a:r>
          </a:p>
          <a:p>
            <a:r>
              <a:rPr lang="en-US" sz="800" dirty="0" err="1"/>
              <a:t>Becquet</a:t>
            </a:r>
            <a:r>
              <a:rPr lang="en-US" sz="800" dirty="0"/>
              <a:t>, R., </a:t>
            </a:r>
            <a:r>
              <a:rPr lang="en-US" sz="800" dirty="0" err="1"/>
              <a:t>Bequet</a:t>
            </a:r>
            <a:r>
              <a:rPr lang="en-US" sz="800" dirty="0"/>
              <a:t>, L., </a:t>
            </a:r>
            <a:r>
              <a:rPr lang="en-US" sz="800" dirty="0" err="1"/>
              <a:t>Ekouevi</a:t>
            </a:r>
            <a:r>
              <a:rPr lang="en-US" sz="800" dirty="0"/>
              <a:t>, D. K., </a:t>
            </a:r>
            <a:r>
              <a:rPr lang="en-US" sz="800" dirty="0" err="1"/>
              <a:t>Viho</a:t>
            </a:r>
            <a:r>
              <a:rPr lang="en-US" sz="800" dirty="0"/>
              <a:t>, I., </a:t>
            </a:r>
            <a:r>
              <a:rPr lang="en-US" sz="800" dirty="0" err="1"/>
              <a:t>Sakarovitch</a:t>
            </a:r>
            <a:r>
              <a:rPr lang="en-US" sz="800" dirty="0"/>
              <a:t>, C., </a:t>
            </a:r>
            <a:r>
              <a:rPr lang="en-US" sz="800" dirty="0" err="1"/>
              <a:t>Fassinou</a:t>
            </a:r>
            <a:r>
              <a:rPr lang="en-US" sz="800" dirty="0"/>
              <a:t>, P., ... &amp; ANRS 1201/1202 </a:t>
            </a:r>
            <a:r>
              <a:rPr lang="en-US" sz="800" dirty="0" err="1"/>
              <a:t>Ditrame</a:t>
            </a:r>
            <a:r>
              <a:rPr lang="en-US" sz="800" dirty="0"/>
              <a:t> Plus Study Group. (2007). Two-year morbidity–mortality and alternatives to prolonged breast-feeding among children born to HIV-infected mothers in Côte d'Ivoire. </a:t>
            </a:r>
            <a:r>
              <a:rPr lang="en-US" sz="800" dirty="0" err="1"/>
              <a:t>PLoS</a:t>
            </a:r>
            <a:r>
              <a:rPr lang="en-US" sz="800" dirty="0"/>
              <a:t> medicine, 4(1), e17.</a:t>
            </a:r>
          </a:p>
          <a:p>
            <a:r>
              <a:rPr lang="en-US" sz="800" dirty="0" err="1"/>
              <a:t>Bhutta</a:t>
            </a:r>
            <a:r>
              <a:rPr lang="en-US" sz="800" dirty="0"/>
              <a:t> ZA, Ahmed T, Black RE, et al. What works? Interventions for maternal and child under nutrition and survival. Lancet. Feb 2 2008; 371(9610):417-440.</a:t>
            </a:r>
          </a:p>
          <a:p>
            <a:r>
              <a:rPr lang="en-US" sz="800" dirty="0" err="1"/>
              <a:t>Bomsel</a:t>
            </a:r>
            <a:r>
              <a:rPr lang="en-US" sz="800" dirty="0"/>
              <a:t> M, </a:t>
            </a:r>
            <a:r>
              <a:rPr lang="en-US" sz="800" dirty="0" err="1"/>
              <a:t>Alfsen</a:t>
            </a:r>
            <a:r>
              <a:rPr lang="en-US" sz="800" dirty="0"/>
              <a:t> A. Entry of viruses through the epithelial barrier: Pathogenic trickery. Nat Rev </a:t>
            </a:r>
            <a:r>
              <a:rPr lang="en-US" sz="800" dirty="0" err="1"/>
              <a:t>Mol</a:t>
            </a:r>
            <a:r>
              <a:rPr lang="en-US" sz="800" dirty="0"/>
              <a:t> Cell Biol. 2003; 4(1):57–68. </a:t>
            </a:r>
            <a:r>
              <a:rPr lang="en-US" sz="800" dirty="0" err="1"/>
              <a:t>doi</a:t>
            </a:r>
            <a:r>
              <a:rPr lang="en-US" sz="800" dirty="0"/>
              <a:t>: 10.1038/Nrm1005 PMID: ISI:000180170900016.</a:t>
            </a:r>
          </a:p>
          <a:p>
            <a:r>
              <a:rPr lang="en-US" sz="800" dirty="0" err="1"/>
              <a:t>Bomsel</a:t>
            </a:r>
            <a:r>
              <a:rPr lang="en-US" sz="800" dirty="0"/>
              <a:t> M, </a:t>
            </a:r>
            <a:r>
              <a:rPr lang="en-US" sz="800" dirty="0" err="1"/>
              <a:t>Heyman</a:t>
            </a:r>
            <a:r>
              <a:rPr lang="en-US" sz="800" dirty="0"/>
              <a:t> M, </a:t>
            </a:r>
            <a:r>
              <a:rPr lang="en-US" sz="800" dirty="0" err="1"/>
              <a:t>Hocini</a:t>
            </a:r>
            <a:r>
              <a:rPr lang="en-US" sz="800" dirty="0"/>
              <a:t> H, </a:t>
            </a:r>
            <a:r>
              <a:rPr lang="en-US" sz="800" dirty="0" err="1"/>
              <a:t>Lagaye</a:t>
            </a:r>
            <a:r>
              <a:rPr lang="en-US" sz="800" dirty="0"/>
              <a:t> S, </a:t>
            </a:r>
            <a:r>
              <a:rPr lang="en-US" sz="800" dirty="0" err="1"/>
              <a:t>Belec</a:t>
            </a:r>
            <a:r>
              <a:rPr lang="en-US" sz="800" dirty="0"/>
              <a:t> L, </a:t>
            </a:r>
            <a:r>
              <a:rPr lang="en-US" sz="800" dirty="0" err="1"/>
              <a:t>Dupont</a:t>
            </a:r>
            <a:r>
              <a:rPr lang="en-US" sz="800" dirty="0"/>
              <a:t> C, et al. Intracellular neutralization of HIV transcytosis across tight epithelial barriers by anti-HIV envelope protein </a:t>
            </a:r>
            <a:r>
              <a:rPr lang="en-US" sz="800" dirty="0" err="1"/>
              <a:t>dIgA</a:t>
            </a:r>
            <a:r>
              <a:rPr lang="en-US" sz="800" dirty="0"/>
              <a:t> or IgM. Immunity. (2008); 9 (2):277–87. </a:t>
            </a:r>
            <a:r>
              <a:rPr lang="en-US" sz="800" dirty="0" err="1"/>
              <a:t>Epub</a:t>
            </a:r>
            <a:r>
              <a:rPr lang="en-US" sz="800" dirty="0"/>
              <a:t> 1998/09/05. PMID: 9729048.</a:t>
            </a:r>
          </a:p>
          <a:p>
            <a:r>
              <a:rPr lang="en-US" sz="800" dirty="0" err="1"/>
              <a:t>Becquet</a:t>
            </a:r>
            <a:r>
              <a:rPr lang="en-US" sz="800" dirty="0"/>
              <a:t>, R., Marston, M., </a:t>
            </a:r>
            <a:r>
              <a:rPr lang="en-US" sz="800" dirty="0" err="1"/>
              <a:t>Dabis</a:t>
            </a:r>
            <a:r>
              <a:rPr lang="en-US" sz="800" dirty="0"/>
              <a:t>, F., Moulton, L. H., Gray, G., Coovadia, H. M., ... &amp; </a:t>
            </a:r>
            <a:r>
              <a:rPr lang="en-US" sz="800" dirty="0" err="1"/>
              <a:t>Kilewo</a:t>
            </a:r>
            <a:r>
              <a:rPr lang="en-US" sz="800" dirty="0"/>
              <a:t>, C. (2012). Children who acquire HIV infection </a:t>
            </a:r>
            <a:r>
              <a:rPr lang="en-US" sz="800" dirty="0" err="1"/>
              <a:t>perinatally</a:t>
            </a:r>
            <a:r>
              <a:rPr lang="en-US" sz="800" dirty="0"/>
              <a:t> are at higher risk of early death than those acquiring infection through breastmilk: a meta-analysis. </a:t>
            </a:r>
            <a:r>
              <a:rPr lang="en-US" sz="800" dirty="0" err="1"/>
              <a:t>PloS</a:t>
            </a:r>
            <a:r>
              <a:rPr lang="en-US" sz="800" dirty="0"/>
              <a:t> one, 7(2), e28510.</a:t>
            </a:r>
          </a:p>
          <a:p>
            <a:r>
              <a:rPr lang="en-US" sz="800" dirty="0" err="1"/>
              <a:t>Berhan</a:t>
            </a:r>
            <a:r>
              <a:rPr lang="en-US" sz="800" dirty="0"/>
              <a:t>, Z., </a:t>
            </a:r>
            <a:r>
              <a:rPr lang="en-US" sz="800" dirty="0" err="1"/>
              <a:t>Abebe</a:t>
            </a:r>
            <a:r>
              <a:rPr lang="en-US" sz="800" dirty="0"/>
              <a:t>, F., </a:t>
            </a:r>
            <a:r>
              <a:rPr lang="en-US" sz="800" dirty="0" err="1"/>
              <a:t>Gedefaw</a:t>
            </a:r>
            <a:r>
              <a:rPr lang="en-US" sz="800" dirty="0"/>
              <a:t>, M., </a:t>
            </a:r>
            <a:r>
              <a:rPr lang="en-US" sz="800" dirty="0" err="1"/>
              <a:t>Tesfa</a:t>
            </a:r>
            <a:r>
              <a:rPr lang="en-US" sz="800" dirty="0"/>
              <a:t>, M., </a:t>
            </a:r>
            <a:r>
              <a:rPr lang="en-US" sz="800" dirty="0" err="1"/>
              <a:t>Assefa</a:t>
            </a:r>
            <a:r>
              <a:rPr lang="en-US" sz="800" dirty="0"/>
              <a:t>, M., &amp; </a:t>
            </a:r>
            <a:r>
              <a:rPr lang="en-US" sz="800" dirty="0" err="1"/>
              <a:t>Tafere</a:t>
            </a:r>
            <a:r>
              <a:rPr lang="en-US" sz="800" dirty="0"/>
              <a:t>, Y. (2014). Risk of HIV and associated factors among infants born to HIV positive women in Amhara region, Ethiopia: a facility based retrospective study. BMC research notes, 7(1), 876.</a:t>
            </a:r>
          </a:p>
          <a:p>
            <a:r>
              <a:rPr lang="en-US" sz="800" dirty="0" err="1"/>
              <a:t>Coutsoudis</a:t>
            </a:r>
            <a:r>
              <a:rPr lang="en-US" sz="800" dirty="0"/>
              <a:t> A, Pillay A, Kuhn L , Spooner E, Tsai EW, Coovadia H. Methods of feeding  and  transmission  of  HIV-1  from  mothers  to  children  by  15  months  of age: prospective cohort study from Durban, South Africa. AIDS. 2001;115:379- 387.</a:t>
            </a:r>
          </a:p>
          <a:p>
            <a:r>
              <a:rPr lang="en-US" sz="800" dirty="0" err="1"/>
              <a:t>Coutsoudis</a:t>
            </a:r>
            <a:r>
              <a:rPr lang="en-US" sz="800" dirty="0"/>
              <a:t> A, Pillay A, Kuhn L , Spooner E, Tsai EW, Coovadia H. Methods of feeding  and  transmission  of  HIV-1  from  mothers  to  children  by  15  months  of age: prospective cohort study from Durban, South Africa. AIDS. 2009;115:379- 387.</a:t>
            </a:r>
          </a:p>
          <a:p>
            <a:r>
              <a:rPr lang="en-US" sz="800" dirty="0" err="1"/>
              <a:t>Cournil</a:t>
            </a:r>
            <a:r>
              <a:rPr lang="en-US" sz="800" dirty="0"/>
              <a:t> A, De </a:t>
            </a:r>
            <a:r>
              <a:rPr lang="en-US" sz="800" dirty="0" err="1"/>
              <a:t>Vincenzi</a:t>
            </a:r>
            <a:r>
              <a:rPr lang="en-US" sz="800" dirty="0"/>
              <a:t> I, Gaillard P, et al.; </a:t>
            </a:r>
            <a:r>
              <a:rPr lang="en-US" sz="800" dirty="0" err="1"/>
              <a:t>Kesho</a:t>
            </a:r>
            <a:r>
              <a:rPr lang="en-US" sz="800" dirty="0"/>
              <a:t> Bora Study Group. Relationship between mortality and feeding modality among children born to HIV-infected mothers in a research setting: the </a:t>
            </a:r>
            <a:r>
              <a:rPr lang="en-US" sz="800" dirty="0" err="1"/>
              <a:t>Kesho</a:t>
            </a:r>
            <a:r>
              <a:rPr lang="en-US" sz="800" dirty="0"/>
              <a:t> Bora study. AIDS. 2013;27:1621–1630.</a:t>
            </a:r>
          </a:p>
          <a:p>
            <a:r>
              <a:rPr lang="en-US" sz="800" dirty="0"/>
              <a:t>C King, C., R Ellington, S., &amp; P </a:t>
            </a:r>
            <a:r>
              <a:rPr lang="en-US" sz="800" dirty="0" err="1"/>
              <a:t>Kourtis</a:t>
            </a:r>
            <a:r>
              <a:rPr lang="en-US" sz="800" dirty="0"/>
              <a:t>, A. (2013). The role of co-infections in mother-to-child transmission of HIV. Current HIV research, 11(1), 10-23</a:t>
            </a:r>
            <a:r>
              <a:rPr lang="en-US" sz="800" dirty="0" smtClean="0"/>
              <a:t>.</a:t>
            </a:r>
          </a:p>
          <a:p>
            <a:r>
              <a:rPr lang="en-US" sz="800" dirty="0"/>
              <a:t>Chi, B. H., Mutale, W., </a:t>
            </a:r>
            <a:r>
              <a:rPr lang="en-US" sz="800" dirty="0" err="1"/>
              <a:t>Lembalemba</a:t>
            </a:r>
            <a:r>
              <a:rPr lang="en-US" sz="800" dirty="0"/>
              <a:t>, M. K., Bolton-Moore, C., Stringer, J. S. A., Reid, S. E., ... &amp; </a:t>
            </a:r>
            <a:r>
              <a:rPr lang="en-US" sz="800" dirty="0" err="1"/>
              <a:t>Chintu</a:t>
            </a:r>
            <a:r>
              <a:rPr lang="en-US" sz="800" dirty="0"/>
              <a:t>, N. T. (2017). Association of HIV antigen positivity with carriage duration in untreated infants and children older than 18 months: implications for diagnosis in the era of antiretroviral therapy scale-up. The Pediatric infectious disease journal, 36(9), 872-876.CSA, ICF International: Ethiopia Demographic and Health Survey (2011), Addis Ababa, Ethiopia and Calverton, Maryland, USA: Central Statistical Agency and ICF International.</a:t>
            </a:r>
          </a:p>
          <a:p>
            <a:r>
              <a:rPr lang="en-US" sz="800" dirty="0"/>
              <a:t>Coovadia HM, Rollins NC, Bland RM, Little K, </a:t>
            </a:r>
            <a:r>
              <a:rPr lang="en-US" sz="800" dirty="0" err="1"/>
              <a:t>Coutsoudis</a:t>
            </a:r>
            <a:r>
              <a:rPr lang="en-US" sz="800" dirty="0"/>
              <a:t> A, </a:t>
            </a:r>
            <a:r>
              <a:rPr lang="en-US" sz="800" dirty="0" err="1"/>
              <a:t>Bennish</a:t>
            </a:r>
            <a:r>
              <a:rPr lang="en-US" sz="800" dirty="0"/>
              <a:t> ML. Mother-to-child transmission of HIV-1 infection during exclusive breastfeeding in the first 6 months of life: an intervention cohort study. Lancet. 2009;369(9567):1107-16. </a:t>
            </a:r>
            <a:r>
              <a:rPr lang="en-US" sz="800" dirty="0" err="1"/>
              <a:t>Epub</a:t>
            </a:r>
            <a:r>
              <a:rPr lang="en-US" sz="800" dirty="0"/>
              <a:t> 2010/04/03.</a:t>
            </a:r>
          </a:p>
          <a:p>
            <a:r>
              <a:rPr lang="en-US" sz="800" dirty="0"/>
              <a:t>Creek TL, Sherman GG, </a:t>
            </a:r>
            <a:r>
              <a:rPr lang="en-US" sz="800" dirty="0" err="1"/>
              <a:t>Nkengasong</a:t>
            </a:r>
            <a:r>
              <a:rPr lang="en-US" sz="800" dirty="0"/>
              <a:t> J, Lu L, </a:t>
            </a:r>
            <a:r>
              <a:rPr lang="en-US" sz="800" dirty="0" err="1"/>
              <a:t>Finkbeiner</a:t>
            </a:r>
            <a:r>
              <a:rPr lang="en-US" sz="800" dirty="0"/>
              <a:t> T, Fowler MG, et al.</a:t>
            </a:r>
          </a:p>
          <a:p>
            <a:r>
              <a:rPr lang="en-US" sz="800" dirty="0"/>
              <a:t>Infant human immunodeficiency virus diagnosis in resource-limited settings:</a:t>
            </a:r>
          </a:p>
          <a:p>
            <a:r>
              <a:rPr lang="en-US" sz="800" dirty="0"/>
              <a:t>issues, technologies, and country experiences. Am J </a:t>
            </a:r>
            <a:r>
              <a:rPr lang="en-US" sz="800" dirty="0" err="1"/>
              <a:t>Obstet</a:t>
            </a:r>
            <a:r>
              <a:rPr lang="en-US" sz="800" dirty="0"/>
              <a:t> Gynecol. 2007;</a:t>
            </a:r>
          </a:p>
          <a:p>
            <a:r>
              <a:rPr lang="en-US" sz="800" dirty="0"/>
              <a:t>197(3	</a:t>
            </a:r>
            <a:r>
              <a:rPr lang="en-US" sz="800" dirty="0" err="1"/>
              <a:t>Suppl</a:t>
            </a:r>
            <a:r>
              <a:rPr lang="en-US" sz="800" dirty="0"/>
              <a:t>):S64–71.</a:t>
            </a:r>
          </a:p>
          <a:p>
            <a:r>
              <a:rPr lang="en-US" sz="800" dirty="0" err="1"/>
              <a:t>Cournil</a:t>
            </a:r>
            <a:r>
              <a:rPr lang="en-US" sz="800" dirty="0"/>
              <a:t> A, De </a:t>
            </a:r>
            <a:r>
              <a:rPr lang="en-US" sz="800" dirty="0" err="1"/>
              <a:t>Vincenzi</a:t>
            </a:r>
            <a:r>
              <a:rPr lang="en-US" sz="800" dirty="0"/>
              <a:t> I, Gaillard P, et al.; </a:t>
            </a:r>
            <a:r>
              <a:rPr lang="en-US" sz="800" dirty="0" err="1"/>
              <a:t>Kesho</a:t>
            </a:r>
            <a:r>
              <a:rPr lang="en-US" sz="800" dirty="0"/>
              <a:t> Bora Study Group. Relationship between mortality and feeding modality among children born to HIV-infected mothers in a research setting: the </a:t>
            </a:r>
            <a:r>
              <a:rPr lang="en-US" sz="800" dirty="0" err="1"/>
              <a:t>Kesho</a:t>
            </a:r>
            <a:r>
              <a:rPr lang="en-US" sz="800" dirty="0"/>
              <a:t> Bora study. AIDS. (2013); 27:1621–1630.</a:t>
            </a:r>
          </a:p>
          <a:p>
            <a:r>
              <a:rPr lang="en-US" sz="800" dirty="0"/>
              <a:t>Coovadia HM, Rollins NC, Bland RM, et al. Mother-to-child transmission of HIV-1 infection during exclusive breastfeeding in the first 6 months of life: an intervention cohort study. Lancet. 2007;369:1107–1116.</a:t>
            </a:r>
          </a:p>
          <a:p>
            <a:r>
              <a:rPr lang="en-US" sz="800" dirty="0"/>
              <a:t>C. Diaz, C. Hanson, E. R. Cooper, J. S. Read, J. </a:t>
            </a:r>
            <a:r>
              <a:rPr lang="en-US" sz="800" dirty="0" err="1"/>
              <a:t>Watson,H</a:t>
            </a:r>
            <a:r>
              <a:rPr lang="en-US" sz="800" dirty="0"/>
              <a:t>. A. Mendez, J. Pitt, K. Rich, V. </a:t>
            </a:r>
            <a:r>
              <a:rPr lang="en-US" sz="800" dirty="0" err="1"/>
              <a:t>Smeriglio</a:t>
            </a:r>
            <a:r>
              <a:rPr lang="en-US" sz="800" dirty="0"/>
              <a:t> and J. F. Lew, “Disease Progression in a Cohort of Infants with Vertically Acquired HIV Infection Observed from Birth: The Women and Infants Transmission Study (WITS),” Journal of Acquired Immune Deficiency Syndromes and Human </a:t>
            </a:r>
            <a:r>
              <a:rPr lang="en-US" sz="800" dirty="0" err="1"/>
              <a:t>Retrovirology</a:t>
            </a:r>
            <a:r>
              <a:rPr lang="en-US" sz="800" dirty="0"/>
              <a:t>, Vol. 18, No. 3, 1998, pp. 221-228. doi:10.1097/00042560-199807010-00004</a:t>
            </a:r>
          </a:p>
          <a:p>
            <a:r>
              <a:rPr lang="en-US" sz="800" dirty="0"/>
              <a:t>Creek TL, Sherman GG, </a:t>
            </a:r>
            <a:r>
              <a:rPr lang="en-US" sz="800" dirty="0" err="1"/>
              <a:t>Nkengasong</a:t>
            </a:r>
            <a:r>
              <a:rPr lang="en-US" sz="800" dirty="0"/>
              <a:t> J, Lu L, </a:t>
            </a:r>
            <a:r>
              <a:rPr lang="en-US" sz="800" dirty="0" err="1"/>
              <a:t>Finkbeiner</a:t>
            </a:r>
            <a:r>
              <a:rPr lang="en-US" sz="800" dirty="0"/>
              <a:t> T, Fowler MG, et </a:t>
            </a:r>
            <a:r>
              <a:rPr lang="en-US" sz="800" dirty="0" err="1"/>
              <a:t>al.Infant</a:t>
            </a:r>
            <a:r>
              <a:rPr lang="en-US" sz="800" dirty="0"/>
              <a:t> human immunodeficiency virus diagnosis in resource-limited settings: issues, technologies, and country experiences. Am J </a:t>
            </a:r>
            <a:r>
              <a:rPr lang="en-US" sz="800" dirty="0" err="1"/>
              <a:t>Obstet</a:t>
            </a:r>
            <a:r>
              <a:rPr lang="en-US" sz="800" dirty="0"/>
              <a:t> Gynecol. 2007; 197(3 </a:t>
            </a:r>
            <a:r>
              <a:rPr lang="en-US" sz="800" dirty="0" err="1"/>
              <a:t>Suppl</a:t>
            </a:r>
            <a:r>
              <a:rPr lang="en-US" sz="800" dirty="0"/>
              <a:t>):S64–71</a:t>
            </a:r>
            <a:r>
              <a:rPr lang="en-US" sz="800" dirty="0" smtClean="0"/>
              <a:t>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68604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857CBE-3853-81F4-65D5-6754D7347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296"/>
            <a:ext cx="10515600" cy="783230"/>
          </a:xfrm>
        </p:spPr>
        <p:txBody>
          <a:bodyPr/>
          <a:lstStyle/>
          <a:p>
            <a:r>
              <a:rPr lang="en-US" dirty="0"/>
              <a:t>Acknowledgements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8D8769A-1D59-2867-EFC1-2170FEAC0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363" y="1064526"/>
            <a:ext cx="11859905" cy="449011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I would like to express my sincere gratitude to the following individuals and organizations for their invaluable contribution and support throughout the completion of this </a:t>
            </a:r>
            <a:r>
              <a:rPr lang="en-US" dirty="0" smtClean="0"/>
              <a:t>study.</a:t>
            </a:r>
          </a:p>
          <a:p>
            <a:pPr marL="0" indent="0" algn="just">
              <a:buNone/>
            </a:pPr>
            <a:r>
              <a:rPr lang="en-US" dirty="0" smtClean="0"/>
              <a:t>1. Professor </a:t>
            </a:r>
            <a:r>
              <a:rPr lang="en-US" dirty="0"/>
              <a:t>Simon Karanja </a:t>
            </a:r>
          </a:p>
          <a:p>
            <a:pPr marL="0" indent="0" algn="just">
              <a:buNone/>
            </a:pPr>
            <a:r>
              <a:rPr lang="en-US" dirty="0" smtClean="0"/>
              <a:t>         Jomo </a:t>
            </a:r>
            <a:r>
              <a:rPr lang="en-US" dirty="0"/>
              <a:t>Kenyatta University of Agriculture &amp; Technology</a:t>
            </a:r>
          </a:p>
          <a:p>
            <a:pPr marL="0" indent="0" algn="just">
              <a:buNone/>
            </a:pPr>
            <a:r>
              <a:rPr lang="en-US" dirty="0" smtClean="0"/>
              <a:t>2. Late </a:t>
            </a:r>
            <a:r>
              <a:rPr lang="en-US" dirty="0"/>
              <a:t>Dr. Peter Wanzala </a:t>
            </a:r>
          </a:p>
          <a:p>
            <a:pPr marL="0" indent="0" algn="just">
              <a:buNone/>
            </a:pPr>
            <a:r>
              <a:rPr lang="en-US" dirty="0" smtClean="0"/>
              <a:t>    Institute </a:t>
            </a:r>
            <a:r>
              <a:rPr lang="en-US" dirty="0"/>
              <a:t>of Tropical Medicine and Infectious Diseases (ITROMID</a:t>
            </a:r>
            <a:r>
              <a:rPr lang="en-US" dirty="0" smtClean="0"/>
              <a:t>)</a:t>
            </a:r>
          </a:p>
          <a:p>
            <a:pPr marL="0" indent="0" algn="just">
              <a:buNone/>
            </a:pPr>
            <a:r>
              <a:rPr lang="en-US" dirty="0" smtClean="0"/>
              <a:t>3.Kemri Graduate School</a:t>
            </a:r>
          </a:p>
          <a:p>
            <a:endParaRPr lang="aa-ET" dirty="0"/>
          </a:p>
        </p:txBody>
      </p:sp>
    </p:spTree>
    <p:extLst>
      <p:ext uri="{BB962C8B-B14F-4D97-AF65-F5344CB8AC3E}">
        <p14:creationId xmlns:p14="http://schemas.microsoft.com/office/powerpoint/2010/main" val="757010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12297</TotalTime>
  <Words>2332</Words>
  <Application>Microsoft Office PowerPoint</Application>
  <PresentationFormat>Widescreen</PresentationFormat>
  <Paragraphs>143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Segoe UI</vt:lpstr>
      <vt:lpstr>Times New Roman</vt:lpstr>
      <vt:lpstr>Office Theme</vt:lpstr>
      <vt:lpstr>MODELLING FACTORS ASSOCIATED WITH HIV-FREE SURVIVAL AMONG EXPOSED INFANTS IN HOMA BAY COUNTY</vt:lpstr>
      <vt:lpstr>Background</vt:lpstr>
      <vt:lpstr>Problem Statement</vt:lpstr>
      <vt:lpstr>Problem Statement cont’d </vt:lpstr>
      <vt:lpstr>Problem Statement cont’d </vt:lpstr>
      <vt:lpstr>Problem Statement cont’d  </vt:lpstr>
      <vt:lpstr>Justification</vt:lpstr>
      <vt:lpstr>Objectives</vt:lpstr>
      <vt:lpstr>Conclusion</vt:lpstr>
      <vt:lpstr>Study Design </vt:lpstr>
      <vt:lpstr>Sample size determination </vt:lpstr>
      <vt:lpstr>Data Analysis</vt:lpstr>
      <vt:lpstr>Focused Group Discussion </vt:lpstr>
      <vt:lpstr>Focused Group Discussion cont’d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Discussion </vt:lpstr>
      <vt:lpstr>Recommendations </vt:lpstr>
      <vt:lpstr>PowerPoint Presentation</vt:lpstr>
      <vt:lpstr>References</vt:lpstr>
      <vt:lpstr>Acknowledgements</vt:lpstr>
    </vt:vector>
  </TitlesOfParts>
  <Company>rg-adguard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Charles Syengo</dc:creator>
  <cp:lastModifiedBy>Augustine Gatimu</cp:lastModifiedBy>
  <cp:revision>138</cp:revision>
  <dcterms:created xsi:type="dcterms:W3CDTF">2017-07-20T02:49:31Z</dcterms:created>
  <dcterms:modified xsi:type="dcterms:W3CDTF">2024-05-13T04:09:56Z</dcterms:modified>
</cp:coreProperties>
</file>